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Live compiled predicate</c:v>
                </c:pt>
              </c:strCache>
            </c:strRef>
          </c:tx>
          <c:spPr>
            <a:ln w="34925">
              <a:solidFill>
                <a:srgbClr val="1F6F6B"/>
              </a:solidFill>
            </a:ln>
          </c:spPr>
          <c:marker>
            <c:symbol val="circle"/>
            <c:size val="8"/>
            <c:spPr>
              <a:solidFill>
                <a:srgbClr val="1F6F6B"/>
              </a:solidFill>
              <a:ln>
                <a:solidFill>
                  <a:srgbClr val="1F6F6B"/>
                </a:solidFill>
              </a:ln>
            </c:spPr>
          </c:marker>
          <c:dLbls>
            <c:numFmt formatCode="0.000" sourceLinked="0"/>
            <c:txPr>
              <a:bodyPr/>
              <a:lstStyle/>
              <a:p>
                <a:pPr>
                  <a:defRPr sz="1200"/>
                </a:pPr>
              </a:p>
            </c:txPr>
            <c:dLblPos val="t"/>
            <c:showLegendKey val="0"/>
            <c:showVal val="0"/>
            <c:showCatName val="0"/>
            <c:showSerName val="0"/>
            <c:showPercent val="0"/>
            <c:showBubbleSize val="0"/>
            <c:showLeaderLines val="1"/>
          </c:dLbls>
          <c:cat>
            <c:strRef>
              <c:f>Sheet1!$A$2:$A$6</c:f>
              <c:strCache>
                <c:ptCount val="5"/>
                <c:pt idx="0">
                  <c:v>50%</c:v>
                </c:pt>
                <c:pt idx="1">
                  <c:v>20%</c:v>
                </c:pt>
                <c:pt idx="2">
                  <c:v>10%</c:v>
                </c:pt>
                <c:pt idx="3">
                  <c:v>5%</c:v>
                </c:pt>
                <c:pt idx="4">
                  <c:v>2%</c:v>
                </c:pt>
              </c:strCache>
            </c:strRef>
          </c:cat>
          <c:val>
            <c:numRef>
              <c:f>Sheet1!$B$2:$B$6</c:f>
              <c:numCache>
                <c:formatCode>General</c:formatCode>
                <c:ptCount val="5"/>
                <c:pt idx="0">
                  <c:v>0.9833</c:v>
                </c:pt>
                <c:pt idx="1">
                  <c:v>0.9826</c:v>
                </c:pt>
                <c:pt idx="2">
                  <c:v>0.9794</c:v>
                </c:pt>
                <c:pt idx="3">
                  <c:v>0.9752</c:v>
                </c:pt>
                <c:pt idx="4">
                  <c:v>0.9778</c:v>
                </c:pt>
              </c:numCache>
            </c:numRef>
          </c:val>
          <c:smooth val="0"/>
        </c:ser>
        <c:ser>
          <c:idx val="1"/>
          <c:order val="1"/>
          <c:tx>
            <c:strRef>
              <c:f>Sheet1!$C$1</c:f>
              <c:strCache>
                <c:ptCount val="1"/>
                <c:pt idx="0">
                  <c:v>2× selectivity-aware over-fetch</c:v>
                </c:pt>
              </c:strCache>
            </c:strRef>
          </c:tx>
          <c:spPr>
            <a:ln w="34925">
              <a:solidFill>
                <a:srgbClr val="A5541B"/>
              </a:solidFill>
            </a:ln>
          </c:spPr>
          <c:marker>
            <c:symbol val="circle"/>
            <c:size val="8"/>
            <c:spPr>
              <a:solidFill>
                <a:srgbClr val="A5541B"/>
              </a:solidFill>
              <a:ln>
                <a:solidFill>
                  <a:srgbClr val="A5541B"/>
                </a:solidFill>
              </a:ln>
            </c:spPr>
          </c:marker>
          <c:dLbls>
            <c:numFmt formatCode="0.000" sourceLinked="0"/>
            <c:txPr>
              <a:bodyPr/>
              <a:lstStyle/>
              <a:p>
                <a:pPr>
                  <a:defRPr sz="1200"/>
                </a:pPr>
              </a:p>
            </c:txPr>
            <c:dLblPos val="b"/>
            <c:showLegendKey val="0"/>
            <c:showVal val="0"/>
            <c:showCatName val="0"/>
            <c:showSerName val="0"/>
            <c:showPercent val="0"/>
            <c:showBubbleSize val="0"/>
            <c:showLeaderLines val="1"/>
          </c:dLbls>
          <c:cat>
            <c:strRef>
              <c:f>Sheet1!$A$2:$A$6</c:f>
              <c:strCache>
                <c:ptCount val="5"/>
                <c:pt idx="0">
                  <c:v>50%</c:v>
                </c:pt>
                <c:pt idx="1">
                  <c:v>20%</c:v>
                </c:pt>
                <c:pt idx="2">
                  <c:v>10%</c:v>
                </c:pt>
                <c:pt idx="3">
                  <c:v>5%</c:v>
                </c:pt>
                <c:pt idx="4">
                  <c:v>2%</c:v>
                </c:pt>
              </c:strCache>
            </c:strRef>
          </c:cat>
          <c:val>
            <c:numRef>
              <c:f>Sheet1!$C$2:$C$6</c:f>
              <c:numCache>
                <c:formatCode>General</c:formatCode>
                <c:ptCount val="5"/>
                <c:pt idx="0">
                  <c:v>0.7923</c:v>
                </c:pt>
                <c:pt idx="1">
                  <c:v>0.7098</c:v>
                </c:pt>
                <c:pt idx="2">
                  <c:v>0.718</c:v>
                </c:pt>
                <c:pt idx="3">
                  <c:v>0.7482</c:v>
                </c:pt>
                <c:pt idx="4">
                  <c:v>0.842</c:v>
                </c:pt>
              </c:numCache>
            </c:numRef>
          </c:val>
          <c:smooth val="0"/>
        </c:ser>
        <c:dLbls>
          <c:numFmt formatCode="0.000" sourceLinked="0"/>
          <c:txPr>
            <a:bodyPr/>
            <a:lstStyle/>
            <a:p>
              <a:pPr>
                <a:defRPr sz="1200"/>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400"/>
                  <a:t>Eligible fraction of catalog</a:t>
                </a:r>
              </a:p>
            </c:rich>
          </c:tx>
          <c:layout/>
          <c:overlay val="0"/>
        </c:title>
        <c:majorTickMark val="out"/>
        <c:minorTickMark val="none"/>
        <c:tickLblPos val="nextTo"/>
        <c:spPr>
          <a:ln>
            <a:solidFill>
              <a:srgbClr val="DDD6C8"/>
            </a:solidFill>
          </a:ln>
        </c:spPr>
        <c:crossAx val="2140495176"/>
        <c:crosses val="autoZero"/>
        <c:auto val="1"/>
        <c:lblAlgn val="ctr"/>
        <c:lblOffset val="100"/>
        <c:noMultiLvlLbl val="0"/>
      </c:catAx>
      <c:valAx>
        <c:axId val="2140495176"/>
        <c:scaling>
          <c:max val="1.0"/>
          <c:min val="0.6"/>
        </c:scaling>
        <c:delete val="0"/>
        <c:axPos val="l"/>
        <c:majorGridlines>
          <c:spPr>
            <a:ln>
              <a:solidFill>
                <a:srgbClr val="DDD6C8"/>
              </a:solidFill>
            </a:ln>
          </c:spPr>
        </c:majorGridlines>
        <c:title>
          <c:tx>
            <c:rich>
              <a:bodyPr/>
              <a:lstStyle/>
              <a:p>
                <a:r>
                  <a:rPr sz="1400"/>
                  <a:t>Traversal Recall@50</a:t>
                </a:r>
              </a:p>
            </c:rich>
          </c:tx>
          <c:layout/>
          <c:overlay val="0"/>
        </c:title>
        <c:numFmt formatCode="0.0" sourceLinked="0"/>
        <c:majorTickMark val="out"/>
        <c:minorTickMark val="none"/>
        <c:tickLblPos val="nextTo"/>
        <c:spPr>
          <a:ln>
            <a:noFill/>
          </a:ln>
        </c:spPr>
        <c:crossAx val="2118791784"/>
        <c:crosses val="autoZero"/>
        <c:majorUnit val="0.1"/>
      </c:valAx>
    </c:plotArea>
    <c:legend>
      <c:legendPos val="b"/>
      <c:layout/>
      <c:overlay val="0"/>
      <c:txPr>
        <a:bodyPr/>
        <a:lstStyle/>
        <a:p>
          <a:pPr>
            <a:defRPr sz="1400"/>
          </a:pPr>
        </a:p>
      </c:txPr>
    </c:legend>
    <c:plotVisOnly val="1"/>
    <c:dispBlanksAs val="gap"/>
    <c:showDLblsOverMax val="0"/>
  </c:chart>
  <c:txPr>
    <a:bodyPr/>
    <a:lstStyle/>
    <a:p>
      <a:pPr>
        <a:defRPr sz="1400">
          <a:solidFill>
            <a:srgbClr val="5B636B"/>
          </a:solidFill>
          <a:latin typeface="IBM Plex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place our three ideas (compiled predicates, semantic maps, intent canvas) against 2025–2026 literature, decide where our novelty is, and choose the rivals we must beat next. All numbers in this deck are traced to a page in qa_report.md; anything we could not verify was left off the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left to right: each research front on the left is a body of 2025–2026 work; arrows show which of our ideas it informs or competes with. Seven edges: Filtered ANN→RSA, Negation→RSA, SAE→RSA, SAE→Maps, Semantic IDs→Maps, Semantic IDs→Canvas, Composed retrieval→Canvas. The rest of the deck walks the fronts in this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stack: query understanding feeds two retrieval paths in parallel. The lexical path is OpenSearch with an in-index EBM first-stage ranker and feature logging; the dense path is GPU retrieval that honours an eligibility bitmask. The intent canvas compiles to one filter that is applied to both paths. Results are unioned with flags marking which retriever missed each item, then a GPU L2 multi-objective ranker, post-ranking and the page. RSA predicates and map regions both end up inside the compiled filter.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ACORN (Patel et al., SIGMOD 2024) introduced predicate-subgraph traversal so one HNSW index serves arbitrary predicates. FAVOR (2026) reports 1.3× to 5× higher QPS at Recall@10 = 95% over filter-agnostic baselines; EMA (2026) reports 1.68×–12.25× speedups over general attribute-filtering methods (both from their arXiv abstracts; page check pending, see qa_report.md). None of them asks where the predicate comes from: they evaluate an attribute test. Our equation: navigate by dense similarity, admit a node only if the compiled semantic score passes the threshold, so RSA can slot in as the predicate for any of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are from Table 7 of the current RSA manuscript (reviewer-controlled benchmark). NOTE: the brief quoted an older run (post-filter 0.927→0.135 vs live 0.982→0.983). That fixed post-filter comparison was removed from the paper as confounded; the current baseline is a selectivity-aware 2× over-fetch. At 50–10% eligibility the over-fetch is somewhat faster but loses 0.19–0.27 recall; at 5% and 2% live traversal is both faster and more accurate. No over-fetch point reached live recall within 0.005 in any of the 15 conditions, so the paper claims no matched-recall speedup. Next step: global selectivity hides anticorrelated queries where the eligible items sit far from the query in embedding space.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 of our paper: supervision is expensive and offline; search-time work is a tiny program over a shared item code. Equations: calibration puts every concept on one probability scale; composition adds log p for positive and log(1−p) for negated concepts; the popcount kernel evaluates a 384-d int4 linear head with four AND/popcount passes; joint memory M(N,K) = N·B_item + K·B_program is the objective we compress. On 44,072 products Binary1-LS2-int4 reaches 0.337 recall at 20% retention vs 0.207 dense, 0.352 PQ64 and 0.363 FP32, with 56 B/item and ~216 B/predicate. Predicate cost inside HNSW is 96–134 ns per invocation (the brief's ~110 ns came from an older run; current paper reports 96–134 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NevIR reproduction (SIGIR 2025) restates the original finding that most IR models perform at or below random ranking on negation; listwise LLM re-rankers do best but remain below humans. E-SENS (2026) is training-free: an LLM writes a compact 'trap' query for the excluded side and the score subtracts its similarity, S(d) = s(d, q_target) − β s(d, q_trap). We use that form instead of the brief's schematic (sim(q+,d) − λ sim(q−,d)); equation number still to be confirmed against the PDF. RSA instead adds log(1 − p) of a calibrated concept probability, which composes with other predicates. Our target is to beat E-SENS on its benchmark, not zero-shot embedding directions.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SAE maps a dense embedding to a wide, sparse, mostly interpretable code (ReLU encoder, L1 penalty). Two uses for us: (1) SAE features as candidate concepts to compile into RSA programs without an external teacher; (2) SAE directions as candidate map axes. Jiang et al. demonstrate data diffing, correlations, clustering and retrieval with SAE embeddings; Park et al. propose CL-SR, concept-level sparse retrieval. The limits listed are our risk list to test, not findings from these papers.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MPDM: an LLM proposes interpretable axis pairs per category (e.g., formal–casual × minimal–ornate). Each axis gets a linear probe over item embeddings; coordinates are the probe probability rank-transformed so the map has even density. Exact facets (category, color, price, stock per market) are boolean layers over the base map. Two quality rules: drop axes whose probes are inaccurate on held-out labels, and decorrelate the axes within a map so the two dimensions carry different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canvas is persistent, editable session state. A selected map region is the base; each clarification adds or edits a layer (dresses; in stock in DE; a soft negated 'floral' layer), and the mask M is their conjunction, compiled once into a filter for every retriever. Fashion IQ (Wu et al.) is the closest public data: relative-caption feedback on dresses, shirts and tops &amp; tees. The brief's '~50k pairs per category' and 'CLIP zero-shot ~21% R@10' were NOT verified (the first conflicts with the search-reported totals; the second is not from the Fashion IQ paper), so they are left off this slide — see qa_report.md.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Semantic IDs come from residual quantization of item embeddings: each level quantizes the residual of the previous one, and an item's ID is its code path. A generator decodes codes by beam search; our eligibility mask can prune branches (dashed) so only allowed items are generated. CQ-SID (Tmall): +1.15% GMV in a two-week online A/B; the generative channel accounts for 72.63% of purchases. OneSearch (Kuaishou): operational expenditure −75.40%. These come from the arXiv abstracts; page check pending. The brief's OneSearch '+3.22% orders' was only found in a secondary summary and is left off the slide. At our catalog size (3M) the reason to try this is candidate diversity, not serving cost.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RRF gives each retriever a fixed contribution 1/(k + rank) with k = 60. Values: rank 1 → 0.0164, rank 10 → 0.0143, rank 30 → 0.0111, rank 100 → 0.0063 (arithmetic; 0.0164/0.0063 ≈ 2.6). Written as a generalized additive model, RRF is one hand-chosen shape function per retriever with no interactions. An Explainable Boosting Machine fits those shape functions and selected pairwise interactions from data while staying inspectable, and our in-index L1 already logs the rank features it needs.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GenFacet (SIGIR 2026, JD.com) generates facets end to end with multi-task preference alignment; online it reports +42.0% facet CTR and +2.0% UCVR (from the arXiv HTML; page check pending). The case-driven framework (ByteDance) uses Annotator, Optimizer and User agents to improve relevance from failure cases. The brief's 'nearline 7B query-structure LLM, attribute F1 0.887 → 0.926 over BERT' could not be tied to a specific paper and is left off the slide pending a PDF check (qa_report.md).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Synthesis. Fast filtered ANN (ACORN, FAVOR, EMA), negation-aware scoring (E-SENS) and generative retrieval (CQ-SID, OneSearch) are active and well-resourced; we should adopt them as components. What we did not find elsewhere: predicates that are learned, compiled to ~216 B and executed inside traversal; and a persistent, editable intent state that compiles to filters for every retriever.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row per idea. 'Closest recent work' is the paper that would be cited against us; 'Our edge' is what we can already show; 'Gap to close' is the experiment a reviewer would ask for first. Negation: E-SENS evaluates on ExcluIR, so 'its benchmark' means ExcluIR. Canvas: Fashion IQ and FACap are single-turn composed retrieval; nobody we found keeps a persistent multi-turn state.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RSA: compare inside ACORN/FAVOR-style filtered search rather than our own HNSW harness; beat E-SENS on negation; compile SAE features instead of teacher labels; report a slice where eligible items are far from the query (anticorrelated). Maps: parametric UMAP and SOM as layout baselines, per-axis probe accuracy, and decorrelation between axes. Canvas: multi-turn edits built from Fashion IQ, simulated shoppers, turns-to-target against a query-rewriting baseline, then a one-market pilot.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titles and links:</a:t>
            </a:r>
          </a:p>
          <a:p>
            <a:r>
              <a:t>RSA: Compiled Semantic Predicates for ANN Search — Search — papers/Random_Semantic_Algebra_latest.pdf</a:t>
            </a:r>
          </a:p>
          <a:p>
            <a:r>
              <a:t>ACORN — ACORN: Performant and Predicate-Agnostic Search Over Vector Embeddings and Structured Data — https://arxiv.org/abs/2403.04871</a:t>
            </a:r>
          </a:p>
          <a:p>
            <a:r>
              <a:t>Curator — Curator: Efficient Vector Search with Low-Selectivity Filters — https://arxiv.org/abs/2601.01291</a:t>
            </a:r>
          </a:p>
          <a:p>
            <a:r>
              <a:t>FAVOR — FAVOR: Efficient Filter-Agnostic Vector ANNS Based on Selectivity-Aware Exclusion Distances — https://arxiv.org/abs/2605.07770</a:t>
            </a:r>
          </a:p>
          <a:p>
            <a:r>
              <a:t>EMA — EMA: Approximate Nearest Neighbor Search with General Attribute Filtering and Dynamic Updates — https://arxiv.org/abs/2606.00734</a:t>
            </a:r>
          </a:p>
          <a:p>
            <a:r>
              <a:t>Filtered-ANN benchmark — Benchmarking Filtered Approximate Nearest Neighbor Search Algorithms on Transformer-based Embedding Vectors — https://arxiv.org/abs/2507.21989</a:t>
            </a:r>
          </a:p>
          <a:p>
            <a:r>
              <a:t>Reproducing NevIR — Reproducing NevIR: Negation in Neural Information Retrieval — https://arxiv.org/abs/2502.13506</a:t>
            </a:r>
          </a:p>
          <a:p>
            <a:r>
              <a:t>E-SENS — E-SENS: Exclusion-Sensitive Penalization for Negative-Constraint Retrieval — https://arxiv.org/abs/2608.30130</a:t>
            </a:r>
          </a:p>
          <a:p>
            <a:r>
              <a:t>SAE embeddings toolkit — Interpretable Embeddings with Sparse Autoencoders: A Data Analysis Toolkit — https://arxiv.org/abs/2512.10092</a:t>
            </a:r>
          </a:p>
          <a:p>
            <a:r>
              <a:t>Decoding dense embeddings (CL-SR) — Decoding Dense Embeddings: Sparse Autoencoders for Interpreting and Discretizing Dense Retrieval — https://arxiv.org/abs/2506.00041</a:t>
            </a:r>
          </a:p>
          <a:p>
            <a:r>
              <a:t>Fashion IQ — Fashion IQ: A New Dataset Towards Retrieving Images by Natural Language Feedback — https://arxiv.org/abs/1905.12794</a:t>
            </a:r>
          </a:p>
          <a:p>
            <a:r>
              <a:t>Composed multi-modal retrieval survey — Composed Multi-modal Retrieval: A Survey of Approaches and Applications — https://arxiv.org/abs/2503.01334</a:t>
            </a:r>
          </a:p>
          <a:p>
            <a:r>
              <a:t>FACap — FACap: A Large-scale Fashion Dataset for Fine-grained Composed Image Retrieval — https://arxiv.org/abs/2507.07135</a:t>
            </a:r>
          </a:p>
          <a:p>
            <a:r>
              <a:t>CQ-SID (Tmall) — Efficient Generative Retrieval for E-commerce Search with Semantic Cluster IDs and Expert-Guided RL — https://arxiv.org/abs/2605.14434</a:t>
            </a:r>
          </a:p>
          <a:p>
            <a:r>
              <a:t>OneSearch (Kuaishou) — OneSearch: A Preliminary Exploration of the Unified End-to-End Generative Framework for E-commerce Search — https://arxiv.org/abs/2509.03236</a:t>
            </a:r>
          </a:p>
          <a:p>
            <a:r>
              <a:t>GenFacet (JD.com) — GenFacet: End-to-End Generative Faceted Search via Multi-Task Preference Alignment in E-Commerce — https://arxiv.org/abs/2603.19665</a:t>
            </a:r>
          </a:p>
          <a:p>
            <a:r>
              <a:t>Case-driven multi-agent relevance — A Case-Driven Multi-Agent Framework for E-Commerce Search Relevance — https://arxiv.org/abs/2605.05991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403.04871" TargetMode="External"/><Relationship Id="rId3" Type="http://schemas.openxmlformats.org/officeDocument/2006/relationships/hyperlink" Target="https://arxiv.org/abs/2601.01291" TargetMode="External"/><Relationship Id="rId4" Type="http://schemas.openxmlformats.org/officeDocument/2006/relationships/hyperlink" Target="https://arxiv.org/abs/2605.07770" TargetMode="External"/><Relationship Id="rId5" Type="http://schemas.openxmlformats.org/officeDocument/2006/relationships/hyperlink" Target="https://arxiv.org/abs/2606.00734" TargetMode="External"/><Relationship Id="rId6" Type="http://schemas.openxmlformats.org/officeDocument/2006/relationships/hyperlink" Target="https://arxiv.org/abs/2507.21989" TargetMode="External"/><Relationship Id="rId7" Type="http://schemas.openxmlformats.org/officeDocument/2006/relationships/hyperlink" Target="https://arxiv.org/abs/2502.13506" TargetMode="External"/><Relationship Id="rId8" Type="http://schemas.openxmlformats.org/officeDocument/2006/relationships/hyperlink" Target="https://arxiv.org/abs/2608.30130" TargetMode="External"/><Relationship Id="rId9" Type="http://schemas.openxmlformats.org/officeDocument/2006/relationships/hyperlink" Target="https://arxiv.org/abs/2512.10092" TargetMode="External"/><Relationship Id="rId10" Type="http://schemas.openxmlformats.org/officeDocument/2006/relationships/hyperlink" Target="https://arxiv.org/abs/2506.00041" TargetMode="External"/><Relationship Id="rId11" Type="http://schemas.openxmlformats.org/officeDocument/2006/relationships/hyperlink" Target="https://arxiv.org/abs/1905.12794" TargetMode="External"/><Relationship Id="rId12" Type="http://schemas.openxmlformats.org/officeDocument/2006/relationships/hyperlink" Target="https://arxiv.org/abs/2503.01334" TargetMode="External"/><Relationship Id="rId13" Type="http://schemas.openxmlformats.org/officeDocument/2006/relationships/hyperlink" Target="https://arxiv.org/abs/2507.07135" TargetMode="External"/><Relationship Id="rId14" Type="http://schemas.openxmlformats.org/officeDocument/2006/relationships/hyperlink" Target="https://arxiv.org/abs/2605.14434" TargetMode="External"/><Relationship Id="rId15" Type="http://schemas.openxmlformats.org/officeDocument/2006/relationships/hyperlink" Target="https://arxiv.org/abs/2509.03236" TargetMode="External"/><Relationship Id="rId16" Type="http://schemas.openxmlformats.org/officeDocument/2006/relationships/hyperlink" Target="https://arxiv.org/abs/2603.19665" TargetMode="External"/><Relationship Id="rId17" Type="http://schemas.openxmlformats.org/officeDocument/2006/relationships/hyperlink" Target="https://arxiv.org/abs/2605.05991" TargetMode="External"/><Relationship Id="rId18"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TextBox 1"/>
          <p:cNvSpPr txBox="1"/>
          <p:nvPr/>
        </p:nvSpPr>
        <p:spPr>
          <a:xfrm>
            <a:off x="548640" y="822960"/>
            <a:ext cx="8229600" cy="320040"/>
          </a:xfrm>
          <a:prstGeom prst="rect">
            <a:avLst/>
          </a:prstGeom>
          <a:noFill/>
        </p:spPr>
        <p:txBody>
          <a:bodyPr wrap="square" lIns="0" rIns="0" tIns="0" bIns="0" anchor="t">
            <a:spAutoFit/>
          </a:bodyPr>
          <a:lstStyle/>
          <a:p>
            <a:pPr algn="l"/>
            <a:r>
              <a:rPr sz="1400" b="1" i="0" spc="150">
                <a:solidFill>
                  <a:srgbClr val="1F6F6B"/>
                </a:solidFill>
                <a:latin typeface="IBM Plex Sans"/>
              </a:rPr>
              <a:t>APPLIED SCIENCE · SEARCH &amp; DISCOVERY</a:t>
            </a:r>
          </a:p>
        </p:txBody>
      </p:sp>
      <p:sp>
        <p:nvSpPr>
          <p:cNvPr id="3" name="TextBox 2"/>
          <p:cNvSpPr txBox="1"/>
          <p:nvPr/>
        </p:nvSpPr>
        <p:spPr>
          <a:xfrm>
            <a:off x="548640" y="1463040"/>
            <a:ext cx="7863840" cy="2011680"/>
          </a:xfrm>
          <a:prstGeom prst="rect">
            <a:avLst/>
          </a:prstGeom>
          <a:noFill/>
        </p:spPr>
        <p:txBody>
          <a:bodyPr wrap="square" lIns="0" rIns="0" tIns="0" bIns="0" anchor="t">
            <a:spAutoFit/>
          </a:bodyPr>
          <a:lstStyle/>
          <a:p>
            <a:pPr algn="l">
              <a:lnSpc>
                <a:spcPct val="105000"/>
              </a:lnSpc>
            </a:pPr>
            <a:r>
              <a:rPr sz="4600" b="0" i="0">
                <a:solidFill>
                  <a:srgbClr val="1E2328"/>
                </a:solidFill>
                <a:latin typeface="Libre Baskerville"/>
              </a:rPr>
              <a:t>Fashion search: what the literature says</a:t>
            </a:r>
          </a:p>
        </p:txBody>
      </p:sp>
      <p:sp>
        <p:nvSpPr>
          <p:cNvPr id="4" name="TextBox 3"/>
          <p:cNvSpPr txBox="1"/>
          <p:nvPr/>
        </p:nvSpPr>
        <p:spPr>
          <a:xfrm>
            <a:off x="548640" y="3611880"/>
            <a:ext cx="7498079" cy="822960"/>
          </a:xfrm>
          <a:prstGeom prst="rect">
            <a:avLst/>
          </a:prstGeom>
          <a:noFill/>
        </p:spPr>
        <p:txBody>
          <a:bodyPr wrap="square" lIns="0" rIns="0" tIns="0" bIns="0" anchor="t">
            <a:spAutoFit/>
          </a:bodyPr>
          <a:lstStyle/>
          <a:p>
            <a:pPr algn="l"/>
            <a:r>
              <a:rPr sz="2400" b="0" i="0">
                <a:solidFill>
                  <a:srgbClr val="5B636B"/>
                </a:solidFill>
                <a:latin typeface="IBM Plex Sans"/>
              </a:rPr>
              <a:t>Recent papers mapped to our agenda</a:t>
            </a:r>
          </a:p>
        </p:txBody>
      </p:sp>
      <p:sp>
        <p:nvSpPr>
          <p:cNvPr id="5" name="Rounded Rectangle 4"/>
          <p:cNvSpPr/>
          <p:nvPr/>
        </p:nvSpPr>
        <p:spPr>
          <a:xfrm>
            <a:off x="548640" y="4800600"/>
            <a:ext cx="2514600" cy="914400"/>
          </a:xfrm>
          <a:prstGeom prst="roundRect">
            <a:avLst>
              <a:gd name="adj" fmla="val 12000"/>
            </a:avLst>
          </a:prstGeom>
          <a:solidFill>
            <a:srgbClr val="FFFDF8"/>
          </a:solidFill>
          <a:ln w="12700">
            <a:solidFill>
              <a:srgbClr val="DDD6C8"/>
            </a:solidFill>
          </a:ln>
        </p:spPr>
        <p:txBody>
          <a:bodyPr rtlCol="0" anchor="ctr" wrap="square" lIns="164592" rIns="164592" tIns="36576" bIns="36576"/>
          <a:lstStyle/>
          <a:p>
            <a:pPr algn="l"/>
            <a:r>
              <a:rPr sz="1600" b="1" i="0">
                <a:solidFill>
                  <a:srgbClr val="1E2328"/>
                </a:solidFill>
                <a:latin typeface="IBM Plex Sans"/>
              </a:rPr>
              <a:t>Compiled semantic predicates</a:t>
            </a:r>
          </a:p>
          <a:p>
            <a:pPr algn="l"/>
            <a:r>
              <a:rPr sz="1600" b="0" i="0">
                <a:solidFill>
                  <a:srgbClr val="1E2328"/>
                </a:solidFill>
                <a:latin typeface="IBM Plex Sans"/>
              </a:rPr>
              <a:t>RSA</a:t>
            </a:r>
          </a:p>
        </p:txBody>
      </p:sp>
      <p:sp>
        <p:nvSpPr>
          <p:cNvPr id="6" name="Rounded Rectangle 5"/>
          <p:cNvSpPr/>
          <p:nvPr/>
        </p:nvSpPr>
        <p:spPr>
          <a:xfrm>
            <a:off x="3246120" y="4800600"/>
            <a:ext cx="2514600" cy="914400"/>
          </a:xfrm>
          <a:prstGeom prst="roundRect">
            <a:avLst>
              <a:gd name="adj" fmla="val 12000"/>
            </a:avLst>
          </a:prstGeom>
          <a:solidFill>
            <a:srgbClr val="FFFDF8"/>
          </a:solidFill>
          <a:ln w="12700">
            <a:solidFill>
              <a:srgbClr val="DDD6C8"/>
            </a:solidFill>
          </a:ln>
        </p:spPr>
        <p:txBody>
          <a:bodyPr rtlCol="0" anchor="ctr" wrap="square" lIns="164592" rIns="164592" tIns="36576" bIns="36576"/>
          <a:lstStyle/>
          <a:p>
            <a:pPr algn="l"/>
            <a:r>
              <a:rPr sz="1600" b="1" i="0">
                <a:solidFill>
                  <a:srgbClr val="1E2328"/>
                </a:solidFill>
                <a:latin typeface="IBM Plex Sans"/>
              </a:rPr>
              <a:t>Semantic maps</a:t>
            </a:r>
          </a:p>
          <a:p>
            <a:pPr algn="l"/>
            <a:r>
              <a:rPr sz="1600" b="0" i="0">
                <a:solidFill>
                  <a:srgbClr val="1E2328"/>
                </a:solidFill>
                <a:latin typeface="IBM Plex Sans"/>
              </a:rPr>
              <a:t>MPDM</a:t>
            </a:r>
          </a:p>
        </p:txBody>
      </p:sp>
      <p:sp>
        <p:nvSpPr>
          <p:cNvPr id="7" name="Rounded Rectangle 6"/>
          <p:cNvSpPr/>
          <p:nvPr/>
        </p:nvSpPr>
        <p:spPr>
          <a:xfrm>
            <a:off x="5943600" y="4800600"/>
            <a:ext cx="2514600" cy="914400"/>
          </a:xfrm>
          <a:prstGeom prst="roundRect">
            <a:avLst>
              <a:gd name="adj" fmla="val 12000"/>
            </a:avLst>
          </a:prstGeom>
          <a:solidFill>
            <a:srgbClr val="FFFDF8"/>
          </a:solidFill>
          <a:ln w="12700">
            <a:solidFill>
              <a:srgbClr val="DDD6C8"/>
            </a:solidFill>
          </a:ln>
        </p:spPr>
        <p:txBody>
          <a:bodyPr rtlCol="0" anchor="ctr" wrap="square" lIns="164592" rIns="164592" tIns="36576" bIns="36576"/>
          <a:lstStyle/>
          <a:p>
            <a:pPr algn="l"/>
            <a:r>
              <a:rPr sz="1600" b="1" i="0">
                <a:solidFill>
                  <a:srgbClr val="1E2328"/>
                </a:solidFill>
                <a:latin typeface="IBM Plex Sans"/>
              </a:rPr>
              <a:t>Intent canvas</a:t>
            </a:r>
          </a:p>
          <a:p>
            <a:pPr algn="l"/>
            <a:r>
              <a:rPr sz="1600" b="0" i="0">
                <a:solidFill>
                  <a:srgbClr val="1E2328"/>
                </a:solidFill>
                <a:latin typeface="IBM Plex Sans"/>
              </a:rPr>
              <a:t>Session state</a:t>
            </a:r>
          </a:p>
        </p:txBody>
      </p:sp>
      <p:sp>
        <p:nvSpPr>
          <p:cNvPr id="8" name="Rectangle 7"/>
          <p:cNvSpPr/>
          <p:nvPr/>
        </p:nvSpPr>
        <p:spPr>
          <a:xfrm>
            <a:off x="8732520" y="1234440"/>
            <a:ext cx="2926080" cy="2926080"/>
          </a:xfrm>
          <a:prstGeom prst="rect">
            <a:avLst/>
          </a:prstGeom>
          <a:solidFill>
            <a:srgbClr val="EAE5DB"/>
          </a:solidFill>
          <a:ln>
            <a:noFill/>
          </a:ln>
        </p:spPr>
        <p:txBody>
          <a:bodyPr rtlCol="0" anchor="ctr" wrap="square" lIns="73152" rIns="73152" tIns="36576" bIns="36576"/>
          <a:lstStyle/>
          <a:p>
            <a:pPr algn="ctr"/>
          </a:p>
        </p:txBody>
      </p:sp>
      <p:sp>
        <p:nvSpPr>
          <p:cNvPr id="9" name="Oval 8"/>
          <p:cNvSpPr/>
          <p:nvPr/>
        </p:nvSpPr>
        <p:spPr>
          <a:xfrm>
            <a:off x="8990233" y="1453400"/>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10" name="Oval 9"/>
          <p:cNvSpPr/>
          <p:nvPr/>
        </p:nvSpPr>
        <p:spPr>
          <a:xfrm>
            <a:off x="9383553" y="1435833"/>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11" name="Oval 10"/>
          <p:cNvSpPr/>
          <p:nvPr/>
        </p:nvSpPr>
        <p:spPr>
          <a:xfrm>
            <a:off x="9677818" y="1501530"/>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12" name="Oval 11"/>
          <p:cNvSpPr/>
          <p:nvPr/>
        </p:nvSpPr>
        <p:spPr>
          <a:xfrm>
            <a:off x="9890799" y="1533285"/>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13" name="Oval 12"/>
          <p:cNvSpPr/>
          <p:nvPr/>
        </p:nvSpPr>
        <p:spPr>
          <a:xfrm>
            <a:off x="10206246" y="1516754"/>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14" name="Oval 13"/>
          <p:cNvSpPr/>
          <p:nvPr/>
        </p:nvSpPr>
        <p:spPr>
          <a:xfrm>
            <a:off x="10533535" y="1439928"/>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15" name="Oval 14"/>
          <p:cNvSpPr/>
          <p:nvPr/>
        </p:nvSpPr>
        <p:spPr>
          <a:xfrm>
            <a:off x="10933030" y="1604844"/>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16" name="Oval 15"/>
          <p:cNvSpPr/>
          <p:nvPr/>
        </p:nvSpPr>
        <p:spPr>
          <a:xfrm>
            <a:off x="11185701" y="1469617"/>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17" name="Oval 16"/>
          <p:cNvSpPr/>
          <p:nvPr/>
        </p:nvSpPr>
        <p:spPr>
          <a:xfrm>
            <a:off x="9058248" y="1951959"/>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18" name="Oval 17"/>
          <p:cNvSpPr/>
          <p:nvPr/>
        </p:nvSpPr>
        <p:spPr>
          <a:xfrm>
            <a:off x="9367013" y="1828513"/>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19" name="Oval 18"/>
          <p:cNvSpPr/>
          <p:nvPr/>
        </p:nvSpPr>
        <p:spPr>
          <a:xfrm>
            <a:off x="9776474" y="1750081"/>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20" name="Oval 19"/>
          <p:cNvSpPr/>
          <p:nvPr/>
        </p:nvSpPr>
        <p:spPr>
          <a:xfrm>
            <a:off x="10070126" y="1804526"/>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21" name="Oval 20"/>
          <p:cNvSpPr/>
          <p:nvPr/>
        </p:nvSpPr>
        <p:spPr>
          <a:xfrm>
            <a:off x="10230163" y="1766034"/>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22" name="Oval 21"/>
          <p:cNvSpPr/>
          <p:nvPr/>
        </p:nvSpPr>
        <p:spPr>
          <a:xfrm>
            <a:off x="10586994" y="1922481"/>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23" name="Oval 22"/>
          <p:cNvSpPr/>
          <p:nvPr/>
        </p:nvSpPr>
        <p:spPr>
          <a:xfrm>
            <a:off x="10878413" y="1869940"/>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24" name="Oval 23"/>
          <p:cNvSpPr/>
          <p:nvPr/>
        </p:nvSpPr>
        <p:spPr>
          <a:xfrm>
            <a:off x="11301100" y="1823073"/>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25" name="Oval 24"/>
          <p:cNvSpPr/>
          <p:nvPr/>
        </p:nvSpPr>
        <p:spPr>
          <a:xfrm>
            <a:off x="9040396" y="2073752"/>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26" name="Oval 25"/>
          <p:cNvSpPr/>
          <p:nvPr/>
        </p:nvSpPr>
        <p:spPr>
          <a:xfrm>
            <a:off x="9251078" y="2105826"/>
            <a:ext cx="91440" cy="91440"/>
          </a:xfrm>
          <a:prstGeom prst="ellipse">
            <a:avLst/>
          </a:prstGeom>
          <a:solidFill>
            <a:srgbClr val="1F6F6B"/>
          </a:solidFill>
          <a:ln>
            <a:noFill/>
          </a:ln>
        </p:spPr>
        <p:txBody>
          <a:bodyPr rtlCol="0" anchor="ctr" wrap="square" lIns="73152" rIns="73152" tIns="36576" bIns="36576"/>
          <a:lstStyle/>
          <a:p>
            <a:pPr algn="ctr"/>
          </a:p>
        </p:txBody>
      </p:sp>
      <p:sp>
        <p:nvSpPr>
          <p:cNvPr id="27" name="Oval 26"/>
          <p:cNvSpPr/>
          <p:nvPr/>
        </p:nvSpPr>
        <p:spPr>
          <a:xfrm>
            <a:off x="9710194" y="2155478"/>
            <a:ext cx="91440" cy="91440"/>
          </a:xfrm>
          <a:prstGeom prst="ellipse">
            <a:avLst/>
          </a:prstGeom>
          <a:solidFill>
            <a:srgbClr val="1F6F6B"/>
          </a:solidFill>
          <a:ln>
            <a:noFill/>
          </a:ln>
        </p:spPr>
        <p:txBody>
          <a:bodyPr rtlCol="0" anchor="ctr" wrap="square" lIns="73152" rIns="73152" tIns="36576" bIns="36576"/>
          <a:lstStyle/>
          <a:p>
            <a:pPr algn="ctr"/>
          </a:p>
        </p:txBody>
      </p:sp>
      <p:sp>
        <p:nvSpPr>
          <p:cNvPr id="28" name="Oval 27"/>
          <p:cNvSpPr/>
          <p:nvPr/>
        </p:nvSpPr>
        <p:spPr>
          <a:xfrm>
            <a:off x="9948183" y="2190868"/>
            <a:ext cx="91440" cy="91440"/>
          </a:xfrm>
          <a:prstGeom prst="ellipse">
            <a:avLst/>
          </a:prstGeom>
          <a:solidFill>
            <a:srgbClr val="1F6F6B"/>
          </a:solidFill>
          <a:ln>
            <a:noFill/>
          </a:ln>
        </p:spPr>
        <p:txBody>
          <a:bodyPr rtlCol="0" anchor="ctr" wrap="square" lIns="73152" rIns="73152" tIns="36576" bIns="36576"/>
          <a:lstStyle/>
          <a:p>
            <a:pPr algn="ctr"/>
          </a:p>
        </p:txBody>
      </p:sp>
      <p:sp>
        <p:nvSpPr>
          <p:cNvPr id="29" name="Oval 28"/>
          <p:cNvSpPr/>
          <p:nvPr/>
        </p:nvSpPr>
        <p:spPr>
          <a:xfrm>
            <a:off x="10299371" y="2126842"/>
            <a:ext cx="91440" cy="91440"/>
          </a:xfrm>
          <a:prstGeom prst="ellipse">
            <a:avLst/>
          </a:prstGeom>
          <a:solidFill>
            <a:srgbClr val="1F6F6B"/>
          </a:solidFill>
          <a:ln>
            <a:noFill/>
          </a:ln>
        </p:spPr>
        <p:txBody>
          <a:bodyPr rtlCol="0" anchor="ctr" wrap="square" lIns="73152" rIns="73152" tIns="36576" bIns="36576"/>
          <a:lstStyle/>
          <a:p>
            <a:pPr algn="ctr"/>
          </a:p>
        </p:txBody>
      </p:sp>
      <p:sp>
        <p:nvSpPr>
          <p:cNvPr id="30" name="Oval 29"/>
          <p:cNvSpPr/>
          <p:nvPr/>
        </p:nvSpPr>
        <p:spPr>
          <a:xfrm>
            <a:off x="10695849" y="2216280"/>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31" name="Oval 30"/>
          <p:cNvSpPr/>
          <p:nvPr/>
        </p:nvSpPr>
        <p:spPr>
          <a:xfrm>
            <a:off x="10892610" y="2188372"/>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32" name="Oval 31"/>
          <p:cNvSpPr/>
          <p:nvPr/>
        </p:nvSpPr>
        <p:spPr>
          <a:xfrm>
            <a:off x="11275624" y="2255741"/>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33" name="Oval 32"/>
          <p:cNvSpPr/>
          <p:nvPr/>
        </p:nvSpPr>
        <p:spPr>
          <a:xfrm>
            <a:off x="9081102" y="2444232"/>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34" name="Oval 33"/>
          <p:cNvSpPr/>
          <p:nvPr/>
        </p:nvSpPr>
        <p:spPr>
          <a:xfrm>
            <a:off x="9457312" y="2406176"/>
            <a:ext cx="91440" cy="91440"/>
          </a:xfrm>
          <a:prstGeom prst="ellipse">
            <a:avLst/>
          </a:prstGeom>
          <a:solidFill>
            <a:srgbClr val="1F6F6B"/>
          </a:solidFill>
          <a:ln>
            <a:noFill/>
          </a:ln>
        </p:spPr>
        <p:txBody>
          <a:bodyPr rtlCol="0" anchor="ctr" wrap="square" lIns="73152" rIns="73152" tIns="36576" bIns="36576"/>
          <a:lstStyle/>
          <a:p>
            <a:pPr algn="ctr"/>
          </a:p>
        </p:txBody>
      </p:sp>
      <p:sp>
        <p:nvSpPr>
          <p:cNvPr id="35" name="Oval 34"/>
          <p:cNvSpPr/>
          <p:nvPr/>
        </p:nvSpPr>
        <p:spPr>
          <a:xfrm>
            <a:off x="9651437" y="2549346"/>
            <a:ext cx="91440" cy="91440"/>
          </a:xfrm>
          <a:prstGeom prst="ellipse">
            <a:avLst/>
          </a:prstGeom>
          <a:solidFill>
            <a:srgbClr val="1F6F6B"/>
          </a:solidFill>
          <a:ln>
            <a:noFill/>
          </a:ln>
        </p:spPr>
        <p:txBody>
          <a:bodyPr rtlCol="0" anchor="ctr" wrap="square" lIns="73152" rIns="73152" tIns="36576" bIns="36576"/>
          <a:lstStyle/>
          <a:p>
            <a:pPr algn="ctr"/>
          </a:p>
        </p:txBody>
      </p:sp>
      <p:sp>
        <p:nvSpPr>
          <p:cNvPr id="36" name="Oval 35"/>
          <p:cNvSpPr/>
          <p:nvPr/>
        </p:nvSpPr>
        <p:spPr>
          <a:xfrm>
            <a:off x="9911854" y="2489267"/>
            <a:ext cx="91440" cy="91440"/>
          </a:xfrm>
          <a:prstGeom prst="ellipse">
            <a:avLst/>
          </a:prstGeom>
          <a:solidFill>
            <a:srgbClr val="1F6F6B"/>
          </a:solidFill>
          <a:ln>
            <a:noFill/>
          </a:ln>
        </p:spPr>
        <p:txBody>
          <a:bodyPr rtlCol="0" anchor="ctr" wrap="square" lIns="73152" rIns="73152" tIns="36576" bIns="36576"/>
          <a:lstStyle/>
          <a:p>
            <a:pPr algn="ctr"/>
          </a:p>
        </p:txBody>
      </p:sp>
      <p:sp>
        <p:nvSpPr>
          <p:cNvPr id="37" name="Oval 36"/>
          <p:cNvSpPr/>
          <p:nvPr/>
        </p:nvSpPr>
        <p:spPr>
          <a:xfrm>
            <a:off x="10206629" y="2529425"/>
            <a:ext cx="91440" cy="91440"/>
          </a:xfrm>
          <a:prstGeom prst="ellipse">
            <a:avLst/>
          </a:prstGeom>
          <a:solidFill>
            <a:srgbClr val="1F6F6B"/>
          </a:solidFill>
          <a:ln>
            <a:noFill/>
          </a:ln>
        </p:spPr>
        <p:txBody>
          <a:bodyPr rtlCol="0" anchor="ctr" wrap="square" lIns="73152" rIns="73152" tIns="36576" bIns="36576"/>
          <a:lstStyle/>
          <a:p>
            <a:pPr algn="ctr"/>
          </a:p>
        </p:txBody>
      </p:sp>
      <p:sp>
        <p:nvSpPr>
          <p:cNvPr id="38" name="Oval 37"/>
          <p:cNvSpPr/>
          <p:nvPr/>
        </p:nvSpPr>
        <p:spPr>
          <a:xfrm>
            <a:off x="10689171" y="2508099"/>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39" name="Oval 38"/>
          <p:cNvSpPr/>
          <p:nvPr/>
        </p:nvSpPr>
        <p:spPr>
          <a:xfrm>
            <a:off x="11034057" y="2450014"/>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40" name="Oval 39"/>
          <p:cNvSpPr/>
          <p:nvPr/>
        </p:nvSpPr>
        <p:spPr>
          <a:xfrm>
            <a:off x="11313731" y="2512881"/>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41" name="Oval 40"/>
          <p:cNvSpPr/>
          <p:nvPr/>
        </p:nvSpPr>
        <p:spPr>
          <a:xfrm>
            <a:off x="9047598" y="2801968"/>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42" name="Oval 41"/>
          <p:cNvSpPr/>
          <p:nvPr/>
        </p:nvSpPr>
        <p:spPr>
          <a:xfrm>
            <a:off x="9425902" y="2911401"/>
            <a:ext cx="91440" cy="91440"/>
          </a:xfrm>
          <a:prstGeom prst="ellipse">
            <a:avLst/>
          </a:prstGeom>
          <a:solidFill>
            <a:srgbClr val="1F6F6B"/>
          </a:solidFill>
          <a:ln>
            <a:noFill/>
          </a:ln>
        </p:spPr>
        <p:txBody>
          <a:bodyPr rtlCol="0" anchor="ctr" wrap="square" lIns="73152" rIns="73152" tIns="36576" bIns="36576"/>
          <a:lstStyle/>
          <a:p>
            <a:pPr algn="ctr"/>
          </a:p>
        </p:txBody>
      </p:sp>
      <p:sp>
        <p:nvSpPr>
          <p:cNvPr id="43" name="Oval 42"/>
          <p:cNvSpPr/>
          <p:nvPr/>
        </p:nvSpPr>
        <p:spPr>
          <a:xfrm>
            <a:off x="9663977" y="2848554"/>
            <a:ext cx="91440" cy="91440"/>
          </a:xfrm>
          <a:prstGeom prst="ellipse">
            <a:avLst/>
          </a:prstGeom>
          <a:solidFill>
            <a:srgbClr val="1F6F6B"/>
          </a:solidFill>
          <a:ln>
            <a:noFill/>
          </a:ln>
        </p:spPr>
        <p:txBody>
          <a:bodyPr rtlCol="0" anchor="ctr" wrap="square" lIns="73152" rIns="73152" tIns="36576" bIns="36576"/>
          <a:lstStyle/>
          <a:p>
            <a:pPr algn="ctr"/>
          </a:p>
        </p:txBody>
      </p:sp>
      <p:sp>
        <p:nvSpPr>
          <p:cNvPr id="44" name="Oval 43"/>
          <p:cNvSpPr/>
          <p:nvPr/>
        </p:nvSpPr>
        <p:spPr>
          <a:xfrm>
            <a:off x="9891397" y="2856919"/>
            <a:ext cx="91440" cy="91440"/>
          </a:xfrm>
          <a:prstGeom prst="ellipse">
            <a:avLst/>
          </a:prstGeom>
          <a:solidFill>
            <a:srgbClr val="1F6F6B"/>
          </a:solidFill>
          <a:ln>
            <a:noFill/>
          </a:ln>
        </p:spPr>
        <p:txBody>
          <a:bodyPr rtlCol="0" anchor="ctr" wrap="square" lIns="73152" rIns="73152" tIns="36576" bIns="36576"/>
          <a:lstStyle/>
          <a:p>
            <a:pPr algn="ctr"/>
          </a:p>
        </p:txBody>
      </p:sp>
      <p:sp>
        <p:nvSpPr>
          <p:cNvPr id="45" name="Oval 44"/>
          <p:cNvSpPr/>
          <p:nvPr/>
        </p:nvSpPr>
        <p:spPr>
          <a:xfrm>
            <a:off x="10342820" y="2922247"/>
            <a:ext cx="91440" cy="91440"/>
          </a:xfrm>
          <a:prstGeom prst="ellipse">
            <a:avLst/>
          </a:prstGeom>
          <a:solidFill>
            <a:srgbClr val="1F6F6B"/>
          </a:solidFill>
          <a:ln>
            <a:noFill/>
          </a:ln>
        </p:spPr>
        <p:txBody>
          <a:bodyPr rtlCol="0" anchor="ctr" wrap="square" lIns="73152" rIns="73152" tIns="36576" bIns="36576"/>
          <a:lstStyle/>
          <a:p>
            <a:pPr algn="ctr"/>
          </a:p>
        </p:txBody>
      </p:sp>
      <p:sp>
        <p:nvSpPr>
          <p:cNvPr id="46" name="Oval 45"/>
          <p:cNvSpPr/>
          <p:nvPr/>
        </p:nvSpPr>
        <p:spPr>
          <a:xfrm>
            <a:off x="10702020" y="2763523"/>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47" name="Oval 46"/>
          <p:cNvSpPr/>
          <p:nvPr/>
        </p:nvSpPr>
        <p:spPr>
          <a:xfrm>
            <a:off x="10924354" y="2849562"/>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48" name="Oval 47"/>
          <p:cNvSpPr/>
          <p:nvPr/>
        </p:nvSpPr>
        <p:spPr>
          <a:xfrm>
            <a:off x="11163020" y="2803198"/>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49" name="Oval 48"/>
          <p:cNvSpPr/>
          <p:nvPr/>
        </p:nvSpPr>
        <p:spPr>
          <a:xfrm>
            <a:off x="8955333" y="3046038"/>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50" name="Oval 49"/>
          <p:cNvSpPr/>
          <p:nvPr/>
        </p:nvSpPr>
        <p:spPr>
          <a:xfrm>
            <a:off x="9250933" y="3191911"/>
            <a:ext cx="91440" cy="91440"/>
          </a:xfrm>
          <a:prstGeom prst="ellipse">
            <a:avLst/>
          </a:prstGeom>
          <a:solidFill>
            <a:srgbClr val="1F6F6B"/>
          </a:solidFill>
          <a:ln>
            <a:noFill/>
          </a:ln>
        </p:spPr>
        <p:txBody>
          <a:bodyPr rtlCol="0" anchor="ctr" wrap="square" lIns="73152" rIns="73152" tIns="36576" bIns="36576"/>
          <a:lstStyle/>
          <a:p>
            <a:pPr algn="ctr"/>
          </a:p>
        </p:txBody>
      </p:sp>
      <p:sp>
        <p:nvSpPr>
          <p:cNvPr id="51" name="Oval 50"/>
          <p:cNvSpPr/>
          <p:nvPr/>
        </p:nvSpPr>
        <p:spPr>
          <a:xfrm>
            <a:off x="9586741" y="3075278"/>
            <a:ext cx="91440" cy="91440"/>
          </a:xfrm>
          <a:prstGeom prst="ellipse">
            <a:avLst/>
          </a:prstGeom>
          <a:solidFill>
            <a:srgbClr val="1F6F6B"/>
          </a:solidFill>
          <a:ln>
            <a:noFill/>
          </a:ln>
        </p:spPr>
        <p:txBody>
          <a:bodyPr rtlCol="0" anchor="ctr" wrap="square" lIns="73152" rIns="73152" tIns="36576" bIns="36576"/>
          <a:lstStyle/>
          <a:p>
            <a:pPr algn="ctr"/>
          </a:p>
        </p:txBody>
      </p:sp>
      <p:sp>
        <p:nvSpPr>
          <p:cNvPr id="52" name="Oval 51"/>
          <p:cNvSpPr/>
          <p:nvPr/>
        </p:nvSpPr>
        <p:spPr>
          <a:xfrm>
            <a:off x="9965389" y="3215028"/>
            <a:ext cx="91440" cy="91440"/>
          </a:xfrm>
          <a:prstGeom prst="ellipse">
            <a:avLst/>
          </a:prstGeom>
          <a:solidFill>
            <a:srgbClr val="1F6F6B"/>
          </a:solidFill>
          <a:ln>
            <a:noFill/>
          </a:ln>
        </p:spPr>
        <p:txBody>
          <a:bodyPr rtlCol="0" anchor="ctr" wrap="square" lIns="73152" rIns="73152" tIns="36576" bIns="36576"/>
          <a:lstStyle/>
          <a:p>
            <a:pPr algn="ctr"/>
          </a:p>
        </p:txBody>
      </p:sp>
      <p:sp>
        <p:nvSpPr>
          <p:cNvPr id="53" name="Oval 52"/>
          <p:cNvSpPr/>
          <p:nvPr/>
        </p:nvSpPr>
        <p:spPr>
          <a:xfrm>
            <a:off x="10215898" y="3120436"/>
            <a:ext cx="91440" cy="91440"/>
          </a:xfrm>
          <a:prstGeom prst="ellipse">
            <a:avLst/>
          </a:prstGeom>
          <a:solidFill>
            <a:srgbClr val="1F6F6B"/>
          </a:solidFill>
          <a:ln>
            <a:noFill/>
          </a:ln>
        </p:spPr>
        <p:txBody>
          <a:bodyPr rtlCol="0" anchor="ctr" wrap="square" lIns="73152" rIns="73152" tIns="36576" bIns="36576"/>
          <a:lstStyle/>
          <a:p>
            <a:pPr algn="ctr"/>
          </a:p>
        </p:txBody>
      </p:sp>
      <p:sp>
        <p:nvSpPr>
          <p:cNvPr id="54" name="Oval 53"/>
          <p:cNvSpPr/>
          <p:nvPr/>
        </p:nvSpPr>
        <p:spPr>
          <a:xfrm>
            <a:off x="10640975" y="3217708"/>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55" name="Oval 54"/>
          <p:cNvSpPr/>
          <p:nvPr/>
        </p:nvSpPr>
        <p:spPr>
          <a:xfrm>
            <a:off x="11021467" y="3213362"/>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56" name="Oval 55"/>
          <p:cNvSpPr/>
          <p:nvPr/>
        </p:nvSpPr>
        <p:spPr>
          <a:xfrm>
            <a:off x="11220340" y="3112844"/>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57" name="Oval 56"/>
          <p:cNvSpPr/>
          <p:nvPr/>
        </p:nvSpPr>
        <p:spPr>
          <a:xfrm>
            <a:off x="8998060" y="3537929"/>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58" name="Oval 57"/>
          <p:cNvSpPr/>
          <p:nvPr/>
        </p:nvSpPr>
        <p:spPr>
          <a:xfrm>
            <a:off x="9452284" y="3373656"/>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59" name="Oval 58"/>
          <p:cNvSpPr/>
          <p:nvPr/>
        </p:nvSpPr>
        <p:spPr>
          <a:xfrm>
            <a:off x="9597243" y="3391810"/>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60" name="Oval 59"/>
          <p:cNvSpPr/>
          <p:nvPr/>
        </p:nvSpPr>
        <p:spPr>
          <a:xfrm>
            <a:off x="9930079" y="3448491"/>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61" name="Oval 60"/>
          <p:cNvSpPr/>
          <p:nvPr/>
        </p:nvSpPr>
        <p:spPr>
          <a:xfrm>
            <a:off x="10329826" y="3398708"/>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62" name="Oval 61"/>
          <p:cNvSpPr/>
          <p:nvPr/>
        </p:nvSpPr>
        <p:spPr>
          <a:xfrm>
            <a:off x="10518803" y="3433701"/>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63" name="Oval 62"/>
          <p:cNvSpPr/>
          <p:nvPr/>
        </p:nvSpPr>
        <p:spPr>
          <a:xfrm>
            <a:off x="10920649" y="3466722"/>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64" name="Oval 63"/>
          <p:cNvSpPr/>
          <p:nvPr/>
        </p:nvSpPr>
        <p:spPr>
          <a:xfrm>
            <a:off x="11371486" y="3494535"/>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65" name="Oval 64"/>
          <p:cNvSpPr/>
          <p:nvPr/>
        </p:nvSpPr>
        <p:spPr>
          <a:xfrm>
            <a:off x="9033170" y="3798244"/>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66" name="Oval 65"/>
          <p:cNvSpPr/>
          <p:nvPr/>
        </p:nvSpPr>
        <p:spPr>
          <a:xfrm>
            <a:off x="9389213" y="3671981"/>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67" name="Oval 66"/>
          <p:cNvSpPr/>
          <p:nvPr/>
        </p:nvSpPr>
        <p:spPr>
          <a:xfrm>
            <a:off x="9759286" y="3834621"/>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68" name="Oval 67"/>
          <p:cNvSpPr/>
          <p:nvPr/>
        </p:nvSpPr>
        <p:spPr>
          <a:xfrm>
            <a:off x="10073721" y="3838631"/>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69" name="Oval 68"/>
          <p:cNvSpPr/>
          <p:nvPr/>
        </p:nvSpPr>
        <p:spPr>
          <a:xfrm>
            <a:off x="10285749" y="3749268"/>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70" name="Oval 69"/>
          <p:cNvSpPr/>
          <p:nvPr/>
        </p:nvSpPr>
        <p:spPr>
          <a:xfrm>
            <a:off x="10541081" y="3801984"/>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71" name="Oval 70"/>
          <p:cNvSpPr/>
          <p:nvPr/>
        </p:nvSpPr>
        <p:spPr>
          <a:xfrm>
            <a:off x="10851871" y="3674973"/>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72" name="Oval 71"/>
          <p:cNvSpPr/>
          <p:nvPr/>
        </p:nvSpPr>
        <p:spPr>
          <a:xfrm>
            <a:off x="11204734" y="3696246"/>
            <a:ext cx="91440" cy="91440"/>
          </a:xfrm>
          <a:prstGeom prst="ellipse">
            <a:avLst/>
          </a:prstGeom>
          <a:solidFill>
            <a:srgbClr val="5B636B">
              <a:alpha val="45000"/>
            </a:srgbClr>
          </a:solidFill>
          <a:ln>
            <a:noFill/>
          </a:ln>
        </p:spPr>
        <p:txBody>
          <a:bodyPr rtlCol="0" anchor="ctr" wrap="square" lIns="73152" rIns="73152" tIns="36576" bIns="36576"/>
          <a:lstStyle/>
          <a:p>
            <a:pPr algn="ctr"/>
          </a:p>
        </p:txBody>
      </p:sp>
      <p:sp>
        <p:nvSpPr>
          <p:cNvPr id="73" name="TextBox 72"/>
          <p:cNvSpPr txBox="1"/>
          <p:nvPr/>
        </p:nvSpPr>
        <p:spPr>
          <a:xfrm>
            <a:off x="8732520" y="4233672"/>
            <a:ext cx="2926080" cy="274320"/>
          </a:xfrm>
          <a:prstGeom prst="rect">
            <a:avLst/>
          </a:prstGeom>
          <a:noFill/>
        </p:spPr>
        <p:txBody>
          <a:bodyPr wrap="square" lIns="0" rIns="0" tIns="0" bIns="0" anchor="t">
            <a:spAutoFit/>
          </a:bodyPr>
          <a:lstStyle/>
          <a:p>
            <a:pPr algn="ctr"/>
            <a:r>
              <a:rPr sz="1200" b="0" i="0">
                <a:solidFill>
                  <a:srgbClr val="5B636B"/>
                </a:solidFill>
                <a:latin typeface="IBM Plex Sans"/>
              </a:rPr>
              <a:t>formal – casual × minimal – ornate</a:t>
            </a:r>
          </a:p>
        </p:txBody>
      </p:sp>
      <p:sp>
        <p:nvSpPr>
          <p:cNvPr id="74" name="TextBox 73"/>
          <p:cNvSpPr txBox="1"/>
          <p:nvPr/>
        </p:nvSpPr>
        <p:spPr>
          <a:xfrm>
            <a:off x="548640" y="6309360"/>
            <a:ext cx="9144000" cy="365760"/>
          </a:xfrm>
          <a:prstGeom prst="rect">
            <a:avLst/>
          </a:prstGeom>
          <a:noFill/>
        </p:spPr>
        <p:txBody>
          <a:bodyPr wrap="square" lIns="0" rIns="0" tIns="0" bIns="0" anchor="t">
            <a:spAutoFit/>
          </a:bodyPr>
          <a:lstStyle/>
          <a:p>
            <a:pPr algn="l"/>
            <a:r>
              <a:rPr sz="1200" b="0" i="0">
                <a:solidFill>
                  <a:srgbClr val="5B636B"/>
                </a:solidFill>
                <a:latin typeface="IBM Plex Sans"/>
              </a:rPr>
              <a:t>Internal research review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Kicker"/>
          <p:cNvSpPr txBox="1"/>
          <p:nvPr/>
        </p:nvSpPr>
        <p:spPr>
          <a:xfrm>
            <a:off x="548640" y="384048"/>
            <a:ext cx="11094415" cy="274320"/>
          </a:xfrm>
          <a:prstGeom prst="rect">
            <a:avLst/>
          </a:prstGeom>
          <a:noFill/>
        </p:spPr>
        <p:txBody>
          <a:bodyPr wrap="square" lIns="0" rIns="0" tIns="0" bIns="0" anchor="t">
            <a:spAutoFit/>
          </a:bodyPr>
          <a:lstStyle/>
          <a:p>
            <a:pPr algn="l"/>
            <a:r>
              <a:rPr sz="1300" b="1" i="0" spc="150">
                <a:solidFill>
                  <a:srgbClr val="1F6F6B"/>
                </a:solidFill>
                <a:latin typeface="IBM Plex Sans"/>
              </a:rPr>
              <a:t>LANDSCAPE</a:t>
            </a:r>
          </a:p>
        </p:txBody>
      </p:sp>
      <p:sp>
        <p:nvSpPr>
          <p:cNvPr id="3" name="Title"/>
          <p:cNvSpPr txBox="1"/>
          <p:nvPr/>
        </p:nvSpPr>
        <p:spPr>
          <a:xfrm>
            <a:off x="548640" y="676656"/>
            <a:ext cx="11094415" cy="731520"/>
          </a:xfrm>
          <a:prstGeom prst="rect">
            <a:avLst/>
          </a:prstGeom>
          <a:noFill/>
        </p:spPr>
        <p:txBody>
          <a:bodyPr wrap="square" lIns="0" rIns="0" tIns="0" bIns="0" anchor="t">
            <a:spAutoFit/>
          </a:bodyPr>
          <a:lstStyle/>
          <a:p>
            <a:pPr algn="l"/>
            <a:r>
              <a:rPr sz="2800" b="0" i="0">
                <a:solidFill>
                  <a:srgbClr val="1E2328"/>
                </a:solidFill>
                <a:latin typeface="Libre Baskerville"/>
              </a:rPr>
              <a:t>Five research fronts feed our three ideas</a:t>
            </a:r>
          </a:p>
        </p:txBody>
      </p:sp>
      <p:sp>
        <p:nvSpPr>
          <p:cNvPr id="4" name="Rounded Rectangle 3"/>
          <p:cNvSpPr/>
          <p:nvPr/>
        </p:nvSpPr>
        <p:spPr>
          <a:xfrm>
            <a:off x="548640" y="1600200"/>
            <a:ext cx="3108960" cy="640080"/>
          </a:xfrm>
          <a:prstGeom prst="roundRect">
            <a:avLst>
              <a:gd name="adj" fmla="val 12000"/>
            </a:avLst>
          </a:prstGeom>
          <a:solidFill>
            <a:srgbClr val="EAE5DB"/>
          </a:solidFill>
          <a:ln>
            <a:noFill/>
          </a:ln>
        </p:spPr>
        <p:txBody>
          <a:bodyPr rtlCol="0" anchor="ctr" wrap="square" lIns="73152" rIns="73152" tIns="36576" bIns="36576"/>
          <a:lstStyle/>
          <a:p>
            <a:pPr algn="ctr"/>
            <a:r>
              <a:rPr sz="1700" b="0" i="0">
                <a:solidFill>
                  <a:srgbClr val="1E2328"/>
                </a:solidFill>
                <a:latin typeface="IBM Plex Sans"/>
              </a:rPr>
              <a:t>Filtered ANN</a:t>
            </a:r>
          </a:p>
        </p:txBody>
      </p:sp>
      <p:sp>
        <p:nvSpPr>
          <p:cNvPr id="5" name="Rounded Rectangle 4"/>
          <p:cNvSpPr/>
          <p:nvPr/>
        </p:nvSpPr>
        <p:spPr>
          <a:xfrm>
            <a:off x="548640" y="2487168"/>
            <a:ext cx="3108960" cy="640080"/>
          </a:xfrm>
          <a:prstGeom prst="roundRect">
            <a:avLst>
              <a:gd name="adj" fmla="val 12000"/>
            </a:avLst>
          </a:prstGeom>
          <a:solidFill>
            <a:srgbClr val="EAE5DB"/>
          </a:solidFill>
          <a:ln>
            <a:noFill/>
          </a:ln>
        </p:spPr>
        <p:txBody>
          <a:bodyPr rtlCol="0" anchor="ctr" wrap="square" lIns="73152" rIns="73152" tIns="36576" bIns="36576"/>
          <a:lstStyle/>
          <a:p>
            <a:pPr algn="ctr"/>
            <a:r>
              <a:rPr sz="1700" b="0" i="0">
                <a:solidFill>
                  <a:srgbClr val="1E2328"/>
                </a:solidFill>
                <a:latin typeface="IBM Plex Sans"/>
              </a:rPr>
              <a:t>Negation in retrieval</a:t>
            </a:r>
          </a:p>
        </p:txBody>
      </p:sp>
      <p:sp>
        <p:nvSpPr>
          <p:cNvPr id="6" name="Rounded Rectangle 5"/>
          <p:cNvSpPr/>
          <p:nvPr/>
        </p:nvSpPr>
        <p:spPr>
          <a:xfrm>
            <a:off x="548640" y="3374136"/>
            <a:ext cx="3108960" cy="640080"/>
          </a:xfrm>
          <a:prstGeom prst="roundRect">
            <a:avLst>
              <a:gd name="adj" fmla="val 12000"/>
            </a:avLst>
          </a:prstGeom>
          <a:solidFill>
            <a:srgbClr val="EAE5DB"/>
          </a:solidFill>
          <a:ln>
            <a:noFill/>
          </a:ln>
        </p:spPr>
        <p:txBody>
          <a:bodyPr rtlCol="0" anchor="ctr" wrap="square" lIns="73152" rIns="73152" tIns="36576" bIns="36576"/>
          <a:lstStyle/>
          <a:p>
            <a:pPr algn="ctr"/>
            <a:r>
              <a:rPr sz="1700" b="0" i="0">
                <a:solidFill>
                  <a:srgbClr val="1E2328"/>
                </a:solidFill>
                <a:latin typeface="IBM Plex Sans"/>
              </a:rPr>
              <a:t>Sparse autoencoders</a:t>
            </a:r>
          </a:p>
        </p:txBody>
      </p:sp>
      <p:sp>
        <p:nvSpPr>
          <p:cNvPr id="7" name="Rounded Rectangle 6"/>
          <p:cNvSpPr/>
          <p:nvPr/>
        </p:nvSpPr>
        <p:spPr>
          <a:xfrm>
            <a:off x="548640" y="4261104"/>
            <a:ext cx="3108960" cy="640080"/>
          </a:xfrm>
          <a:prstGeom prst="roundRect">
            <a:avLst>
              <a:gd name="adj" fmla="val 12000"/>
            </a:avLst>
          </a:prstGeom>
          <a:solidFill>
            <a:srgbClr val="EAE5DB"/>
          </a:solidFill>
          <a:ln>
            <a:noFill/>
          </a:ln>
        </p:spPr>
        <p:txBody>
          <a:bodyPr rtlCol="0" anchor="ctr" wrap="square" lIns="73152" rIns="73152" tIns="36576" bIns="36576"/>
          <a:lstStyle/>
          <a:p>
            <a:pPr algn="ctr"/>
            <a:r>
              <a:rPr sz="1700" b="0" i="0">
                <a:solidFill>
                  <a:srgbClr val="1E2328"/>
                </a:solidFill>
                <a:latin typeface="IBM Plex Sans"/>
              </a:rPr>
              <a:t>Semantic IDs and faceting</a:t>
            </a:r>
          </a:p>
        </p:txBody>
      </p:sp>
      <p:sp>
        <p:nvSpPr>
          <p:cNvPr id="8" name="Rounded Rectangle 7"/>
          <p:cNvSpPr/>
          <p:nvPr/>
        </p:nvSpPr>
        <p:spPr>
          <a:xfrm>
            <a:off x="548640" y="5148072"/>
            <a:ext cx="3108960" cy="640080"/>
          </a:xfrm>
          <a:prstGeom prst="roundRect">
            <a:avLst>
              <a:gd name="adj" fmla="val 12000"/>
            </a:avLst>
          </a:prstGeom>
          <a:solidFill>
            <a:srgbClr val="EAE5DB"/>
          </a:solidFill>
          <a:ln>
            <a:noFill/>
          </a:ln>
        </p:spPr>
        <p:txBody>
          <a:bodyPr rtlCol="0" anchor="ctr" wrap="square" lIns="73152" rIns="73152" tIns="36576" bIns="36576"/>
          <a:lstStyle/>
          <a:p>
            <a:pPr algn="ctr"/>
            <a:r>
              <a:rPr sz="1700" b="0" i="0">
                <a:solidFill>
                  <a:srgbClr val="1E2328"/>
                </a:solidFill>
                <a:latin typeface="IBM Plex Sans"/>
              </a:rPr>
              <a:t>Composed image retrieval</a:t>
            </a:r>
          </a:p>
        </p:txBody>
      </p:sp>
      <p:sp>
        <p:nvSpPr>
          <p:cNvPr id="9" name="Rounded Rectangle 8"/>
          <p:cNvSpPr/>
          <p:nvPr/>
        </p:nvSpPr>
        <p:spPr>
          <a:xfrm>
            <a:off x="5989320" y="1691640"/>
            <a:ext cx="2468880" cy="960120"/>
          </a:xfrm>
          <a:prstGeom prst="roundRect">
            <a:avLst>
              <a:gd name="adj" fmla="val 12000"/>
            </a:avLst>
          </a:prstGeom>
          <a:solidFill>
            <a:srgbClr val="1F6F6B"/>
          </a:solidFill>
          <a:ln>
            <a:noFill/>
          </a:ln>
        </p:spPr>
        <p:txBody>
          <a:bodyPr rtlCol="0" anchor="ctr" wrap="square" lIns="73152" rIns="73152" tIns="36576" bIns="36576"/>
          <a:lstStyle/>
          <a:p>
            <a:pPr algn="ctr"/>
            <a:r>
              <a:rPr sz="1700" b="1" i="0">
                <a:solidFill>
                  <a:srgbClr val="F5F2EC"/>
                </a:solidFill>
                <a:latin typeface="IBM Plex Sans"/>
              </a:rPr>
              <a:t>RSA</a:t>
            </a:r>
          </a:p>
          <a:p>
            <a:pPr algn="ctr"/>
            <a:r>
              <a:rPr sz="1700" b="0" i="0">
                <a:solidFill>
                  <a:srgbClr val="F5F2EC"/>
                </a:solidFill>
                <a:latin typeface="IBM Plex Sans"/>
              </a:rPr>
              <a:t>compiled predicates</a:t>
            </a:r>
          </a:p>
        </p:txBody>
      </p:sp>
      <p:sp>
        <p:nvSpPr>
          <p:cNvPr id="10" name="Rounded Rectangle 9"/>
          <p:cNvSpPr/>
          <p:nvPr/>
        </p:nvSpPr>
        <p:spPr>
          <a:xfrm>
            <a:off x="5989320" y="3218688"/>
            <a:ext cx="2468880" cy="960120"/>
          </a:xfrm>
          <a:prstGeom prst="roundRect">
            <a:avLst>
              <a:gd name="adj" fmla="val 12000"/>
            </a:avLst>
          </a:prstGeom>
          <a:solidFill>
            <a:srgbClr val="1F6F6B"/>
          </a:solidFill>
          <a:ln>
            <a:noFill/>
          </a:ln>
        </p:spPr>
        <p:txBody>
          <a:bodyPr rtlCol="0" anchor="ctr" wrap="square" lIns="73152" rIns="73152" tIns="36576" bIns="36576"/>
          <a:lstStyle/>
          <a:p>
            <a:pPr algn="ctr"/>
            <a:r>
              <a:rPr sz="1700" b="1" i="0">
                <a:solidFill>
                  <a:srgbClr val="F5F2EC"/>
                </a:solidFill>
                <a:latin typeface="IBM Plex Sans"/>
              </a:rPr>
              <a:t>Semantic maps</a:t>
            </a:r>
          </a:p>
          <a:p>
            <a:pPr algn="ctr"/>
            <a:r>
              <a:rPr sz="1700" b="0" i="0">
                <a:solidFill>
                  <a:srgbClr val="F5F2EC"/>
                </a:solidFill>
                <a:latin typeface="IBM Plex Sans"/>
              </a:rPr>
              <a:t>MPDM</a:t>
            </a:r>
          </a:p>
        </p:txBody>
      </p:sp>
      <p:sp>
        <p:nvSpPr>
          <p:cNvPr id="11" name="Rounded Rectangle 10"/>
          <p:cNvSpPr/>
          <p:nvPr/>
        </p:nvSpPr>
        <p:spPr>
          <a:xfrm>
            <a:off x="5989320" y="4745736"/>
            <a:ext cx="2468880" cy="960120"/>
          </a:xfrm>
          <a:prstGeom prst="roundRect">
            <a:avLst>
              <a:gd name="adj" fmla="val 12000"/>
            </a:avLst>
          </a:prstGeom>
          <a:solidFill>
            <a:srgbClr val="1F6F6B"/>
          </a:solidFill>
          <a:ln>
            <a:noFill/>
          </a:ln>
        </p:spPr>
        <p:txBody>
          <a:bodyPr rtlCol="0" anchor="ctr" wrap="square" lIns="73152" rIns="73152" tIns="36576" bIns="36576"/>
          <a:lstStyle/>
          <a:p>
            <a:pPr algn="ctr"/>
            <a:r>
              <a:rPr sz="1700" b="1" i="0">
                <a:solidFill>
                  <a:srgbClr val="F5F2EC"/>
                </a:solidFill>
                <a:latin typeface="IBM Plex Sans"/>
              </a:rPr>
              <a:t>Intent canvas</a:t>
            </a:r>
          </a:p>
          <a:p>
            <a:pPr algn="ctr"/>
            <a:r>
              <a:rPr sz="1700" b="0" i="0">
                <a:solidFill>
                  <a:srgbClr val="F5F2EC"/>
                </a:solidFill>
                <a:latin typeface="IBM Plex Sans"/>
              </a:rPr>
              <a:t>session state</a:t>
            </a:r>
          </a:p>
        </p:txBody>
      </p:sp>
      <p:cxnSp>
        <p:nvCxnSpPr>
          <p:cNvPr id="12" name="Connector 11"/>
          <p:cNvCxnSpPr>
            <a:stCxn id="4" idx="3"/>
            <a:endCxn id="9" idx="1"/>
          </p:cNvCxnSpPr>
          <p:nvPr/>
        </p:nvCxnSpPr>
        <p:spPr>
          <a:xfrm>
            <a:off x="3657600" y="1920240"/>
            <a:ext cx="2331720" cy="251460"/>
          </a:xfrm>
          <a:prstGeom prst="line">
            <a:avLst/>
          </a:prstGeom>
          <a:ln w="19050">
            <a:solidFill>
              <a:srgbClr val="5B636B"/>
            </a:solidFill>
            <a:tailEnd type="triangle" w="med" len="med"/>
          </a:ln>
        </p:spPr>
      </p:cxnSp>
      <p:cxnSp>
        <p:nvCxnSpPr>
          <p:cNvPr id="13" name="Connector 12"/>
          <p:cNvCxnSpPr>
            <a:stCxn id="5" idx="3"/>
            <a:endCxn id="9" idx="1"/>
          </p:cNvCxnSpPr>
          <p:nvPr/>
        </p:nvCxnSpPr>
        <p:spPr>
          <a:xfrm flipV="1">
            <a:off x="3657600" y="2171700"/>
            <a:ext cx="2331720" cy="635508"/>
          </a:xfrm>
          <a:prstGeom prst="line">
            <a:avLst/>
          </a:prstGeom>
          <a:ln w="19050">
            <a:solidFill>
              <a:srgbClr val="5B636B"/>
            </a:solidFill>
            <a:tailEnd type="triangle" w="med" len="med"/>
          </a:ln>
        </p:spPr>
      </p:cxnSp>
      <p:cxnSp>
        <p:nvCxnSpPr>
          <p:cNvPr id="14" name="Connector 13"/>
          <p:cNvCxnSpPr>
            <a:stCxn id="6" idx="3"/>
            <a:endCxn id="9" idx="1"/>
          </p:cNvCxnSpPr>
          <p:nvPr/>
        </p:nvCxnSpPr>
        <p:spPr>
          <a:xfrm flipV="1">
            <a:off x="3657600" y="2171700"/>
            <a:ext cx="2331720" cy="1522476"/>
          </a:xfrm>
          <a:prstGeom prst="line">
            <a:avLst/>
          </a:prstGeom>
          <a:ln w="19050">
            <a:solidFill>
              <a:srgbClr val="5B636B"/>
            </a:solidFill>
            <a:tailEnd type="triangle" w="med" len="med"/>
          </a:ln>
        </p:spPr>
      </p:cxnSp>
      <p:cxnSp>
        <p:nvCxnSpPr>
          <p:cNvPr id="15" name="Connector 14"/>
          <p:cNvCxnSpPr>
            <a:stCxn id="6" idx="3"/>
            <a:endCxn id="10" idx="1"/>
          </p:cNvCxnSpPr>
          <p:nvPr/>
        </p:nvCxnSpPr>
        <p:spPr>
          <a:xfrm>
            <a:off x="3657600" y="3694176"/>
            <a:ext cx="2331720" cy="4572"/>
          </a:xfrm>
          <a:prstGeom prst="line">
            <a:avLst/>
          </a:prstGeom>
          <a:ln w="19050">
            <a:solidFill>
              <a:srgbClr val="5B636B"/>
            </a:solidFill>
            <a:tailEnd type="triangle" w="med" len="med"/>
          </a:ln>
        </p:spPr>
      </p:cxnSp>
      <p:cxnSp>
        <p:nvCxnSpPr>
          <p:cNvPr id="16" name="Connector 15"/>
          <p:cNvCxnSpPr>
            <a:stCxn id="7" idx="3"/>
            <a:endCxn id="10" idx="1"/>
          </p:cNvCxnSpPr>
          <p:nvPr/>
        </p:nvCxnSpPr>
        <p:spPr>
          <a:xfrm flipV="1">
            <a:off x="3657600" y="3698748"/>
            <a:ext cx="2331720" cy="882396"/>
          </a:xfrm>
          <a:prstGeom prst="line">
            <a:avLst/>
          </a:prstGeom>
          <a:ln w="19050">
            <a:solidFill>
              <a:srgbClr val="5B636B"/>
            </a:solidFill>
            <a:tailEnd type="triangle" w="med" len="med"/>
          </a:ln>
        </p:spPr>
      </p:cxnSp>
      <p:cxnSp>
        <p:nvCxnSpPr>
          <p:cNvPr id="17" name="Connector 16"/>
          <p:cNvCxnSpPr>
            <a:stCxn id="7" idx="3"/>
            <a:endCxn id="11" idx="1"/>
          </p:cNvCxnSpPr>
          <p:nvPr/>
        </p:nvCxnSpPr>
        <p:spPr>
          <a:xfrm>
            <a:off x="3657600" y="4581144"/>
            <a:ext cx="2331720" cy="644652"/>
          </a:xfrm>
          <a:prstGeom prst="line">
            <a:avLst/>
          </a:prstGeom>
          <a:ln w="19050">
            <a:solidFill>
              <a:srgbClr val="5B636B"/>
            </a:solidFill>
            <a:tailEnd type="triangle" w="med" len="med"/>
          </a:ln>
        </p:spPr>
      </p:cxnSp>
      <p:cxnSp>
        <p:nvCxnSpPr>
          <p:cNvPr id="18" name="Connector 17"/>
          <p:cNvCxnSpPr>
            <a:stCxn id="8" idx="3"/>
            <a:endCxn id="11" idx="1"/>
          </p:cNvCxnSpPr>
          <p:nvPr/>
        </p:nvCxnSpPr>
        <p:spPr>
          <a:xfrm flipV="1">
            <a:off x="3657600" y="5225796"/>
            <a:ext cx="2331720" cy="242316"/>
          </a:xfrm>
          <a:prstGeom prst="line">
            <a:avLst/>
          </a:prstGeom>
          <a:ln w="19050">
            <a:solidFill>
              <a:srgbClr val="5B636B"/>
            </a:solidFill>
            <a:tailEnd type="triangle" w="med" len="med"/>
          </a:ln>
        </p:spPr>
      </p:cxnSp>
      <p:sp>
        <p:nvSpPr>
          <p:cNvPr id="19" name="Statements"/>
          <p:cNvSpPr txBox="1"/>
          <p:nvPr/>
        </p:nvSpPr>
        <p:spPr>
          <a:xfrm>
            <a:off x="8915400" y="1691640"/>
            <a:ext cx="2743200" cy="4114800"/>
          </a:xfrm>
          <a:prstGeom prst="rect">
            <a:avLst/>
          </a:prstGeom>
          <a:noFill/>
        </p:spPr>
        <p:txBody>
          <a:bodyPr wrap="square" lIns="0" rIns="0" tIns="0" bIns="0" anchor="t">
            <a:spAutoFit/>
          </a:bodyPr>
          <a:lstStyle/>
          <a:p>
            <a:pPr algn="l">
              <a:lnSpc>
                <a:spcPct val="108000"/>
              </a:lnSpc>
              <a:spcAft>
                <a:spcPts val="1200"/>
              </a:spcAft>
            </a:pPr>
            <a:r>
              <a:rPr sz="1800" b="1" i="0">
                <a:solidFill>
                  <a:srgbClr val="1F6F6B"/>
                </a:solidFill>
                <a:latin typeface="IBM Plex Sans"/>
              </a:rPr>
              <a:t>RSA</a:t>
            </a:r>
            <a:r>
              <a:rPr sz="1800" b="0" i="0">
                <a:solidFill>
                  <a:srgbClr val="1E2328"/>
                </a:solidFill>
                <a:latin typeface="IBM Plex Sans"/>
              </a:rPr>
              <a:t> draws on three fronts: filtered ANN, negation and SAEs.</a:t>
            </a:r>
          </a:p>
          <a:p>
            <a:pPr algn="l">
              <a:lnSpc>
                <a:spcPct val="108000"/>
              </a:lnSpc>
              <a:spcAft>
                <a:spcPts val="1200"/>
              </a:spcAft>
            </a:pPr>
            <a:r>
              <a:rPr sz="1800" b="1" i="0">
                <a:solidFill>
                  <a:srgbClr val="1F6F6B"/>
                </a:solidFill>
                <a:latin typeface="IBM Plex Sans"/>
              </a:rPr>
              <a:t>Maps</a:t>
            </a:r>
            <a:r>
              <a:rPr sz="1800" b="0" i="0">
                <a:solidFill>
                  <a:srgbClr val="1E2328"/>
                </a:solidFill>
                <a:latin typeface="IBM Plex Sans"/>
              </a:rPr>
              <a:t> borrow from SAEs and semantic IDs.</a:t>
            </a:r>
          </a:p>
          <a:p>
            <a:pPr algn="l">
              <a:lnSpc>
                <a:spcPct val="108000"/>
              </a:lnSpc>
              <a:spcAft>
                <a:spcPts val="1200"/>
              </a:spcAft>
            </a:pPr>
            <a:r>
              <a:rPr sz="1800" b="1" i="0">
                <a:solidFill>
                  <a:srgbClr val="1F6F6B"/>
                </a:solidFill>
                <a:latin typeface="IBM Plex Sans"/>
              </a:rPr>
              <a:t>Canvas</a:t>
            </a:r>
            <a:r>
              <a:rPr sz="1800" b="0" i="0">
                <a:solidFill>
                  <a:srgbClr val="1E2328"/>
                </a:solidFill>
                <a:latin typeface="IBM Plex Sans"/>
              </a:rPr>
              <a:t> borrows from semantic IDs and composed retrieval.</a:t>
            </a:r>
          </a:p>
        </p:txBody>
      </p:sp>
      <p:sp>
        <p:nvSpPr>
          <p:cNvPr id="20" name="Footer"/>
          <p:cNvSpPr txBox="1"/>
          <p:nvPr/>
        </p:nvSpPr>
        <p:spPr>
          <a:xfrm>
            <a:off x="548640" y="6309360"/>
            <a:ext cx="10362895" cy="411480"/>
          </a:xfrm>
          <a:prstGeom prst="rect">
            <a:avLst/>
          </a:prstGeom>
          <a:noFill/>
        </p:spPr>
        <p:txBody>
          <a:bodyPr wrap="square" lIns="0" rIns="0" tIns="0" bIns="0" anchor="t">
            <a:spAutoFit/>
          </a:bodyPr>
          <a:lstStyle/>
          <a:p>
            <a:pPr algn="l"/>
            <a:r>
              <a:rPr sz="1200" b="0" i="0">
                <a:solidFill>
                  <a:srgbClr val="5B636B"/>
                </a:solidFill>
                <a:latin typeface="IBM Plex Sans"/>
              </a:rPr>
              <a:t>Fronts and papers: see the reading list (slide 17).</a:t>
            </a:r>
          </a:p>
        </p:txBody>
      </p:sp>
      <p:sp>
        <p:nvSpPr>
          <p:cNvPr id="21" name="Page"/>
          <p:cNvSpPr txBox="1"/>
          <p:nvPr/>
        </p:nvSpPr>
        <p:spPr>
          <a:xfrm>
            <a:off x="11094415" y="6309360"/>
            <a:ext cx="548640" cy="274320"/>
          </a:xfrm>
          <a:prstGeom prst="rect">
            <a:avLst/>
          </a:prstGeom>
          <a:noFill/>
        </p:spPr>
        <p:txBody>
          <a:bodyPr wrap="square" lIns="0" rIns="0" tIns="0" bIns="0" anchor="t">
            <a:spAutoFit/>
          </a:bodyPr>
          <a:lstStyle/>
          <a:p>
            <a:pPr algn="r"/>
            <a:r>
              <a:rPr sz="1200" b="0" i="0">
                <a:solidFill>
                  <a:srgbClr val="5B636B"/>
                </a:solidFill>
                <a:latin typeface="IBM Plex San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Kicker"/>
          <p:cNvSpPr txBox="1"/>
          <p:nvPr/>
        </p:nvSpPr>
        <p:spPr>
          <a:xfrm>
            <a:off x="548640" y="384048"/>
            <a:ext cx="11094415" cy="274320"/>
          </a:xfrm>
          <a:prstGeom prst="rect">
            <a:avLst/>
          </a:prstGeom>
          <a:noFill/>
        </p:spPr>
        <p:txBody>
          <a:bodyPr wrap="square" lIns="0" rIns="0" tIns="0" bIns="0" anchor="t">
            <a:spAutoFit/>
          </a:bodyPr>
          <a:lstStyle/>
          <a:p>
            <a:pPr algn="l"/>
            <a:r>
              <a:rPr sz="1300" b="1" i="0" spc="150">
                <a:solidFill>
                  <a:srgbClr val="1F6F6B"/>
                </a:solidFill>
                <a:latin typeface="IBM Plex Sans"/>
              </a:rPr>
              <a:t>OUR SYSTEM</a:t>
            </a:r>
          </a:p>
        </p:txBody>
      </p:sp>
      <p:sp>
        <p:nvSpPr>
          <p:cNvPr id="3" name="Title"/>
          <p:cNvSpPr txBox="1"/>
          <p:nvPr/>
        </p:nvSpPr>
        <p:spPr>
          <a:xfrm>
            <a:off x="548640" y="676656"/>
            <a:ext cx="11094415" cy="731520"/>
          </a:xfrm>
          <a:prstGeom prst="rect">
            <a:avLst/>
          </a:prstGeom>
          <a:noFill/>
        </p:spPr>
        <p:txBody>
          <a:bodyPr wrap="square" lIns="0" rIns="0" tIns="0" bIns="0" anchor="t">
            <a:spAutoFit/>
          </a:bodyPr>
          <a:lstStyle/>
          <a:p>
            <a:pPr algn="l"/>
            <a:r>
              <a:rPr sz="2800" b="0" i="0">
                <a:solidFill>
                  <a:srgbClr val="1E2328"/>
                </a:solidFill>
                <a:latin typeface="Libre Baskerville"/>
              </a:rPr>
              <a:t>Where each idea plugs into our search stack</a:t>
            </a:r>
          </a:p>
        </p:txBody>
      </p:sp>
      <p:sp>
        <p:nvSpPr>
          <p:cNvPr id="4" name="Canvas compiled filter (container)"/>
          <p:cNvSpPr/>
          <p:nvPr/>
        </p:nvSpPr>
        <p:spPr>
          <a:xfrm>
            <a:off x="2057400" y="1536192"/>
            <a:ext cx="3520440" cy="3355848"/>
          </a:xfrm>
          <a:prstGeom prst="rect">
            <a:avLst/>
          </a:prstGeom>
          <a:solidFill>
            <a:srgbClr val="1F6F6B">
              <a:alpha val="10000"/>
            </a:srgbClr>
          </a:solidFill>
          <a:ln w="19050">
            <a:solidFill>
              <a:srgbClr val="1F6F6B"/>
            </a:solidFill>
          </a:ln>
        </p:spPr>
        <p:txBody>
          <a:bodyPr rtlCol="0" anchor="ctr" wrap="square" lIns="73152" rIns="73152" tIns="36576" bIns="36576"/>
          <a:lstStyle/>
          <a:p>
            <a:pPr algn="ctr"/>
          </a:p>
        </p:txBody>
      </p:sp>
      <p:sp>
        <p:nvSpPr>
          <p:cNvPr id="5" name="TextBox 4"/>
          <p:cNvSpPr txBox="1"/>
          <p:nvPr/>
        </p:nvSpPr>
        <p:spPr>
          <a:xfrm>
            <a:off x="2240280" y="1645919"/>
            <a:ext cx="3154680" cy="566928"/>
          </a:xfrm>
          <a:prstGeom prst="rect">
            <a:avLst/>
          </a:prstGeom>
          <a:noFill/>
        </p:spPr>
        <p:txBody>
          <a:bodyPr wrap="square" lIns="0" rIns="0" tIns="0" bIns="0" anchor="t">
            <a:spAutoFit/>
          </a:bodyPr>
          <a:lstStyle/>
          <a:p>
            <a:pPr algn="l"/>
            <a:r>
              <a:rPr sz="1300" b="1" i="0">
                <a:solidFill>
                  <a:srgbClr val="1F6F6B"/>
                </a:solidFill>
                <a:latin typeface="IBM Plex Sans"/>
              </a:rPr>
              <a:t>Canvas compiled filter</a:t>
            </a:r>
            <a:r>
              <a:rPr sz="1300" b="0" i="0">
                <a:solidFill>
                  <a:srgbClr val="1F6F6B"/>
                </a:solidFill>
                <a:latin typeface="IBM Plex Sans"/>
              </a:rPr>
              <a:t> · every path</a:t>
            </a:r>
          </a:p>
          <a:p>
            <a:pPr algn="l"/>
            <a:r>
              <a:rPr sz="1300" b="0" i="0">
                <a:solidFill>
                  <a:srgbClr val="1F6F6B"/>
                </a:solidFill>
                <a:latin typeface="IBM Plex Sans"/>
              </a:rPr>
              <a:t>RSA and map regions compile into it</a:t>
            </a:r>
          </a:p>
        </p:txBody>
      </p:sp>
      <p:sp>
        <p:nvSpPr>
          <p:cNvPr id="6" name="Rounded Rectangle 5"/>
          <p:cNvSpPr/>
          <p:nvPr/>
        </p:nvSpPr>
        <p:spPr>
          <a:xfrm>
            <a:off x="2286000" y="2487168"/>
            <a:ext cx="3063240" cy="1005840"/>
          </a:xfrm>
          <a:prstGeom prst="roundRect">
            <a:avLst>
              <a:gd name="adj" fmla="val 12000"/>
            </a:avLst>
          </a:prstGeom>
          <a:solidFill>
            <a:srgbClr val="FFFDF8"/>
          </a:solidFill>
          <a:ln w="12700">
            <a:solidFill>
              <a:srgbClr val="DDD6C8"/>
            </a:solidFill>
          </a:ln>
        </p:spPr>
        <p:txBody>
          <a:bodyPr rtlCol="0" anchor="ctr" wrap="square" lIns="73152" rIns="73152" tIns="36576" bIns="36576"/>
          <a:lstStyle/>
          <a:p>
            <a:pPr algn="ctr"/>
            <a:r>
              <a:rPr sz="1400" b="1" i="0">
                <a:solidFill>
                  <a:srgbClr val="1E2328"/>
                </a:solidFill>
                <a:latin typeface="IBM Plex Sans"/>
              </a:rPr>
              <a:t>OpenSearch lexical</a:t>
            </a:r>
          </a:p>
          <a:p>
            <a:pPr algn="ctr"/>
            <a:r>
              <a:rPr sz="1400" b="0" i="0">
                <a:solidFill>
                  <a:srgbClr val="1E2328"/>
                </a:solidFill>
                <a:latin typeface="IBM Plex Sans"/>
              </a:rPr>
              <a:t>in-index EBM L1</a:t>
            </a:r>
          </a:p>
          <a:p>
            <a:pPr algn="ctr"/>
            <a:r>
              <a:rPr sz="1400" b="0" i="0">
                <a:solidFill>
                  <a:srgbClr val="1E2328"/>
                </a:solidFill>
                <a:latin typeface="IBM Plex Sans"/>
              </a:rPr>
              <a:t>feature logging</a:t>
            </a:r>
          </a:p>
        </p:txBody>
      </p:sp>
      <p:sp>
        <p:nvSpPr>
          <p:cNvPr id="7" name="Rounded Rectangle 6"/>
          <p:cNvSpPr/>
          <p:nvPr/>
        </p:nvSpPr>
        <p:spPr>
          <a:xfrm>
            <a:off x="2286000" y="3675887"/>
            <a:ext cx="3063240" cy="1005840"/>
          </a:xfrm>
          <a:prstGeom prst="roundRect">
            <a:avLst>
              <a:gd name="adj" fmla="val 12000"/>
            </a:avLst>
          </a:prstGeom>
          <a:solidFill>
            <a:srgbClr val="FFFDF8"/>
          </a:solidFill>
          <a:ln w="12700">
            <a:solidFill>
              <a:srgbClr val="DDD6C8"/>
            </a:solidFill>
          </a:ln>
        </p:spPr>
        <p:txBody>
          <a:bodyPr rtlCol="0" anchor="ctr" wrap="square" lIns="73152" rIns="73152" tIns="36576" bIns="36576"/>
          <a:lstStyle/>
          <a:p>
            <a:pPr algn="ctr"/>
            <a:r>
              <a:rPr sz="1400" b="1" i="0">
                <a:solidFill>
                  <a:srgbClr val="1E2328"/>
                </a:solidFill>
                <a:latin typeface="IBM Plex Sans"/>
              </a:rPr>
              <a:t>GPU dense retrieval</a:t>
            </a:r>
          </a:p>
          <a:p>
            <a:pPr algn="ctr"/>
            <a:r>
              <a:rPr sz="1400" b="0" i="0">
                <a:solidFill>
                  <a:srgbClr val="1E2328"/>
                </a:solidFill>
                <a:latin typeface="IBM Plex Sans"/>
              </a:rPr>
              <a:t>eligibility bitmask</a:t>
            </a:r>
          </a:p>
        </p:txBody>
      </p:sp>
      <p:sp>
        <p:nvSpPr>
          <p:cNvPr id="8" name="Rounded Rectangle 7"/>
          <p:cNvSpPr/>
          <p:nvPr/>
        </p:nvSpPr>
        <p:spPr>
          <a:xfrm>
            <a:off x="548640" y="2944368"/>
            <a:ext cx="1234440" cy="1280160"/>
          </a:xfrm>
          <a:prstGeom prst="roundRect">
            <a:avLst>
              <a:gd name="adj" fmla="val 12000"/>
            </a:avLst>
          </a:prstGeom>
          <a:solidFill>
            <a:srgbClr val="EAE5DB"/>
          </a:solidFill>
          <a:ln>
            <a:noFill/>
          </a:ln>
        </p:spPr>
        <p:txBody>
          <a:bodyPr rtlCol="0" anchor="ctr" wrap="square" lIns="36576" rIns="36576" tIns="36576" bIns="36576"/>
          <a:lstStyle/>
          <a:p>
            <a:pPr algn="ctr"/>
            <a:r>
              <a:rPr sz="1200" b="1" i="0">
                <a:solidFill>
                  <a:srgbClr val="1E2328"/>
                </a:solidFill>
                <a:latin typeface="IBM Plex Sans"/>
              </a:rPr>
              <a:t>QU</a:t>
            </a:r>
          </a:p>
          <a:p>
            <a:pPr algn="ctr"/>
            <a:r>
              <a:rPr sz="1200" b="0" i="0">
                <a:solidFill>
                  <a:srgbClr val="1E2328"/>
                </a:solidFill>
                <a:latin typeface="IBM Plex Sans"/>
              </a:rPr>
              <a:t>query</a:t>
            </a:r>
          </a:p>
          <a:p>
            <a:pPr algn="ctr"/>
            <a:r>
              <a:rPr sz="1200" b="0" i="0">
                <a:solidFill>
                  <a:srgbClr val="1E2328"/>
                </a:solidFill>
                <a:latin typeface="IBM Plex Sans"/>
              </a:rPr>
              <a:t>understanding</a:t>
            </a:r>
          </a:p>
        </p:txBody>
      </p:sp>
      <p:sp>
        <p:nvSpPr>
          <p:cNvPr id="9" name="Rounded Rectangle 8"/>
          <p:cNvSpPr/>
          <p:nvPr/>
        </p:nvSpPr>
        <p:spPr>
          <a:xfrm>
            <a:off x="5852160" y="2944368"/>
            <a:ext cx="1417320" cy="1280160"/>
          </a:xfrm>
          <a:prstGeom prst="roundRect">
            <a:avLst>
              <a:gd name="adj" fmla="val 12000"/>
            </a:avLst>
          </a:prstGeom>
          <a:solidFill>
            <a:srgbClr val="EAE5DB"/>
          </a:solidFill>
          <a:ln>
            <a:noFill/>
          </a:ln>
        </p:spPr>
        <p:txBody>
          <a:bodyPr rtlCol="0" anchor="ctr" wrap="square" lIns="73152" rIns="73152" tIns="36576" bIns="36576"/>
          <a:lstStyle/>
          <a:p>
            <a:pPr algn="ctr"/>
            <a:r>
              <a:rPr sz="1400" b="1" i="0">
                <a:solidFill>
                  <a:srgbClr val="1E2328"/>
                </a:solidFill>
                <a:latin typeface="IBM Plex Sans"/>
              </a:rPr>
              <a:t>Union</a:t>
            </a:r>
          </a:p>
          <a:p>
            <a:pPr algn="ctr"/>
            <a:r>
              <a:rPr sz="1400" b="0" i="0">
                <a:solidFill>
                  <a:srgbClr val="1E2328"/>
                </a:solidFill>
                <a:latin typeface="IBM Plex Sans"/>
              </a:rPr>
              <a:t>missing-</a:t>
            </a:r>
          </a:p>
          <a:p>
            <a:pPr algn="ctr"/>
            <a:r>
              <a:rPr sz="1400" b="0" i="0">
                <a:solidFill>
                  <a:srgbClr val="1E2328"/>
                </a:solidFill>
                <a:latin typeface="IBM Plex Sans"/>
              </a:rPr>
              <a:t>retriever flags</a:t>
            </a:r>
          </a:p>
        </p:txBody>
      </p:sp>
      <p:sp>
        <p:nvSpPr>
          <p:cNvPr id="10" name="Rounded Rectangle 9"/>
          <p:cNvSpPr/>
          <p:nvPr/>
        </p:nvSpPr>
        <p:spPr>
          <a:xfrm>
            <a:off x="7589520" y="2944368"/>
            <a:ext cx="1554480" cy="1280160"/>
          </a:xfrm>
          <a:prstGeom prst="roundRect">
            <a:avLst>
              <a:gd name="adj" fmla="val 12000"/>
            </a:avLst>
          </a:prstGeom>
          <a:solidFill>
            <a:srgbClr val="EAE5DB"/>
          </a:solidFill>
          <a:ln>
            <a:noFill/>
          </a:ln>
        </p:spPr>
        <p:txBody>
          <a:bodyPr rtlCol="0" anchor="ctr" wrap="square" lIns="73152" rIns="73152" tIns="36576" bIns="36576"/>
          <a:lstStyle/>
          <a:p>
            <a:pPr algn="ctr"/>
            <a:r>
              <a:rPr sz="1400" b="1" i="0">
                <a:solidFill>
                  <a:srgbClr val="1E2328"/>
                </a:solidFill>
                <a:latin typeface="IBM Plex Sans"/>
              </a:rPr>
              <a:t>GPU L2</a:t>
            </a:r>
          </a:p>
          <a:p>
            <a:pPr algn="ctr"/>
            <a:r>
              <a:rPr sz="1400" b="0" i="0">
                <a:solidFill>
                  <a:srgbClr val="1E2328"/>
                </a:solidFill>
                <a:latin typeface="IBM Plex Sans"/>
              </a:rPr>
              <a:t>multi-objective</a:t>
            </a:r>
          </a:p>
          <a:p>
            <a:pPr algn="ctr"/>
            <a:r>
              <a:rPr sz="1400" b="0" i="0">
                <a:solidFill>
                  <a:srgbClr val="1E2328"/>
                </a:solidFill>
                <a:latin typeface="IBM Plex Sans"/>
              </a:rPr>
              <a:t>ranker</a:t>
            </a:r>
          </a:p>
        </p:txBody>
      </p:sp>
      <p:sp>
        <p:nvSpPr>
          <p:cNvPr id="11" name="Rounded Rectangle 10"/>
          <p:cNvSpPr/>
          <p:nvPr/>
        </p:nvSpPr>
        <p:spPr>
          <a:xfrm>
            <a:off x="9509760" y="2944368"/>
            <a:ext cx="1188720" cy="1280160"/>
          </a:xfrm>
          <a:prstGeom prst="roundRect">
            <a:avLst>
              <a:gd name="adj" fmla="val 12000"/>
            </a:avLst>
          </a:prstGeom>
          <a:solidFill>
            <a:srgbClr val="EAE5DB"/>
          </a:solidFill>
          <a:ln>
            <a:noFill/>
          </a:ln>
        </p:spPr>
        <p:txBody>
          <a:bodyPr rtlCol="0" anchor="ctr" wrap="square" lIns="73152" rIns="73152" tIns="36576" bIns="36576"/>
          <a:lstStyle/>
          <a:p>
            <a:pPr algn="ctr"/>
            <a:r>
              <a:rPr sz="1400" b="1" i="0">
                <a:solidFill>
                  <a:srgbClr val="1E2328"/>
                </a:solidFill>
                <a:latin typeface="IBM Plex Sans"/>
              </a:rPr>
              <a:t>Post-</a:t>
            </a:r>
          </a:p>
          <a:p>
            <a:pPr algn="ctr"/>
            <a:r>
              <a:rPr sz="1400" b="1" i="0">
                <a:solidFill>
                  <a:srgbClr val="1E2328"/>
                </a:solidFill>
                <a:latin typeface="IBM Plex Sans"/>
              </a:rPr>
              <a:t>ranking</a:t>
            </a:r>
          </a:p>
        </p:txBody>
      </p:sp>
      <p:sp>
        <p:nvSpPr>
          <p:cNvPr id="12" name="Rounded Rectangle 11"/>
          <p:cNvSpPr/>
          <p:nvPr/>
        </p:nvSpPr>
        <p:spPr>
          <a:xfrm>
            <a:off x="10972800" y="2944368"/>
            <a:ext cx="667512" cy="1280160"/>
          </a:xfrm>
          <a:prstGeom prst="roundRect">
            <a:avLst>
              <a:gd name="adj" fmla="val 12000"/>
            </a:avLst>
          </a:prstGeom>
          <a:solidFill>
            <a:srgbClr val="1E2328"/>
          </a:solidFill>
          <a:ln>
            <a:noFill/>
          </a:ln>
        </p:spPr>
        <p:txBody>
          <a:bodyPr rtlCol="0" anchor="ctr" wrap="square" lIns="73152" rIns="73152" tIns="36576" bIns="36576"/>
          <a:lstStyle/>
          <a:p>
            <a:pPr algn="ctr"/>
            <a:r>
              <a:rPr sz="1400" b="1" i="0">
                <a:solidFill>
                  <a:srgbClr val="F5F2EC"/>
                </a:solidFill>
                <a:latin typeface="IBM Plex Sans"/>
              </a:rPr>
              <a:t>Page</a:t>
            </a:r>
          </a:p>
        </p:txBody>
      </p:sp>
      <p:cxnSp>
        <p:nvCxnSpPr>
          <p:cNvPr id="13" name="Connector 12"/>
          <p:cNvCxnSpPr>
            <a:stCxn id="8" idx="3"/>
            <a:endCxn id="6" idx="1"/>
          </p:cNvCxnSpPr>
          <p:nvPr/>
        </p:nvCxnSpPr>
        <p:spPr>
          <a:xfrm flipV="1">
            <a:off x="1783080" y="2990088"/>
            <a:ext cx="502920" cy="594360"/>
          </a:xfrm>
          <a:prstGeom prst="line">
            <a:avLst/>
          </a:prstGeom>
          <a:ln w="19050">
            <a:solidFill>
              <a:srgbClr val="5B636B"/>
            </a:solidFill>
            <a:tailEnd type="triangle" w="med" len="med"/>
          </a:ln>
        </p:spPr>
      </p:cxnSp>
      <p:cxnSp>
        <p:nvCxnSpPr>
          <p:cNvPr id="14" name="Connector 13"/>
          <p:cNvCxnSpPr>
            <a:stCxn id="8" idx="3"/>
            <a:endCxn id="7" idx="1"/>
          </p:cNvCxnSpPr>
          <p:nvPr/>
        </p:nvCxnSpPr>
        <p:spPr>
          <a:xfrm>
            <a:off x="1783080" y="3584448"/>
            <a:ext cx="502920" cy="594359"/>
          </a:xfrm>
          <a:prstGeom prst="line">
            <a:avLst/>
          </a:prstGeom>
          <a:ln w="19050">
            <a:solidFill>
              <a:srgbClr val="5B636B"/>
            </a:solidFill>
            <a:tailEnd type="triangle" w="med" len="med"/>
          </a:ln>
        </p:spPr>
      </p:cxnSp>
      <p:cxnSp>
        <p:nvCxnSpPr>
          <p:cNvPr id="15" name="Connector 14"/>
          <p:cNvCxnSpPr>
            <a:stCxn id="6" idx="3"/>
            <a:endCxn id="9" idx="1"/>
          </p:cNvCxnSpPr>
          <p:nvPr/>
        </p:nvCxnSpPr>
        <p:spPr>
          <a:xfrm>
            <a:off x="5349240" y="2990088"/>
            <a:ext cx="502920" cy="594360"/>
          </a:xfrm>
          <a:prstGeom prst="line">
            <a:avLst/>
          </a:prstGeom>
          <a:ln w="19050">
            <a:solidFill>
              <a:srgbClr val="5B636B"/>
            </a:solidFill>
            <a:tailEnd type="triangle" w="med" len="med"/>
          </a:ln>
        </p:spPr>
      </p:cxnSp>
      <p:cxnSp>
        <p:nvCxnSpPr>
          <p:cNvPr id="16" name="Connector 15"/>
          <p:cNvCxnSpPr>
            <a:stCxn id="7" idx="3"/>
            <a:endCxn id="9" idx="1"/>
          </p:cNvCxnSpPr>
          <p:nvPr/>
        </p:nvCxnSpPr>
        <p:spPr>
          <a:xfrm flipV="1">
            <a:off x="5349240" y="3584448"/>
            <a:ext cx="502920" cy="594359"/>
          </a:xfrm>
          <a:prstGeom prst="line">
            <a:avLst/>
          </a:prstGeom>
          <a:ln w="19050">
            <a:solidFill>
              <a:srgbClr val="5B636B"/>
            </a:solidFill>
            <a:tailEnd type="triangle" w="med" len="med"/>
          </a:ln>
        </p:spPr>
      </p:cxnSp>
      <p:cxnSp>
        <p:nvCxnSpPr>
          <p:cNvPr id="17" name="Connector 16"/>
          <p:cNvCxnSpPr>
            <a:stCxn id="9" idx="3"/>
            <a:endCxn id="10" idx="1"/>
          </p:cNvCxnSpPr>
          <p:nvPr/>
        </p:nvCxnSpPr>
        <p:spPr>
          <a:xfrm flipV="1">
            <a:off x="7269480" y="3584448"/>
            <a:ext cx="320040" cy="0"/>
          </a:xfrm>
          <a:prstGeom prst="line">
            <a:avLst/>
          </a:prstGeom>
          <a:ln w="19050">
            <a:solidFill>
              <a:srgbClr val="5B636B"/>
            </a:solidFill>
            <a:tailEnd type="triangle" w="med" len="med"/>
          </a:ln>
        </p:spPr>
      </p:cxnSp>
      <p:cxnSp>
        <p:nvCxnSpPr>
          <p:cNvPr id="18" name="Connector 17"/>
          <p:cNvCxnSpPr>
            <a:stCxn id="10" idx="3"/>
            <a:endCxn id="11" idx="1"/>
          </p:cNvCxnSpPr>
          <p:nvPr/>
        </p:nvCxnSpPr>
        <p:spPr>
          <a:xfrm flipV="1">
            <a:off x="9144000" y="3584448"/>
            <a:ext cx="365760" cy="0"/>
          </a:xfrm>
          <a:prstGeom prst="line">
            <a:avLst/>
          </a:prstGeom>
          <a:ln w="19050">
            <a:solidFill>
              <a:srgbClr val="5B636B"/>
            </a:solidFill>
            <a:tailEnd type="triangle" w="med" len="med"/>
          </a:ln>
        </p:spPr>
      </p:cxnSp>
      <p:cxnSp>
        <p:nvCxnSpPr>
          <p:cNvPr id="19" name="Connector 18"/>
          <p:cNvCxnSpPr>
            <a:stCxn id="11" idx="3"/>
            <a:endCxn id="12" idx="1"/>
          </p:cNvCxnSpPr>
          <p:nvPr/>
        </p:nvCxnSpPr>
        <p:spPr>
          <a:xfrm flipV="1">
            <a:off x="10698480" y="3584448"/>
            <a:ext cx="274320" cy="0"/>
          </a:xfrm>
          <a:prstGeom prst="line">
            <a:avLst/>
          </a:prstGeom>
          <a:ln w="19050">
            <a:solidFill>
              <a:srgbClr val="5B636B"/>
            </a:solidFill>
            <a:tailEnd type="triangle" w="med" len="med"/>
          </a:ln>
        </p:spPr>
      </p:cxnSp>
      <p:sp>
        <p:nvSpPr>
          <p:cNvPr id="20" name="Statements"/>
          <p:cNvSpPr txBox="1"/>
          <p:nvPr/>
        </p:nvSpPr>
        <p:spPr>
          <a:xfrm>
            <a:off x="548640" y="5120640"/>
            <a:ext cx="11094415" cy="1097280"/>
          </a:xfrm>
          <a:prstGeom prst="rect">
            <a:avLst/>
          </a:prstGeom>
          <a:noFill/>
        </p:spPr>
        <p:txBody>
          <a:bodyPr wrap="square" lIns="0" rIns="0" tIns="0" bIns="0" anchor="t">
            <a:spAutoFit/>
          </a:bodyPr>
          <a:lstStyle/>
          <a:p>
            <a:pPr algn="l">
              <a:lnSpc>
                <a:spcPct val="108000"/>
              </a:lnSpc>
              <a:spcAft>
                <a:spcPts val="600"/>
              </a:spcAft>
            </a:pPr>
            <a:r>
              <a:rPr sz="1800" b="0" i="0">
                <a:solidFill>
                  <a:srgbClr val="1E2328"/>
                </a:solidFill>
                <a:latin typeface="IBM Plex Sans"/>
              </a:rPr>
              <a:t>The canvas compiles once per turn and constrains </a:t>
            </a:r>
            <a:r>
              <a:rPr sz="1800" b="1" i="0">
                <a:solidFill>
                  <a:srgbClr val="1F6F6B"/>
                </a:solidFill>
                <a:latin typeface="IBM Plex Sans"/>
              </a:rPr>
              <a:t>every</a:t>
            </a:r>
            <a:r>
              <a:rPr sz="1800" b="0" i="0">
                <a:solidFill>
                  <a:srgbClr val="1E2328"/>
                </a:solidFill>
                <a:latin typeface="IBM Plex Sans"/>
              </a:rPr>
              <a:t> retriever, lexical and dense alike.</a:t>
            </a:r>
          </a:p>
          <a:p>
            <a:pPr algn="l">
              <a:lnSpc>
                <a:spcPct val="108000"/>
              </a:lnSpc>
              <a:spcAft>
                <a:spcPts val="600"/>
              </a:spcAft>
            </a:pPr>
            <a:r>
              <a:rPr sz="1800" b="0" i="0">
                <a:solidFill>
                  <a:srgbClr val="1E2328"/>
                </a:solidFill>
                <a:latin typeface="IBM Plex Sans"/>
              </a:rPr>
              <a:t>Missing-retriever flags let L2 score items that only one path found.</a:t>
            </a:r>
          </a:p>
        </p:txBody>
      </p:sp>
      <p:sp>
        <p:nvSpPr>
          <p:cNvPr id="21" name="Footer"/>
          <p:cNvSpPr txBox="1"/>
          <p:nvPr/>
        </p:nvSpPr>
        <p:spPr>
          <a:xfrm>
            <a:off x="548640" y="6309360"/>
            <a:ext cx="10362895" cy="411480"/>
          </a:xfrm>
          <a:prstGeom prst="rect">
            <a:avLst/>
          </a:prstGeom>
          <a:noFill/>
        </p:spPr>
        <p:txBody>
          <a:bodyPr wrap="square" lIns="0" rIns="0" tIns="0" bIns="0" anchor="t">
            <a:spAutoFit/>
          </a:bodyPr>
          <a:lstStyle/>
          <a:p>
            <a:pPr algn="l"/>
            <a:r>
              <a:rPr sz="1200" b="0" i="0">
                <a:solidFill>
                  <a:srgbClr val="5B636B"/>
                </a:solidFill>
                <a:latin typeface="IBM Plex Sans"/>
              </a:rPr>
              <a:t>Internal architecture. No external source.</a:t>
            </a:r>
          </a:p>
        </p:txBody>
      </p:sp>
      <p:sp>
        <p:nvSpPr>
          <p:cNvPr id="22" name="Page"/>
          <p:cNvSpPr txBox="1"/>
          <p:nvPr/>
        </p:nvSpPr>
        <p:spPr>
          <a:xfrm>
            <a:off x="11094415" y="6309360"/>
            <a:ext cx="548640" cy="274320"/>
          </a:xfrm>
          <a:prstGeom prst="rect">
            <a:avLst/>
          </a:prstGeom>
          <a:noFill/>
        </p:spPr>
        <p:txBody>
          <a:bodyPr wrap="square" lIns="0" rIns="0" tIns="0" bIns="0" anchor="t">
            <a:spAutoFit/>
          </a:bodyPr>
          <a:lstStyle/>
          <a:p>
            <a:pPr algn="r"/>
            <a:r>
              <a:rPr sz="1200" b="0" i="0">
                <a:solidFill>
                  <a:srgbClr val="5B636B"/>
                </a:solidFill>
                <a:latin typeface="IBM Plex San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Kicker"/>
          <p:cNvSpPr txBox="1"/>
          <p:nvPr/>
        </p:nvSpPr>
        <p:spPr>
          <a:xfrm>
            <a:off x="548640" y="384048"/>
            <a:ext cx="11094415" cy="274320"/>
          </a:xfrm>
          <a:prstGeom prst="rect">
            <a:avLst/>
          </a:prstGeom>
          <a:noFill/>
        </p:spPr>
        <p:txBody>
          <a:bodyPr wrap="square" lIns="0" rIns="0" tIns="0" bIns="0" anchor="t">
            <a:spAutoFit/>
          </a:bodyPr>
          <a:lstStyle/>
          <a:p>
            <a:pPr algn="l"/>
            <a:r>
              <a:rPr sz="1300" b="1" i="0" spc="150">
                <a:solidFill>
                  <a:srgbClr val="1F6F6B"/>
                </a:solidFill>
                <a:latin typeface="IBM Plex Sans"/>
              </a:rPr>
              <a:t>FILTERED ANN</a:t>
            </a:r>
          </a:p>
        </p:txBody>
      </p:sp>
      <p:sp>
        <p:nvSpPr>
          <p:cNvPr id="3" name="Title"/>
          <p:cNvSpPr txBox="1"/>
          <p:nvPr/>
        </p:nvSpPr>
        <p:spPr>
          <a:xfrm>
            <a:off x="548640" y="676656"/>
            <a:ext cx="11094415" cy="731520"/>
          </a:xfrm>
          <a:prstGeom prst="rect">
            <a:avLst/>
          </a:prstGeom>
          <a:noFill/>
        </p:spPr>
        <p:txBody>
          <a:bodyPr wrap="square" lIns="0" rIns="0" tIns="0" bIns="0" anchor="t">
            <a:spAutoFit/>
          </a:bodyPr>
          <a:lstStyle/>
          <a:p>
            <a:pPr algn="l"/>
            <a:r>
              <a:rPr sz="2800" b="0" i="0">
                <a:solidFill>
                  <a:srgbClr val="1E2328"/>
                </a:solidFill>
                <a:latin typeface="Libre Baskerville"/>
              </a:rPr>
              <a:t>Filtered search is fast now; the predicate is still assumed</a:t>
            </a:r>
          </a:p>
        </p:txBody>
      </p:sp>
      <p:sp>
        <p:nvSpPr>
          <p:cNvPr id="4" name="Figure panel acorn"/>
          <p:cNvSpPr/>
          <p:nvPr/>
        </p:nvSpPr>
        <p:spPr>
          <a:xfrm>
            <a:off x="548640" y="1481328"/>
            <a:ext cx="5394960" cy="3931920"/>
          </a:xfrm>
          <a:prstGeom prst="rect">
            <a:avLst/>
          </a:prstGeom>
          <a:solidFill>
            <a:srgbClr val="FFFDF8"/>
          </a:solidFill>
          <a:ln w="9525">
            <a:solidFill>
              <a:srgbClr val="DDD6C8"/>
            </a:solidFill>
            <a:prstDash val="dash"/>
          </a:ln>
        </p:spPr>
        <p:txBody>
          <a:bodyPr rtlCol="0" anchor="ctr" wrap="square" lIns="73152" rIns="73152" tIns="36576" bIns="36576"/>
          <a:lstStyle/>
          <a:p>
            <a:pPr algn="ctr"/>
          </a:p>
        </p:txBody>
      </p:sp>
      <p:sp>
        <p:nvSpPr>
          <p:cNvPr id="5" name="Placeholder"/>
          <p:cNvSpPr txBox="1"/>
          <p:nvPr/>
        </p:nvSpPr>
        <p:spPr>
          <a:xfrm>
            <a:off x="777240" y="1664208"/>
            <a:ext cx="4937760" cy="3566160"/>
          </a:xfrm>
          <a:prstGeom prst="rect">
            <a:avLst/>
          </a:prstGeom>
          <a:noFill/>
        </p:spPr>
        <p:txBody>
          <a:bodyPr wrap="square" lIns="0" rIns="0" tIns="0" bIns="0" anchor="ctr">
            <a:spAutoFit/>
          </a:bodyPr>
          <a:lstStyle/>
          <a:p>
            <a:pPr algn="ctr"/>
            <a:r>
              <a:rPr sz="1600" b="0" i="1">
                <a:solidFill>
                  <a:srgbClr val="5B636B"/>
                </a:solidFill>
                <a:latin typeface="IBM Plex Sans"/>
              </a:rPr>
              <a:t>[Figure: ACORN, predicate-subgraph traversal / neighbor expansion, or recall vs. selectivity]</a:t>
            </a:r>
          </a:p>
        </p:txBody>
      </p:sp>
      <p:sp>
        <p:nvSpPr>
          <p:cNvPr id="6" name="Caption"/>
          <p:cNvSpPr txBox="1"/>
          <p:nvPr/>
        </p:nvSpPr>
        <p:spPr>
          <a:xfrm>
            <a:off x="548640" y="5468112"/>
            <a:ext cx="5394960" cy="457200"/>
          </a:xfrm>
          <a:prstGeom prst="rect">
            <a:avLst/>
          </a:prstGeom>
          <a:noFill/>
        </p:spPr>
        <p:txBody>
          <a:bodyPr wrap="square" lIns="0" rIns="0" tIns="0" bIns="0" anchor="t">
            <a:spAutoFit/>
          </a:bodyPr>
          <a:lstStyle/>
          <a:p>
            <a:pPr algn="l"/>
            <a:r>
              <a:rPr sz="1200" b="0" i="0">
                <a:solidFill>
                  <a:srgbClr val="5B636B"/>
                </a:solidFill>
                <a:latin typeface="IBM Plex Sans"/>
              </a:rPr>
              <a:t>Placeholder: PDF not reachable at build time. Patel et al. (2024), arXiv:2403.04871.</a:t>
            </a:r>
          </a:p>
        </p:txBody>
      </p:sp>
      <p:sp>
        <p:nvSpPr>
          <p:cNvPr id="7" name="TextBox 6"/>
          <p:cNvSpPr txBox="1"/>
          <p:nvPr/>
        </p:nvSpPr>
        <p:spPr>
          <a:xfrm>
            <a:off x="6355080" y="1481328"/>
            <a:ext cx="5303520" cy="274320"/>
          </a:xfrm>
          <a:prstGeom prst="rect">
            <a:avLst/>
          </a:prstGeom>
          <a:noFill/>
        </p:spPr>
        <p:txBody>
          <a:bodyPr wrap="square" lIns="0" rIns="0" tIns="0" bIns="0" anchor="t">
            <a:spAutoFit/>
          </a:bodyPr>
          <a:lstStyle/>
          <a:p>
            <a:pPr algn="l"/>
            <a:r>
              <a:rPr sz="1300" b="1" i="0" spc="50">
                <a:solidFill>
                  <a:srgbClr val="5B636B"/>
                </a:solidFill>
                <a:latin typeface="IBM Plex Sans"/>
              </a:rPr>
              <a:t>OUR LIVE TRAVERSAL RULE (RSA INSIDE HNSW)</a:t>
            </a:r>
          </a:p>
        </p:txBody>
      </p:sp>
      <p:pic>
        <p:nvPicPr>
          <p:cNvPr id="8" name="Picture 7" descr="eq07_traversal@3x.png"/>
          <p:cNvPicPr>
            <a:picLocks noChangeAspect="1"/>
          </p:cNvPicPr>
          <p:nvPr/>
        </p:nvPicPr>
        <p:blipFill>
          <a:blip r:embed="rId2"/>
          <a:stretch>
            <a:fillRect/>
          </a:stretch>
        </p:blipFill>
        <p:spPr>
          <a:xfrm>
            <a:off x="6355080" y="1828800"/>
            <a:ext cx="5257800" cy="298591"/>
          </a:xfrm>
          <a:prstGeom prst="rect">
            <a:avLst/>
          </a:prstGeom>
        </p:spPr>
      </p:pic>
      <p:sp>
        <p:nvSpPr>
          <p:cNvPr id="9" name="Statements"/>
          <p:cNvSpPr txBox="1"/>
          <p:nvPr/>
        </p:nvSpPr>
        <p:spPr>
          <a:xfrm>
            <a:off x="6355080" y="2514600"/>
            <a:ext cx="5257800" cy="3566160"/>
          </a:xfrm>
          <a:prstGeom prst="rect">
            <a:avLst/>
          </a:prstGeom>
          <a:noFill/>
        </p:spPr>
        <p:txBody>
          <a:bodyPr wrap="square" lIns="0" rIns="0" tIns="0" bIns="0" anchor="t">
            <a:spAutoFit/>
          </a:bodyPr>
          <a:lstStyle/>
          <a:p>
            <a:pPr algn="l">
              <a:lnSpc>
                <a:spcPct val="108000"/>
              </a:lnSpc>
              <a:spcAft>
                <a:spcPts val="1200"/>
              </a:spcAft>
            </a:pPr>
            <a:r>
              <a:rPr sz="1800" b="1" i="0">
                <a:solidFill>
                  <a:srgbClr val="1F6F6B"/>
                </a:solidFill>
                <a:latin typeface="IBM Plex Sans"/>
              </a:rPr>
              <a:t>ACORN</a:t>
            </a:r>
            <a:r>
              <a:rPr sz="1800" b="0" i="0">
                <a:solidFill>
                  <a:srgbClr val="1E2328"/>
                </a:solidFill>
                <a:latin typeface="IBM Plex Sans"/>
              </a:rPr>
              <a:t> makes HNSW predicate-agnostic by traversing the predicate subgraph.</a:t>
            </a:r>
          </a:p>
          <a:p>
            <a:pPr algn="l">
              <a:lnSpc>
                <a:spcPct val="108000"/>
              </a:lnSpc>
              <a:spcAft>
                <a:spcPts val="1200"/>
              </a:spcAft>
            </a:pPr>
            <a:r>
              <a:rPr sz="1800" b="1" i="0">
                <a:solidFill>
                  <a:srgbClr val="1F6F6B"/>
                </a:solidFill>
                <a:latin typeface="IBM Plex Sans"/>
              </a:rPr>
              <a:t>FAVOR:</a:t>
            </a:r>
            <a:r>
              <a:rPr sz="1800" b="0" i="0">
                <a:solidFill>
                  <a:srgbClr val="1E2328"/>
                </a:solidFill>
                <a:latin typeface="IBM Plex Sans"/>
              </a:rPr>
              <a:t> 1.3–5× higher QPS at Recall@10 = 95%.</a:t>
            </a:r>
          </a:p>
          <a:p>
            <a:pPr algn="l">
              <a:lnSpc>
                <a:spcPct val="108000"/>
              </a:lnSpc>
              <a:spcAft>
                <a:spcPts val="1200"/>
              </a:spcAft>
            </a:pPr>
            <a:r>
              <a:rPr sz="1800" b="1" i="0">
                <a:solidFill>
                  <a:srgbClr val="1F6F6B"/>
                </a:solidFill>
                <a:latin typeface="IBM Plex Sans"/>
              </a:rPr>
              <a:t>EMA:</a:t>
            </a:r>
            <a:r>
              <a:rPr sz="1800" b="0" i="0">
                <a:solidFill>
                  <a:srgbClr val="1E2328"/>
                </a:solidFill>
                <a:latin typeface="IBM Plex Sans"/>
              </a:rPr>
              <a:t> 1.68–12.25× speedup over general-filtering ANN methods.</a:t>
            </a:r>
          </a:p>
          <a:p>
            <a:pPr algn="l">
              <a:lnSpc>
                <a:spcPct val="108000"/>
              </a:lnSpc>
              <a:spcAft>
                <a:spcPts val="1200"/>
              </a:spcAft>
            </a:pPr>
            <a:r>
              <a:rPr sz="1800" b="0" i="0">
                <a:solidFill>
                  <a:srgbClr val="1E2328"/>
                </a:solidFill>
                <a:latin typeface="IBM Plex Sans"/>
              </a:rPr>
              <a:t>Our read: all three take the predicate as given. A compiled RSA program can be that predicate.</a:t>
            </a:r>
          </a:p>
        </p:txBody>
      </p:sp>
      <p:sp>
        <p:nvSpPr>
          <p:cNvPr id="10" name="Footer"/>
          <p:cNvSpPr txBox="1"/>
          <p:nvPr/>
        </p:nvSpPr>
        <p:spPr>
          <a:xfrm>
            <a:off x="548640" y="6309360"/>
            <a:ext cx="10362895" cy="411480"/>
          </a:xfrm>
          <a:prstGeom prst="rect">
            <a:avLst/>
          </a:prstGeom>
          <a:noFill/>
        </p:spPr>
        <p:txBody>
          <a:bodyPr wrap="square" lIns="0" rIns="0" tIns="0" bIns="0" anchor="t">
            <a:spAutoFit/>
          </a:bodyPr>
          <a:lstStyle/>
          <a:p>
            <a:pPr algn="l"/>
            <a:r>
              <a:rPr sz="1200" b="0" i="0">
                <a:solidFill>
                  <a:srgbClr val="5B636B"/>
                </a:solidFill>
                <a:latin typeface="IBM Plex Sans"/>
              </a:rPr>
              <a:t>Patel et al. (2024) arXiv:2403.04871 · Song et al. (2026) arXiv:2605.07770 · EMA (2026) arXiv:2606.00734 · Al-Shater (2026)</a:t>
            </a:r>
          </a:p>
        </p:txBody>
      </p:sp>
      <p:sp>
        <p:nvSpPr>
          <p:cNvPr id="11" name="Page"/>
          <p:cNvSpPr txBox="1"/>
          <p:nvPr/>
        </p:nvSpPr>
        <p:spPr>
          <a:xfrm>
            <a:off x="11094415" y="6309360"/>
            <a:ext cx="548640" cy="274320"/>
          </a:xfrm>
          <a:prstGeom prst="rect">
            <a:avLst/>
          </a:prstGeom>
          <a:noFill/>
        </p:spPr>
        <p:txBody>
          <a:bodyPr wrap="square" lIns="0" rIns="0" tIns="0" bIns="0" anchor="t">
            <a:spAutoFit/>
          </a:bodyPr>
          <a:lstStyle/>
          <a:p>
            <a:pPr algn="r"/>
            <a:r>
              <a:rPr sz="1200" b="0" i="0">
                <a:solidFill>
                  <a:srgbClr val="5B636B"/>
                </a:solidFill>
                <a:latin typeface="IBM Plex San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Kicker"/>
          <p:cNvSpPr txBox="1"/>
          <p:nvPr/>
        </p:nvSpPr>
        <p:spPr>
          <a:xfrm>
            <a:off x="548640" y="384048"/>
            <a:ext cx="11094415" cy="274320"/>
          </a:xfrm>
          <a:prstGeom prst="rect">
            <a:avLst/>
          </a:prstGeom>
          <a:noFill/>
        </p:spPr>
        <p:txBody>
          <a:bodyPr wrap="square" lIns="0" rIns="0" tIns="0" bIns="0" anchor="t">
            <a:spAutoFit/>
          </a:bodyPr>
          <a:lstStyle/>
          <a:p>
            <a:pPr algn="l"/>
            <a:r>
              <a:rPr sz="1300" b="1" i="0" spc="150">
                <a:solidFill>
                  <a:srgbClr val="1F6F6B"/>
                </a:solidFill>
                <a:latin typeface="IBM Plex Sans"/>
              </a:rPr>
              <a:t>OUR RESULT IN CONTEXT</a:t>
            </a:r>
          </a:p>
        </p:txBody>
      </p:sp>
      <p:sp>
        <p:nvSpPr>
          <p:cNvPr id="3" name="Title"/>
          <p:cNvSpPr txBox="1"/>
          <p:nvPr/>
        </p:nvSpPr>
        <p:spPr>
          <a:xfrm>
            <a:off x="548640" y="676656"/>
            <a:ext cx="11094415" cy="731520"/>
          </a:xfrm>
          <a:prstGeom prst="rect">
            <a:avLst/>
          </a:prstGeom>
          <a:noFill/>
        </p:spPr>
        <p:txBody>
          <a:bodyPr wrap="square" lIns="0" rIns="0" tIns="0" bIns="0" anchor="t">
            <a:spAutoFit/>
          </a:bodyPr>
          <a:lstStyle/>
          <a:p>
            <a:pPr algn="l"/>
            <a:r>
              <a:rPr sz="2800" b="0" i="0">
                <a:solidFill>
                  <a:srgbClr val="1E2328"/>
                </a:solidFill>
                <a:latin typeface="Libre Baskerville"/>
              </a:rPr>
              <a:t>Live predicates hold recall as eligibility shrinks</a:t>
            </a:r>
          </a:p>
        </p:txBody>
      </p:sp>
      <p:graphicFrame>
        <p:nvGraphicFramePr>
          <p:cNvPr id="4" name="Selectivity chart (native)"/>
          <p:cNvGraphicFramePr>
            <a:graphicFrameLocks noGrp="1"/>
          </p:cNvGraphicFramePr>
          <p:nvPr/>
        </p:nvGraphicFramePr>
        <p:xfrm>
          <a:off x="548640" y="1481328"/>
          <a:ext cx="6766560" cy="4343400"/>
        </p:xfrm>
        <a:graphic>
          <a:graphicData uri="http://schemas.openxmlformats.org/drawingml/2006/chart">
            <c:chart xmlns:c="http://schemas.openxmlformats.org/drawingml/2006/chart" r:id="rId2"/>
          </a:graphicData>
        </a:graphic>
      </p:graphicFrame>
      <p:sp>
        <p:nvSpPr>
          <p:cNvPr id="5" name="TextBox 4"/>
          <p:cNvSpPr txBox="1"/>
          <p:nvPr/>
        </p:nvSpPr>
        <p:spPr>
          <a:xfrm>
            <a:off x="7680960" y="1481328"/>
            <a:ext cx="3977639" cy="274320"/>
          </a:xfrm>
          <a:prstGeom prst="rect">
            <a:avLst/>
          </a:prstGeom>
          <a:noFill/>
        </p:spPr>
        <p:txBody>
          <a:bodyPr wrap="square" lIns="0" rIns="0" tIns="0" bIns="0" anchor="t">
            <a:spAutoFit/>
          </a:bodyPr>
          <a:lstStyle/>
          <a:p>
            <a:pPr algn="l"/>
            <a:r>
              <a:rPr sz="1300" b="1" i="0" spc="100">
                <a:solidFill>
                  <a:srgbClr val="5B636B"/>
                </a:solidFill>
                <a:latin typeface="IBM Plex Sans"/>
              </a:rPr>
              <a:t>AT 2% ELIGIBILITY</a:t>
            </a:r>
          </a:p>
        </p:txBody>
      </p:sp>
      <p:sp>
        <p:nvSpPr>
          <p:cNvPr id="6" name="TextBox 5"/>
          <p:cNvSpPr txBox="1"/>
          <p:nvPr/>
        </p:nvSpPr>
        <p:spPr>
          <a:xfrm>
            <a:off x="7680960" y="1783080"/>
            <a:ext cx="3977639" cy="731520"/>
          </a:xfrm>
          <a:prstGeom prst="rect">
            <a:avLst/>
          </a:prstGeom>
          <a:noFill/>
        </p:spPr>
        <p:txBody>
          <a:bodyPr wrap="square" lIns="0" rIns="0" tIns="0" bIns="0" anchor="t">
            <a:spAutoFit/>
          </a:bodyPr>
          <a:lstStyle/>
          <a:p>
            <a:pPr algn="l"/>
            <a:r>
              <a:rPr sz="4000" b="1" i="0">
                <a:solidFill>
                  <a:srgbClr val="1F6F6B"/>
                </a:solidFill>
                <a:latin typeface="Libre Baskerville"/>
              </a:rPr>
              <a:t>0.978</a:t>
            </a:r>
            <a:r>
              <a:rPr sz="4000" b="0" i="0">
                <a:solidFill>
                  <a:srgbClr val="1E2328"/>
                </a:solidFill>
                <a:latin typeface="Libre Baskerville"/>
              </a:rPr>
              <a:t> vs </a:t>
            </a:r>
            <a:r>
              <a:rPr sz="4000" b="1" i="0">
                <a:solidFill>
                  <a:srgbClr val="A5541B"/>
                </a:solidFill>
                <a:latin typeface="Libre Baskerville"/>
              </a:rPr>
              <a:t>0.842</a:t>
            </a:r>
          </a:p>
        </p:txBody>
      </p:sp>
      <p:sp>
        <p:nvSpPr>
          <p:cNvPr id="7" name="TextBox 6"/>
          <p:cNvSpPr txBox="1"/>
          <p:nvPr/>
        </p:nvSpPr>
        <p:spPr>
          <a:xfrm>
            <a:off x="7680960" y="2514600"/>
            <a:ext cx="3977639" cy="365760"/>
          </a:xfrm>
          <a:prstGeom prst="rect">
            <a:avLst/>
          </a:prstGeom>
          <a:noFill/>
        </p:spPr>
        <p:txBody>
          <a:bodyPr wrap="square" lIns="0" rIns="0" tIns="0" bIns="0" anchor="t">
            <a:spAutoFit/>
          </a:bodyPr>
          <a:lstStyle/>
          <a:p>
            <a:pPr algn="l"/>
            <a:r>
              <a:rPr sz="1800" b="0" i="0">
                <a:solidFill>
                  <a:srgbClr val="5B636B"/>
                </a:solidFill>
                <a:latin typeface="IBM Plex Sans"/>
              </a:rPr>
              <a:t>Recall@50, live vs 2× over-fetch</a:t>
            </a:r>
          </a:p>
        </p:txBody>
      </p:sp>
      <p:sp>
        <p:nvSpPr>
          <p:cNvPr id="8" name="TextBox 7"/>
          <p:cNvSpPr txBox="1"/>
          <p:nvPr/>
        </p:nvSpPr>
        <p:spPr>
          <a:xfrm>
            <a:off x="7680960" y="2971800"/>
            <a:ext cx="3977639" cy="548640"/>
          </a:xfrm>
          <a:prstGeom prst="rect">
            <a:avLst/>
          </a:prstGeom>
          <a:noFill/>
        </p:spPr>
        <p:txBody>
          <a:bodyPr wrap="square" lIns="0" rIns="0" tIns="0" bIns="0" anchor="t">
            <a:spAutoFit/>
          </a:bodyPr>
          <a:lstStyle/>
          <a:p>
            <a:pPr algn="l"/>
            <a:r>
              <a:rPr sz="2600" b="1" i="0">
                <a:solidFill>
                  <a:srgbClr val="1F6F6B"/>
                </a:solidFill>
                <a:latin typeface="Libre Baskerville"/>
              </a:rPr>
              <a:t>14.57 ms</a:t>
            </a:r>
            <a:r>
              <a:rPr sz="2600" b="0" i="0">
                <a:solidFill>
                  <a:srgbClr val="1E2328"/>
                </a:solidFill>
                <a:latin typeface="Libre Baskerville"/>
              </a:rPr>
              <a:t> vs </a:t>
            </a:r>
            <a:r>
              <a:rPr sz="2600" b="1" i="0">
                <a:solidFill>
                  <a:srgbClr val="A5541B"/>
                </a:solidFill>
                <a:latin typeface="Libre Baskerville"/>
              </a:rPr>
              <a:t>20.14 ms</a:t>
            </a:r>
          </a:p>
        </p:txBody>
      </p:sp>
      <p:sp>
        <p:nvSpPr>
          <p:cNvPr id="9" name="Statements"/>
          <p:cNvSpPr txBox="1"/>
          <p:nvPr/>
        </p:nvSpPr>
        <p:spPr>
          <a:xfrm>
            <a:off x="7680960" y="3611880"/>
            <a:ext cx="3977639" cy="2468880"/>
          </a:xfrm>
          <a:prstGeom prst="rect">
            <a:avLst/>
          </a:prstGeom>
          <a:noFill/>
        </p:spPr>
        <p:txBody>
          <a:bodyPr wrap="square" lIns="0" rIns="0" tIns="0" bIns="0" anchor="t">
            <a:spAutoFit/>
          </a:bodyPr>
          <a:lstStyle/>
          <a:p>
            <a:pPr algn="l">
              <a:lnSpc>
                <a:spcPct val="108000"/>
              </a:lnSpc>
              <a:spcAft>
                <a:spcPts val="1200"/>
              </a:spcAft>
            </a:pPr>
            <a:r>
              <a:rPr sz="1800" b="0" i="0">
                <a:solidFill>
                  <a:srgbClr val="1E2328"/>
                </a:solidFill>
                <a:latin typeface="IBM Plex Sans"/>
              </a:rPr>
              <a:t>No tested over-fetch budget got within 0.005 of live recall, in 15 of 15 conditions.</a:t>
            </a:r>
          </a:p>
          <a:p>
            <a:pPr algn="l">
              <a:lnSpc>
                <a:spcPct val="108000"/>
              </a:lnSpc>
              <a:spcAft>
                <a:spcPts val="1200"/>
              </a:spcAft>
            </a:pPr>
            <a:r>
              <a:rPr sz="1800" b="1" i="0">
                <a:solidFill>
                  <a:srgbClr val="1F6F6B"/>
                </a:solidFill>
                <a:latin typeface="IBM Plex Sans"/>
              </a:rPr>
              <a:t>Next:</a:t>
            </a:r>
            <a:r>
              <a:rPr sz="1800" b="0" i="0">
                <a:solidFill>
                  <a:srgbClr val="1E2328"/>
                </a:solidFill>
                <a:latin typeface="IBM Plex Sans"/>
              </a:rPr>
              <a:t> measure local, not global, selectivity (anticorrelated queries).</a:t>
            </a:r>
          </a:p>
        </p:txBody>
      </p:sp>
      <p:sp>
        <p:nvSpPr>
          <p:cNvPr id="10" name="Footer"/>
          <p:cNvSpPr txBox="1"/>
          <p:nvPr/>
        </p:nvSpPr>
        <p:spPr>
          <a:xfrm>
            <a:off x="548640" y="6309360"/>
            <a:ext cx="10362895" cy="411480"/>
          </a:xfrm>
          <a:prstGeom prst="rect">
            <a:avLst/>
          </a:prstGeom>
          <a:noFill/>
        </p:spPr>
        <p:txBody>
          <a:bodyPr wrap="square" lIns="0" rIns="0" tIns="0" bIns="0" anchor="t">
            <a:spAutoFit/>
          </a:bodyPr>
          <a:lstStyle/>
          <a:p>
            <a:pPr algn="l"/>
            <a:r>
              <a:rPr sz="1200" b="0" i="0">
                <a:solidFill>
                  <a:srgbClr val="5B636B"/>
                </a:solidFill>
                <a:latin typeface="IBM Plex Sans"/>
              </a:rPr>
              <a:t>Al-Shater (2026), Table 7, p. 9: means over three predicate sets × 1,000 queries; K = 50, ef = 128.</a:t>
            </a:r>
          </a:p>
        </p:txBody>
      </p:sp>
      <p:sp>
        <p:nvSpPr>
          <p:cNvPr id="11" name="Page"/>
          <p:cNvSpPr txBox="1"/>
          <p:nvPr/>
        </p:nvSpPr>
        <p:spPr>
          <a:xfrm>
            <a:off x="11094415" y="6309360"/>
            <a:ext cx="548640" cy="274320"/>
          </a:xfrm>
          <a:prstGeom prst="rect">
            <a:avLst/>
          </a:prstGeom>
          <a:noFill/>
        </p:spPr>
        <p:txBody>
          <a:bodyPr wrap="square" lIns="0" rIns="0" tIns="0" bIns="0" anchor="t">
            <a:spAutoFit/>
          </a:bodyPr>
          <a:lstStyle/>
          <a:p>
            <a:pPr algn="r"/>
            <a:r>
              <a:rPr sz="1200" b="0" i="0">
                <a:solidFill>
                  <a:srgbClr val="5B636B"/>
                </a:solidFill>
                <a:latin typeface="IBM Plex San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Kicker"/>
          <p:cNvSpPr txBox="1"/>
          <p:nvPr/>
        </p:nvSpPr>
        <p:spPr>
          <a:xfrm>
            <a:off x="548640" y="384048"/>
            <a:ext cx="11094415" cy="274320"/>
          </a:xfrm>
          <a:prstGeom prst="rect">
            <a:avLst/>
          </a:prstGeom>
          <a:noFill/>
        </p:spPr>
        <p:txBody>
          <a:bodyPr wrap="square" lIns="0" rIns="0" tIns="0" bIns="0" anchor="t">
            <a:spAutoFit/>
          </a:bodyPr>
          <a:lstStyle/>
          <a:p>
            <a:pPr algn="l"/>
            <a:r>
              <a:rPr sz="1300" b="1" i="0" spc="150">
                <a:solidFill>
                  <a:srgbClr val="1F6F6B"/>
                </a:solidFill>
                <a:latin typeface="IBM Plex Sans"/>
              </a:rPr>
              <a:t>COMPILED SEMANTIC PREDICATES</a:t>
            </a:r>
          </a:p>
        </p:txBody>
      </p:sp>
      <p:sp>
        <p:nvSpPr>
          <p:cNvPr id="3" name="Title"/>
          <p:cNvSpPr txBox="1"/>
          <p:nvPr/>
        </p:nvSpPr>
        <p:spPr>
          <a:xfrm>
            <a:off x="548640" y="676656"/>
            <a:ext cx="11094415" cy="731520"/>
          </a:xfrm>
          <a:prstGeom prst="rect">
            <a:avLst/>
          </a:prstGeom>
          <a:noFill/>
        </p:spPr>
        <p:txBody>
          <a:bodyPr wrap="square" lIns="0" rIns="0" tIns="0" bIns="0" anchor="t">
            <a:spAutoFit/>
          </a:bodyPr>
          <a:lstStyle/>
          <a:p>
            <a:pPr algn="l"/>
            <a:r>
              <a:rPr sz="2800" b="0" i="0">
                <a:solidFill>
                  <a:srgbClr val="1E2328"/>
                </a:solidFill>
                <a:latin typeface="Libre Baskerville"/>
              </a:rPr>
              <a:t>RSA compiles a concept into a ~216-byte program</a:t>
            </a:r>
          </a:p>
        </p:txBody>
      </p:sp>
      <p:sp>
        <p:nvSpPr>
          <p:cNvPr id="4" name="Figure panel rsa"/>
          <p:cNvSpPr/>
          <p:nvPr/>
        </p:nvSpPr>
        <p:spPr>
          <a:xfrm>
            <a:off x="548640" y="1481328"/>
            <a:ext cx="7086600" cy="2194560"/>
          </a:xfrm>
          <a:prstGeom prst="rect">
            <a:avLst/>
          </a:prstGeom>
          <a:solidFill>
            <a:srgbClr val="FFFDF8"/>
          </a:solidFill>
          <a:ln w="9525">
            <a:solidFill>
              <a:srgbClr val="DDD6C8"/>
            </a:solidFill>
          </a:ln>
        </p:spPr>
        <p:txBody>
          <a:bodyPr rtlCol="0" anchor="ctr" wrap="square" lIns="73152" rIns="73152" tIns="36576" bIns="36576"/>
          <a:lstStyle/>
          <a:p>
            <a:pPr algn="ctr"/>
          </a:p>
        </p:txBody>
      </p:sp>
      <p:pic>
        <p:nvPicPr>
          <p:cNvPr id="5" name="Picture 4" descr="rsa_fig1.png"/>
          <p:cNvPicPr>
            <a:picLocks noChangeAspect="1"/>
          </p:cNvPicPr>
          <p:nvPr/>
        </p:nvPicPr>
        <p:blipFill>
          <a:blip r:embed="rId2"/>
          <a:stretch>
            <a:fillRect/>
          </a:stretch>
        </p:blipFill>
        <p:spPr>
          <a:xfrm>
            <a:off x="893924" y="1572768"/>
            <a:ext cx="6396031" cy="2011679"/>
          </a:xfrm>
          <a:prstGeom prst="rect">
            <a:avLst/>
          </a:prstGeom>
        </p:spPr>
      </p:pic>
      <p:sp>
        <p:nvSpPr>
          <p:cNvPr id="6" name="Caption"/>
          <p:cNvSpPr txBox="1"/>
          <p:nvPr/>
        </p:nvSpPr>
        <p:spPr>
          <a:xfrm>
            <a:off x="548640" y="3730751"/>
            <a:ext cx="7086600" cy="274320"/>
          </a:xfrm>
          <a:prstGeom prst="rect">
            <a:avLst/>
          </a:prstGeom>
          <a:noFill/>
        </p:spPr>
        <p:txBody>
          <a:bodyPr wrap="square" lIns="0" rIns="0" tIns="0" bIns="0" anchor="t">
            <a:spAutoFit/>
          </a:bodyPr>
          <a:lstStyle/>
          <a:p>
            <a:pPr algn="l"/>
            <a:r>
              <a:rPr sz="1200" b="0" i="0">
                <a:solidFill>
                  <a:srgbClr val="5B636B"/>
                </a:solidFill>
                <a:latin typeface="IBM Plex Sans"/>
              </a:rPr>
              <a:t>Figure 1 from Al-Shater (2026), local PDF, p. 2. License: author's own.</a:t>
            </a:r>
          </a:p>
        </p:txBody>
      </p:sp>
      <p:pic>
        <p:nvPicPr>
          <p:cNvPr id="7" name="Picture 6" descr="eq03_calibration@3x.png"/>
          <p:cNvPicPr>
            <a:picLocks noChangeAspect="1"/>
          </p:cNvPicPr>
          <p:nvPr/>
        </p:nvPicPr>
        <p:blipFill>
          <a:blip r:embed="rId3"/>
          <a:stretch>
            <a:fillRect/>
          </a:stretch>
        </p:blipFill>
        <p:spPr>
          <a:xfrm>
            <a:off x="548640" y="4023360"/>
            <a:ext cx="2411799" cy="313251"/>
          </a:xfrm>
          <a:prstGeom prst="rect">
            <a:avLst/>
          </a:prstGeom>
        </p:spPr>
      </p:pic>
      <p:pic>
        <p:nvPicPr>
          <p:cNvPr id="8" name="Picture 7" descr="eq06_memory@3x.png"/>
          <p:cNvPicPr>
            <a:picLocks noChangeAspect="1"/>
          </p:cNvPicPr>
          <p:nvPr/>
        </p:nvPicPr>
        <p:blipFill>
          <a:blip r:embed="rId4"/>
          <a:stretch>
            <a:fillRect/>
          </a:stretch>
        </p:blipFill>
        <p:spPr>
          <a:xfrm>
            <a:off x="3977639" y="4023360"/>
            <a:ext cx="3035946" cy="277922"/>
          </a:xfrm>
          <a:prstGeom prst="rect">
            <a:avLst/>
          </a:prstGeom>
        </p:spPr>
      </p:pic>
      <p:pic>
        <p:nvPicPr>
          <p:cNvPr id="9" name="Picture 8" descr="eq04_composition@3x.png"/>
          <p:cNvPicPr>
            <a:picLocks noChangeAspect="1"/>
          </p:cNvPicPr>
          <p:nvPr/>
        </p:nvPicPr>
        <p:blipFill>
          <a:blip r:embed="rId5"/>
          <a:stretch>
            <a:fillRect/>
          </a:stretch>
        </p:blipFill>
        <p:spPr>
          <a:xfrm>
            <a:off x="548640" y="4526280"/>
            <a:ext cx="4154701" cy="569976"/>
          </a:xfrm>
          <a:prstGeom prst="rect">
            <a:avLst/>
          </a:prstGeom>
        </p:spPr>
      </p:pic>
      <p:pic>
        <p:nvPicPr>
          <p:cNvPr id="10" name="Picture 9" descr="eq05_popcount@3x.png"/>
          <p:cNvPicPr>
            <a:picLocks noChangeAspect="1"/>
          </p:cNvPicPr>
          <p:nvPr/>
        </p:nvPicPr>
        <p:blipFill>
          <a:blip r:embed="rId6"/>
          <a:stretch>
            <a:fillRect/>
          </a:stretch>
        </p:blipFill>
        <p:spPr>
          <a:xfrm>
            <a:off x="548640" y="5239512"/>
            <a:ext cx="4416136" cy="671252"/>
          </a:xfrm>
          <a:prstGeom prst="rect">
            <a:avLst/>
          </a:prstGeom>
        </p:spPr>
      </p:pic>
      <p:sp>
        <p:nvSpPr>
          <p:cNvPr id="11" name="Rectangle 10"/>
          <p:cNvSpPr/>
          <p:nvPr/>
        </p:nvSpPr>
        <p:spPr>
          <a:xfrm>
            <a:off x="8001000" y="1481328"/>
            <a:ext cx="3657600" cy="914400"/>
          </a:xfrm>
          <a:prstGeom prst="rect">
            <a:avLst/>
          </a:prstGeom>
          <a:solidFill>
            <a:srgbClr val="FFFDF8"/>
          </a:solidFill>
          <a:ln w="9525">
            <a:solidFill>
              <a:srgbClr val="DDD6C8"/>
            </a:solidFill>
          </a:ln>
        </p:spPr>
        <p:txBody>
          <a:bodyPr rtlCol="0" anchor="ctr" wrap="square" lIns="73152" rIns="73152" tIns="36576" bIns="36576"/>
          <a:lstStyle/>
          <a:p>
            <a:pPr algn="ctr"/>
          </a:p>
        </p:txBody>
      </p:sp>
      <p:sp>
        <p:nvSpPr>
          <p:cNvPr id="12" name="TextBox 11"/>
          <p:cNvSpPr txBox="1"/>
          <p:nvPr/>
        </p:nvSpPr>
        <p:spPr>
          <a:xfrm>
            <a:off x="8183879" y="1554480"/>
            <a:ext cx="3291840" cy="457200"/>
          </a:xfrm>
          <a:prstGeom prst="rect">
            <a:avLst/>
          </a:prstGeom>
          <a:noFill/>
        </p:spPr>
        <p:txBody>
          <a:bodyPr wrap="square" lIns="0" rIns="0" tIns="0" bIns="0" anchor="t">
            <a:spAutoFit/>
          </a:bodyPr>
          <a:lstStyle/>
          <a:p>
            <a:pPr algn="l"/>
            <a:r>
              <a:rPr sz="2600" b="0" i="0">
                <a:solidFill>
                  <a:srgbClr val="1F6F6B"/>
                </a:solidFill>
                <a:latin typeface="Libre Baskerville"/>
              </a:rPr>
              <a:t>56 B</a:t>
            </a:r>
          </a:p>
        </p:txBody>
      </p:sp>
      <p:sp>
        <p:nvSpPr>
          <p:cNvPr id="13" name="TextBox 12"/>
          <p:cNvSpPr txBox="1"/>
          <p:nvPr/>
        </p:nvSpPr>
        <p:spPr>
          <a:xfrm>
            <a:off x="8183879" y="1984248"/>
            <a:ext cx="3291840" cy="411479"/>
          </a:xfrm>
          <a:prstGeom prst="rect">
            <a:avLst/>
          </a:prstGeom>
          <a:noFill/>
        </p:spPr>
        <p:txBody>
          <a:bodyPr wrap="square" lIns="0" rIns="0" tIns="0" bIns="0" anchor="t">
            <a:spAutoFit/>
          </a:bodyPr>
          <a:lstStyle/>
          <a:p>
            <a:pPr algn="l"/>
            <a:r>
              <a:rPr sz="1500" b="0" i="0">
                <a:solidFill>
                  <a:srgbClr val="1E2328"/>
                </a:solidFill>
                <a:latin typeface="IBM Plex Sans"/>
              </a:rPr>
              <a:t>per item: shared binary code</a:t>
            </a:r>
          </a:p>
        </p:txBody>
      </p:sp>
      <p:sp>
        <p:nvSpPr>
          <p:cNvPr id="14" name="Rectangle 13"/>
          <p:cNvSpPr/>
          <p:nvPr/>
        </p:nvSpPr>
        <p:spPr>
          <a:xfrm>
            <a:off x="8001000" y="2505456"/>
            <a:ext cx="3657600" cy="914400"/>
          </a:xfrm>
          <a:prstGeom prst="rect">
            <a:avLst/>
          </a:prstGeom>
          <a:solidFill>
            <a:srgbClr val="FFFDF8"/>
          </a:solidFill>
          <a:ln w="9525">
            <a:solidFill>
              <a:srgbClr val="DDD6C8"/>
            </a:solidFill>
          </a:ln>
        </p:spPr>
        <p:txBody>
          <a:bodyPr rtlCol="0" anchor="ctr" wrap="square" lIns="73152" rIns="73152" tIns="36576" bIns="36576"/>
          <a:lstStyle/>
          <a:p>
            <a:pPr algn="ctr"/>
          </a:p>
        </p:txBody>
      </p:sp>
      <p:sp>
        <p:nvSpPr>
          <p:cNvPr id="15" name="TextBox 14"/>
          <p:cNvSpPr txBox="1"/>
          <p:nvPr/>
        </p:nvSpPr>
        <p:spPr>
          <a:xfrm>
            <a:off x="8183879" y="2578608"/>
            <a:ext cx="3291840" cy="457200"/>
          </a:xfrm>
          <a:prstGeom prst="rect">
            <a:avLst/>
          </a:prstGeom>
          <a:noFill/>
        </p:spPr>
        <p:txBody>
          <a:bodyPr wrap="square" lIns="0" rIns="0" tIns="0" bIns="0" anchor="t">
            <a:spAutoFit/>
          </a:bodyPr>
          <a:lstStyle/>
          <a:p>
            <a:pPr algn="l"/>
            <a:r>
              <a:rPr sz="2600" b="0" i="0">
                <a:solidFill>
                  <a:srgbClr val="1F6F6B"/>
                </a:solidFill>
                <a:latin typeface="Libre Baskerville"/>
              </a:rPr>
              <a:t>~216 B</a:t>
            </a:r>
          </a:p>
        </p:txBody>
      </p:sp>
      <p:sp>
        <p:nvSpPr>
          <p:cNvPr id="16" name="TextBox 15"/>
          <p:cNvSpPr txBox="1"/>
          <p:nvPr/>
        </p:nvSpPr>
        <p:spPr>
          <a:xfrm>
            <a:off x="8183879" y="3008376"/>
            <a:ext cx="3291840" cy="411479"/>
          </a:xfrm>
          <a:prstGeom prst="rect">
            <a:avLst/>
          </a:prstGeom>
          <a:noFill/>
        </p:spPr>
        <p:txBody>
          <a:bodyPr wrap="square" lIns="0" rIns="0" tIns="0" bIns="0" anchor="t">
            <a:spAutoFit/>
          </a:bodyPr>
          <a:lstStyle/>
          <a:p>
            <a:pPr algn="l"/>
            <a:r>
              <a:rPr sz="1500" b="0" i="0">
                <a:solidFill>
                  <a:srgbClr val="1E2328"/>
                </a:solidFill>
                <a:latin typeface="IBM Plex Sans"/>
              </a:rPr>
              <a:t>per predicate program</a:t>
            </a:r>
          </a:p>
        </p:txBody>
      </p:sp>
      <p:sp>
        <p:nvSpPr>
          <p:cNvPr id="17" name="Rectangle 16"/>
          <p:cNvSpPr/>
          <p:nvPr/>
        </p:nvSpPr>
        <p:spPr>
          <a:xfrm>
            <a:off x="8001000" y="3529584"/>
            <a:ext cx="3657600" cy="1115568"/>
          </a:xfrm>
          <a:prstGeom prst="rect">
            <a:avLst/>
          </a:prstGeom>
          <a:solidFill>
            <a:srgbClr val="FFFDF8"/>
          </a:solidFill>
          <a:ln w="9525">
            <a:solidFill>
              <a:srgbClr val="DDD6C8"/>
            </a:solidFill>
          </a:ln>
        </p:spPr>
        <p:txBody>
          <a:bodyPr rtlCol="0" anchor="ctr" wrap="square" lIns="73152" rIns="73152" tIns="36576" bIns="36576"/>
          <a:lstStyle/>
          <a:p>
            <a:pPr algn="ctr"/>
          </a:p>
        </p:txBody>
      </p:sp>
      <p:sp>
        <p:nvSpPr>
          <p:cNvPr id="18" name="TextBox 17"/>
          <p:cNvSpPr txBox="1"/>
          <p:nvPr/>
        </p:nvSpPr>
        <p:spPr>
          <a:xfrm>
            <a:off x="8183879" y="3602736"/>
            <a:ext cx="3291840" cy="457200"/>
          </a:xfrm>
          <a:prstGeom prst="rect">
            <a:avLst/>
          </a:prstGeom>
          <a:noFill/>
        </p:spPr>
        <p:txBody>
          <a:bodyPr wrap="square" lIns="0" rIns="0" tIns="0" bIns="0" anchor="t">
            <a:spAutoFit/>
          </a:bodyPr>
          <a:lstStyle/>
          <a:p>
            <a:pPr algn="l"/>
            <a:r>
              <a:rPr sz="2600" b="0" i="0">
                <a:solidFill>
                  <a:srgbClr val="1F6F6B"/>
                </a:solidFill>
                <a:latin typeface="Libre Baskerville"/>
              </a:rPr>
              <a:t>0.337</a:t>
            </a:r>
          </a:p>
        </p:txBody>
      </p:sp>
      <p:sp>
        <p:nvSpPr>
          <p:cNvPr id="19" name="TextBox 18"/>
          <p:cNvSpPr txBox="1"/>
          <p:nvPr/>
        </p:nvSpPr>
        <p:spPr>
          <a:xfrm>
            <a:off x="8183879" y="4032504"/>
            <a:ext cx="3291840" cy="612647"/>
          </a:xfrm>
          <a:prstGeom prst="rect">
            <a:avLst/>
          </a:prstGeom>
          <a:noFill/>
        </p:spPr>
        <p:txBody>
          <a:bodyPr wrap="square" lIns="0" rIns="0" tIns="0" bIns="0" anchor="t">
            <a:spAutoFit/>
          </a:bodyPr>
          <a:lstStyle/>
          <a:p>
            <a:pPr algn="l"/>
            <a:r>
              <a:rPr sz="1500" b="0" i="0">
                <a:solidFill>
                  <a:srgbClr val="1E2328"/>
                </a:solidFill>
                <a:latin typeface="IBM Plex Sans"/>
              </a:rPr>
              <a:t>recall at 20% retention · dense 0.207 · PQ64 0.352 · FP32 0.363</a:t>
            </a:r>
          </a:p>
        </p:txBody>
      </p:sp>
      <p:sp>
        <p:nvSpPr>
          <p:cNvPr id="20" name="Rectangle 19"/>
          <p:cNvSpPr/>
          <p:nvPr/>
        </p:nvSpPr>
        <p:spPr>
          <a:xfrm>
            <a:off x="8001000" y="4754880"/>
            <a:ext cx="3657600" cy="914400"/>
          </a:xfrm>
          <a:prstGeom prst="rect">
            <a:avLst/>
          </a:prstGeom>
          <a:solidFill>
            <a:srgbClr val="FFFDF8"/>
          </a:solidFill>
          <a:ln w="9525">
            <a:solidFill>
              <a:srgbClr val="DDD6C8"/>
            </a:solidFill>
          </a:ln>
        </p:spPr>
        <p:txBody>
          <a:bodyPr rtlCol="0" anchor="ctr" wrap="square" lIns="73152" rIns="73152" tIns="36576" bIns="36576"/>
          <a:lstStyle/>
          <a:p>
            <a:pPr algn="ctr"/>
          </a:p>
        </p:txBody>
      </p:sp>
      <p:sp>
        <p:nvSpPr>
          <p:cNvPr id="21" name="TextBox 20"/>
          <p:cNvSpPr txBox="1"/>
          <p:nvPr/>
        </p:nvSpPr>
        <p:spPr>
          <a:xfrm>
            <a:off x="8183879" y="4828032"/>
            <a:ext cx="3291840" cy="457200"/>
          </a:xfrm>
          <a:prstGeom prst="rect">
            <a:avLst/>
          </a:prstGeom>
          <a:noFill/>
        </p:spPr>
        <p:txBody>
          <a:bodyPr wrap="square" lIns="0" rIns="0" tIns="0" bIns="0" anchor="t">
            <a:spAutoFit/>
          </a:bodyPr>
          <a:lstStyle/>
          <a:p>
            <a:pPr algn="l"/>
            <a:r>
              <a:rPr sz="2600" b="0" i="0">
                <a:solidFill>
                  <a:srgbClr val="1F6F6B"/>
                </a:solidFill>
                <a:latin typeface="Libre Baskerville"/>
              </a:rPr>
              <a:t>96–134 ns</a:t>
            </a:r>
          </a:p>
        </p:txBody>
      </p:sp>
      <p:sp>
        <p:nvSpPr>
          <p:cNvPr id="22" name="TextBox 21"/>
          <p:cNvSpPr txBox="1"/>
          <p:nvPr/>
        </p:nvSpPr>
        <p:spPr>
          <a:xfrm>
            <a:off x="8183879" y="5257800"/>
            <a:ext cx="3291840" cy="411479"/>
          </a:xfrm>
          <a:prstGeom prst="rect">
            <a:avLst/>
          </a:prstGeom>
          <a:noFill/>
        </p:spPr>
        <p:txBody>
          <a:bodyPr wrap="square" lIns="0" rIns="0" tIns="0" bIns="0" anchor="t">
            <a:spAutoFit/>
          </a:bodyPr>
          <a:lstStyle/>
          <a:p>
            <a:pPr algn="l"/>
            <a:r>
              <a:rPr sz="1500" b="0" i="0">
                <a:solidFill>
                  <a:srgbClr val="1E2328"/>
                </a:solidFill>
                <a:latin typeface="IBM Plex Sans"/>
              </a:rPr>
              <a:t>per predicate invocation inside HNSW</a:t>
            </a:r>
          </a:p>
        </p:txBody>
      </p:sp>
      <p:sp>
        <p:nvSpPr>
          <p:cNvPr id="23" name="Footer"/>
          <p:cNvSpPr txBox="1"/>
          <p:nvPr/>
        </p:nvSpPr>
        <p:spPr>
          <a:xfrm>
            <a:off x="548640" y="6309360"/>
            <a:ext cx="10362895" cy="411480"/>
          </a:xfrm>
          <a:prstGeom prst="rect">
            <a:avLst/>
          </a:prstGeom>
          <a:noFill/>
        </p:spPr>
        <p:txBody>
          <a:bodyPr wrap="square" lIns="0" rIns="0" tIns="0" bIns="0" anchor="t">
            <a:spAutoFit/>
          </a:bodyPr>
          <a:lstStyle/>
          <a:p>
            <a:pPr algn="l"/>
            <a:r>
              <a:rPr sz="1200" b="0" i="0">
                <a:solidFill>
                  <a:srgbClr val="5B636B"/>
                </a:solidFill>
                <a:latin typeface="IBM Plex Sans"/>
              </a:rPr>
              <a:t>Al-Shater (2026), Compiled Semantic Predicates for ANN Search: pp. 1, 3, 7, 9; Eqs. from §2–3.</a:t>
            </a:r>
          </a:p>
        </p:txBody>
      </p:sp>
      <p:sp>
        <p:nvSpPr>
          <p:cNvPr id="24" name="Page"/>
          <p:cNvSpPr txBox="1"/>
          <p:nvPr/>
        </p:nvSpPr>
        <p:spPr>
          <a:xfrm>
            <a:off x="11094415" y="6309360"/>
            <a:ext cx="548640" cy="274320"/>
          </a:xfrm>
          <a:prstGeom prst="rect">
            <a:avLst/>
          </a:prstGeom>
          <a:noFill/>
        </p:spPr>
        <p:txBody>
          <a:bodyPr wrap="square" lIns="0" rIns="0" tIns="0" bIns="0" anchor="t">
            <a:spAutoFit/>
          </a:bodyPr>
          <a:lstStyle/>
          <a:p>
            <a:pPr algn="r"/>
            <a:r>
              <a:rPr sz="1200" b="0" i="0">
                <a:solidFill>
                  <a:srgbClr val="5B636B"/>
                </a:solidFill>
                <a:latin typeface="IBM Plex San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Kicker"/>
          <p:cNvSpPr txBox="1"/>
          <p:nvPr/>
        </p:nvSpPr>
        <p:spPr>
          <a:xfrm>
            <a:off x="548640" y="384048"/>
            <a:ext cx="11094415" cy="274320"/>
          </a:xfrm>
          <a:prstGeom prst="rect">
            <a:avLst/>
          </a:prstGeom>
          <a:noFill/>
        </p:spPr>
        <p:txBody>
          <a:bodyPr wrap="square" lIns="0" rIns="0" tIns="0" bIns="0" anchor="t">
            <a:spAutoFit/>
          </a:bodyPr>
          <a:lstStyle/>
          <a:p>
            <a:pPr algn="l"/>
            <a:r>
              <a:rPr sz="1300" b="1" i="0" spc="150">
                <a:solidFill>
                  <a:srgbClr val="1F6F6B"/>
                </a:solidFill>
                <a:latin typeface="IBM Plex Sans"/>
              </a:rPr>
              <a:t>NEGATION</a:t>
            </a:r>
          </a:p>
        </p:txBody>
      </p:sp>
      <p:sp>
        <p:nvSpPr>
          <p:cNvPr id="3" name="Title"/>
          <p:cNvSpPr txBox="1"/>
          <p:nvPr/>
        </p:nvSpPr>
        <p:spPr>
          <a:xfrm>
            <a:off x="548640" y="676656"/>
            <a:ext cx="11094415" cy="731520"/>
          </a:xfrm>
          <a:prstGeom prst="rect">
            <a:avLst/>
          </a:prstGeom>
          <a:noFill/>
        </p:spPr>
        <p:txBody>
          <a:bodyPr wrap="square" lIns="0" rIns="0" tIns="0" bIns="0" anchor="t">
            <a:spAutoFit/>
          </a:bodyPr>
          <a:lstStyle/>
          <a:p>
            <a:pPr algn="l"/>
            <a:r>
              <a:rPr sz="2800" b="0" i="0">
                <a:solidFill>
                  <a:srgbClr val="1E2328"/>
                </a:solidFill>
                <a:latin typeface="Libre Baskerville"/>
              </a:rPr>
              <a:t>Negation is still broken; E-SENS is the bar to beat</a:t>
            </a:r>
          </a:p>
        </p:txBody>
      </p:sp>
      <p:sp>
        <p:nvSpPr>
          <p:cNvPr id="4" name="Figure panel nevir_repro"/>
          <p:cNvSpPr/>
          <p:nvPr/>
        </p:nvSpPr>
        <p:spPr>
          <a:xfrm>
            <a:off x="548640" y="1481328"/>
            <a:ext cx="3611880" cy="1783080"/>
          </a:xfrm>
          <a:prstGeom prst="rect">
            <a:avLst/>
          </a:prstGeom>
          <a:solidFill>
            <a:srgbClr val="FFFDF8"/>
          </a:solidFill>
          <a:ln w="9525">
            <a:solidFill>
              <a:srgbClr val="DDD6C8"/>
            </a:solidFill>
            <a:prstDash val="dash"/>
          </a:ln>
        </p:spPr>
        <p:txBody>
          <a:bodyPr rtlCol="0" anchor="ctr" wrap="square" lIns="73152" rIns="73152" tIns="36576" bIns="36576"/>
          <a:lstStyle/>
          <a:p>
            <a:pPr algn="ctr"/>
          </a:p>
        </p:txBody>
      </p:sp>
      <p:sp>
        <p:nvSpPr>
          <p:cNvPr id="5" name="Placeholder"/>
          <p:cNvSpPr txBox="1"/>
          <p:nvPr/>
        </p:nvSpPr>
        <p:spPr>
          <a:xfrm>
            <a:off x="777240" y="1664208"/>
            <a:ext cx="3154680" cy="1417319"/>
          </a:xfrm>
          <a:prstGeom prst="rect">
            <a:avLst/>
          </a:prstGeom>
          <a:noFill/>
        </p:spPr>
        <p:txBody>
          <a:bodyPr wrap="square" lIns="0" rIns="0" tIns="0" bIns="0" anchor="ctr">
            <a:spAutoFit/>
          </a:bodyPr>
          <a:lstStyle/>
          <a:p>
            <a:pPr algn="ctr"/>
            <a:r>
              <a:rPr sz="1600" b="0" i="1">
                <a:solidFill>
                  <a:srgbClr val="5B636B"/>
                </a:solidFill>
                <a:latin typeface="IBM Plex Sans"/>
              </a:rPr>
              <a:t>[Figure: Reproducing NevIR, main negation results]</a:t>
            </a:r>
          </a:p>
        </p:txBody>
      </p:sp>
      <p:sp>
        <p:nvSpPr>
          <p:cNvPr id="6" name="Caption"/>
          <p:cNvSpPr txBox="1"/>
          <p:nvPr/>
        </p:nvSpPr>
        <p:spPr>
          <a:xfrm>
            <a:off x="548640" y="3319272"/>
            <a:ext cx="3611880" cy="457200"/>
          </a:xfrm>
          <a:prstGeom prst="rect">
            <a:avLst/>
          </a:prstGeom>
          <a:noFill/>
        </p:spPr>
        <p:txBody>
          <a:bodyPr wrap="square" lIns="0" rIns="0" tIns="0" bIns="0" anchor="t">
            <a:spAutoFit/>
          </a:bodyPr>
          <a:lstStyle/>
          <a:p>
            <a:pPr algn="l"/>
            <a:r>
              <a:rPr sz="1200" b="0" i="0">
                <a:solidFill>
                  <a:srgbClr val="5B636B"/>
                </a:solidFill>
                <a:latin typeface="IBM Plex Sans"/>
              </a:rPr>
              <a:t>Placeholder: PDF not reachable at build time. van den Elsen et al. (2025), arXiv:2502.13506.</a:t>
            </a:r>
          </a:p>
        </p:txBody>
      </p:sp>
      <p:sp>
        <p:nvSpPr>
          <p:cNvPr id="7" name="Figure panel esens"/>
          <p:cNvSpPr/>
          <p:nvPr/>
        </p:nvSpPr>
        <p:spPr>
          <a:xfrm>
            <a:off x="4343400" y="1481328"/>
            <a:ext cx="3611880" cy="1783080"/>
          </a:xfrm>
          <a:prstGeom prst="rect">
            <a:avLst/>
          </a:prstGeom>
          <a:solidFill>
            <a:srgbClr val="FFFDF8"/>
          </a:solidFill>
          <a:ln w="9525">
            <a:solidFill>
              <a:srgbClr val="DDD6C8"/>
            </a:solidFill>
            <a:prstDash val="dash"/>
          </a:ln>
        </p:spPr>
        <p:txBody>
          <a:bodyPr rtlCol="0" anchor="ctr" wrap="square" lIns="73152" rIns="73152" tIns="36576" bIns="36576"/>
          <a:lstStyle/>
          <a:p>
            <a:pPr algn="ctr"/>
          </a:p>
        </p:txBody>
      </p:sp>
      <p:sp>
        <p:nvSpPr>
          <p:cNvPr id="8" name="Placeholder"/>
          <p:cNvSpPr txBox="1"/>
          <p:nvPr/>
        </p:nvSpPr>
        <p:spPr>
          <a:xfrm>
            <a:off x="4572000" y="1664208"/>
            <a:ext cx="3154680" cy="1417319"/>
          </a:xfrm>
          <a:prstGeom prst="rect">
            <a:avLst/>
          </a:prstGeom>
          <a:noFill/>
        </p:spPr>
        <p:txBody>
          <a:bodyPr wrap="square" lIns="0" rIns="0" tIns="0" bIns="0" anchor="ctr">
            <a:spAutoFit/>
          </a:bodyPr>
          <a:lstStyle/>
          <a:p>
            <a:pPr algn="ctr"/>
            <a:r>
              <a:rPr sz="1600" b="0" i="1">
                <a:solidFill>
                  <a:srgbClr val="5B636B"/>
                </a:solidFill>
                <a:latin typeface="IBM Plex Sans"/>
              </a:rPr>
              <a:t>[Figure: E-SENS, method overview: query decomposition and trap penalty]</a:t>
            </a:r>
          </a:p>
        </p:txBody>
      </p:sp>
      <p:sp>
        <p:nvSpPr>
          <p:cNvPr id="9" name="Caption"/>
          <p:cNvSpPr txBox="1"/>
          <p:nvPr/>
        </p:nvSpPr>
        <p:spPr>
          <a:xfrm>
            <a:off x="4343400" y="3319272"/>
            <a:ext cx="3611880" cy="457200"/>
          </a:xfrm>
          <a:prstGeom prst="rect">
            <a:avLst/>
          </a:prstGeom>
          <a:noFill/>
        </p:spPr>
        <p:txBody>
          <a:bodyPr wrap="square" lIns="0" rIns="0" tIns="0" bIns="0" anchor="t">
            <a:spAutoFit/>
          </a:bodyPr>
          <a:lstStyle/>
          <a:p>
            <a:pPr algn="l"/>
            <a:r>
              <a:rPr sz="1200" b="0" i="0">
                <a:solidFill>
                  <a:srgbClr val="5B636B"/>
                </a:solidFill>
                <a:latin typeface="IBM Plex Sans"/>
              </a:rPr>
              <a:t>Placeholder: PDF not reachable at build time. Kim et al. (2026), arXiv:2608.30130.</a:t>
            </a:r>
          </a:p>
        </p:txBody>
      </p:sp>
      <p:sp>
        <p:nvSpPr>
          <p:cNvPr id="10" name="Statements"/>
          <p:cNvSpPr txBox="1"/>
          <p:nvPr/>
        </p:nvSpPr>
        <p:spPr>
          <a:xfrm>
            <a:off x="8229600" y="1481328"/>
            <a:ext cx="3429000" cy="2377440"/>
          </a:xfrm>
          <a:prstGeom prst="rect">
            <a:avLst/>
          </a:prstGeom>
          <a:noFill/>
        </p:spPr>
        <p:txBody>
          <a:bodyPr wrap="square" lIns="0" rIns="0" tIns="0" bIns="0" anchor="t">
            <a:spAutoFit/>
          </a:bodyPr>
          <a:lstStyle/>
          <a:p>
            <a:pPr algn="l">
              <a:lnSpc>
                <a:spcPct val="108000"/>
              </a:lnSpc>
              <a:spcAft>
                <a:spcPts val="1200"/>
              </a:spcAft>
            </a:pPr>
            <a:r>
              <a:rPr sz="1800" b="0" i="0">
                <a:solidFill>
                  <a:srgbClr val="1E2328"/>
                </a:solidFill>
                <a:latin typeface="IBM Plex Sans"/>
              </a:rPr>
              <a:t>Most retrievers still rank negated pairs at or below random.</a:t>
            </a:r>
          </a:p>
          <a:p>
            <a:pPr algn="l">
              <a:lnSpc>
                <a:spcPct val="108000"/>
              </a:lnSpc>
              <a:spcAft>
                <a:spcPts val="1200"/>
              </a:spcAft>
            </a:pPr>
            <a:r>
              <a:rPr sz="1800" b="0" i="0">
                <a:solidFill>
                  <a:srgbClr val="1E2328"/>
                </a:solidFill>
                <a:latin typeface="IBM Plex Sans"/>
              </a:rPr>
              <a:t>Our bar is now </a:t>
            </a:r>
            <a:r>
              <a:rPr sz="1800" b="1" i="0">
                <a:solidFill>
                  <a:srgbClr val="1F6F6B"/>
                </a:solidFill>
                <a:latin typeface="IBM Plex Sans"/>
              </a:rPr>
              <a:t>beating E-SENS</a:t>
            </a:r>
            <a:r>
              <a:rPr sz="1800" b="0" i="0">
                <a:solidFill>
                  <a:srgbClr val="1E2328"/>
                </a:solidFill>
                <a:latin typeface="IBM Plex Sans"/>
              </a:rPr>
              <a:t>, not zero-shot directions.</a:t>
            </a:r>
          </a:p>
        </p:txBody>
      </p:sp>
      <p:sp>
        <p:nvSpPr>
          <p:cNvPr id="11" name="Rounded Rectangle 10"/>
          <p:cNvSpPr/>
          <p:nvPr/>
        </p:nvSpPr>
        <p:spPr>
          <a:xfrm>
            <a:off x="548640" y="4389120"/>
            <a:ext cx="2148840" cy="1005840"/>
          </a:xfrm>
          <a:prstGeom prst="roundRect">
            <a:avLst>
              <a:gd name="adj" fmla="val 12000"/>
            </a:avLst>
          </a:prstGeom>
          <a:solidFill>
            <a:srgbClr val="EAE5DB"/>
          </a:solidFill>
          <a:ln>
            <a:noFill/>
          </a:ln>
        </p:spPr>
        <p:txBody>
          <a:bodyPr rtlCol="0" anchor="ctr" wrap="square" lIns="73152" rIns="73152" tIns="36576" bIns="36576"/>
          <a:lstStyle/>
          <a:p>
            <a:pPr algn="ctr"/>
            <a:r>
              <a:rPr sz="1600" b="0" i="0">
                <a:solidFill>
                  <a:srgbClr val="1E2328"/>
                </a:solidFill>
                <a:latin typeface="IBM Plex Sans"/>
              </a:rPr>
              <a:t>“running shoes,</a:t>
            </a:r>
          </a:p>
          <a:p>
            <a:pPr algn="ctr"/>
            <a:r>
              <a:rPr sz="1600" b="0" i="0">
                <a:solidFill>
                  <a:srgbClr val="1E2328"/>
                </a:solidFill>
                <a:latin typeface="IBM Plex Sans"/>
              </a:rPr>
              <a:t>not sporty”</a:t>
            </a:r>
          </a:p>
        </p:txBody>
      </p:sp>
      <p:sp>
        <p:nvSpPr>
          <p:cNvPr id="12" name="Rounded Rectangle 11"/>
          <p:cNvSpPr/>
          <p:nvPr/>
        </p:nvSpPr>
        <p:spPr>
          <a:xfrm>
            <a:off x="3063240" y="3977639"/>
            <a:ext cx="2057400" cy="841248"/>
          </a:xfrm>
          <a:prstGeom prst="roundRect">
            <a:avLst>
              <a:gd name="adj" fmla="val 12000"/>
            </a:avLst>
          </a:prstGeom>
          <a:solidFill>
            <a:srgbClr val="FFFDF8"/>
          </a:solidFill>
          <a:ln w="12700">
            <a:solidFill>
              <a:srgbClr val="DDD6C8"/>
            </a:solidFill>
          </a:ln>
        </p:spPr>
        <p:txBody>
          <a:bodyPr rtlCol="0" anchor="ctr" wrap="square" lIns="73152" rIns="73152" tIns="36576" bIns="36576"/>
          <a:lstStyle/>
          <a:p>
            <a:pPr algn="ctr"/>
            <a:r>
              <a:rPr sz="1500" b="1" i="0">
                <a:solidFill>
                  <a:srgbClr val="1E2328"/>
                </a:solidFill>
                <a:latin typeface="IBM Plex Sans"/>
              </a:rPr>
              <a:t>keep</a:t>
            </a:r>
          </a:p>
          <a:p>
            <a:pPr algn="ctr"/>
            <a:r>
              <a:rPr sz="1500" b="0" i="0">
                <a:solidFill>
                  <a:srgbClr val="1E2328"/>
                </a:solidFill>
                <a:latin typeface="IBM Plex Sans"/>
              </a:rPr>
              <a:t>running shoes</a:t>
            </a:r>
          </a:p>
        </p:txBody>
      </p:sp>
      <p:sp>
        <p:nvSpPr>
          <p:cNvPr id="13" name="Rounded Rectangle 12"/>
          <p:cNvSpPr/>
          <p:nvPr/>
        </p:nvSpPr>
        <p:spPr>
          <a:xfrm>
            <a:off x="3063240" y="5029200"/>
            <a:ext cx="2057400" cy="841248"/>
          </a:xfrm>
          <a:prstGeom prst="roundRect">
            <a:avLst>
              <a:gd name="adj" fmla="val 12000"/>
            </a:avLst>
          </a:prstGeom>
          <a:solidFill>
            <a:srgbClr val="FFFDF8"/>
          </a:solidFill>
          <a:ln w="12700">
            <a:solidFill>
              <a:srgbClr val="A5541B"/>
            </a:solidFill>
          </a:ln>
        </p:spPr>
        <p:txBody>
          <a:bodyPr rtlCol="0" anchor="ctr" wrap="square" lIns="73152" rIns="73152" tIns="36576" bIns="36576"/>
          <a:lstStyle/>
          <a:p>
            <a:pPr algn="ctr"/>
            <a:r>
              <a:rPr sz="1500" b="1" i="0">
                <a:solidFill>
                  <a:srgbClr val="A5541B"/>
                </a:solidFill>
                <a:latin typeface="IBM Plex Sans"/>
              </a:rPr>
              <a:t>exclude</a:t>
            </a:r>
          </a:p>
          <a:p>
            <a:pPr algn="ctr"/>
            <a:r>
              <a:rPr sz="1500" b="0" i="0">
                <a:solidFill>
                  <a:srgbClr val="A5541B"/>
                </a:solidFill>
                <a:latin typeface="IBM Plex Sans"/>
              </a:rPr>
              <a:t>sporty</a:t>
            </a:r>
          </a:p>
        </p:txBody>
      </p:sp>
      <p:cxnSp>
        <p:nvCxnSpPr>
          <p:cNvPr id="14" name="Connector 13"/>
          <p:cNvCxnSpPr>
            <a:stCxn id="11" idx="3"/>
            <a:endCxn id="12" idx="1"/>
          </p:cNvCxnSpPr>
          <p:nvPr/>
        </p:nvCxnSpPr>
        <p:spPr>
          <a:xfrm flipV="1">
            <a:off x="2697480" y="4398263"/>
            <a:ext cx="365760" cy="493777"/>
          </a:xfrm>
          <a:prstGeom prst="line">
            <a:avLst/>
          </a:prstGeom>
          <a:ln w="19050">
            <a:solidFill>
              <a:srgbClr val="5B636B"/>
            </a:solidFill>
            <a:tailEnd type="triangle" w="med" len="med"/>
          </a:ln>
        </p:spPr>
      </p:cxnSp>
      <p:cxnSp>
        <p:nvCxnSpPr>
          <p:cNvPr id="15" name="Connector 14"/>
          <p:cNvCxnSpPr>
            <a:stCxn id="11" idx="3"/>
            <a:endCxn id="13" idx="1"/>
          </p:cNvCxnSpPr>
          <p:nvPr/>
        </p:nvCxnSpPr>
        <p:spPr>
          <a:xfrm>
            <a:off x="2697480" y="4892040"/>
            <a:ext cx="365760" cy="557784"/>
          </a:xfrm>
          <a:prstGeom prst="line">
            <a:avLst/>
          </a:prstGeom>
          <a:ln w="19050">
            <a:solidFill>
              <a:srgbClr val="5B636B"/>
            </a:solidFill>
            <a:tailEnd type="triangle" w="med" len="med"/>
          </a:ln>
        </p:spPr>
      </p:cxnSp>
      <p:sp>
        <p:nvSpPr>
          <p:cNvPr id="16" name="Rectangle 15"/>
          <p:cNvSpPr/>
          <p:nvPr/>
        </p:nvSpPr>
        <p:spPr>
          <a:xfrm>
            <a:off x="5669280" y="3977639"/>
            <a:ext cx="5989320" cy="841248"/>
          </a:xfrm>
          <a:prstGeom prst="rect">
            <a:avLst/>
          </a:prstGeom>
          <a:solidFill>
            <a:srgbClr val="FFFDF8"/>
          </a:solidFill>
          <a:ln w="12700">
            <a:solidFill>
              <a:srgbClr val="DDD6C8"/>
            </a:solidFill>
          </a:ln>
        </p:spPr>
        <p:txBody>
          <a:bodyPr rtlCol="0" anchor="ctr" wrap="square" lIns="73152" rIns="73152" tIns="36576" bIns="36576"/>
          <a:lstStyle/>
          <a:p>
            <a:pPr algn="ctr"/>
          </a:p>
        </p:txBody>
      </p:sp>
      <p:sp>
        <p:nvSpPr>
          <p:cNvPr id="17" name="Rectangle 16"/>
          <p:cNvSpPr/>
          <p:nvPr/>
        </p:nvSpPr>
        <p:spPr>
          <a:xfrm>
            <a:off x="5669280" y="5029200"/>
            <a:ext cx="5989320" cy="841248"/>
          </a:xfrm>
          <a:prstGeom prst="rect">
            <a:avLst/>
          </a:prstGeom>
          <a:solidFill>
            <a:srgbClr val="FFFDF8"/>
          </a:solidFill>
          <a:ln w="19050">
            <a:solidFill>
              <a:srgbClr val="1F6F6B"/>
            </a:solidFill>
          </a:ln>
        </p:spPr>
        <p:txBody>
          <a:bodyPr rtlCol="0" anchor="ctr" wrap="square" lIns="73152" rIns="73152" tIns="36576" bIns="36576"/>
          <a:lstStyle/>
          <a:p>
            <a:pPr algn="ctr"/>
          </a:p>
        </p:txBody>
      </p:sp>
      <p:sp>
        <p:nvSpPr>
          <p:cNvPr id="18" name="TextBox 17"/>
          <p:cNvSpPr txBox="1"/>
          <p:nvPr/>
        </p:nvSpPr>
        <p:spPr>
          <a:xfrm>
            <a:off x="5806440" y="4087368"/>
            <a:ext cx="1234440" cy="640080"/>
          </a:xfrm>
          <a:prstGeom prst="rect">
            <a:avLst/>
          </a:prstGeom>
          <a:noFill/>
        </p:spPr>
        <p:txBody>
          <a:bodyPr wrap="square" lIns="0" rIns="0" tIns="0" bIns="0" anchor="t">
            <a:spAutoFit/>
          </a:bodyPr>
          <a:lstStyle/>
          <a:p>
            <a:pPr algn="l"/>
            <a:r>
              <a:rPr sz="1400" b="1" i="0">
                <a:solidFill>
                  <a:srgbClr val="5B636B"/>
                </a:solidFill>
                <a:latin typeface="IBM Plex Sans"/>
              </a:rPr>
              <a:t>E-SENS</a:t>
            </a:r>
          </a:p>
          <a:p>
            <a:pPr algn="l"/>
            <a:r>
              <a:rPr sz="1400" b="1" i="0">
                <a:solidFill>
                  <a:srgbClr val="5B636B"/>
                </a:solidFill>
                <a:latin typeface="IBM Plex Sans"/>
              </a:rPr>
              <a:t>trap penalty</a:t>
            </a:r>
          </a:p>
        </p:txBody>
      </p:sp>
      <p:sp>
        <p:nvSpPr>
          <p:cNvPr id="19" name="TextBox 18"/>
          <p:cNvSpPr txBox="1"/>
          <p:nvPr/>
        </p:nvSpPr>
        <p:spPr>
          <a:xfrm>
            <a:off x="5806440" y="5138928"/>
            <a:ext cx="1234440" cy="640080"/>
          </a:xfrm>
          <a:prstGeom prst="rect">
            <a:avLst/>
          </a:prstGeom>
          <a:noFill/>
        </p:spPr>
        <p:txBody>
          <a:bodyPr wrap="square" lIns="0" rIns="0" tIns="0" bIns="0" anchor="t">
            <a:spAutoFit/>
          </a:bodyPr>
          <a:lstStyle/>
          <a:p>
            <a:pPr algn="l"/>
            <a:r>
              <a:rPr sz="1400" b="1" i="0">
                <a:solidFill>
                  <a:srgbClr val="1F6F6B"/>
                </a:solidFill>
                <a:latin typeface="IBM Plex Sans"/>
              </a:rPr>
              <a:t>RSA</a:t>
            </a:r>
          </a:p>
          <a:p>
            <a:pPr algn="l"/>
            <a:r>
              <a:rPr sz="1400" b="1" i="0">
                <a:solidFill>
                  <a:srgbClr val="1F6F6B"/>
                </a:solidFill>
                <a:latin typeface="IBM Plex Sans"/>
              </a:rPr>
              <a:t>log(1 − p)</a:t>
            </a:r>
          </a:p>
        </p:txBody>
      </p:sp>
      <p:pic>
        <p:nvPicPr>
          <p:cNvPr id="20" name="Picture 19" descr="eq11_esens@3x.png"/>
          <p:cNvPicPr>
            <a:picLocks noChangeAspect="1"/>
          </p:cNvPicPr>
          <p:nvPr/>
        </p:nvPicPr>
        <p:blipFill>
          <a:blip r:embed="rId2"/>
          <a:stretch>
            <a:fillRect/>
          </a:stretch>
        </p:blipFill>
        <p:spPr>
          <a:xfrm>
            <a:off x="7086600" y="4197096"/>
            <a:ext cx="3097322" cy="294270"/>
          </a:xfrm>
          <a:prstGeom prst="rect">
            <a:avLst/>
          </a:prstGeom>
        </p:spPr>
      </p:pic>
      <p:pic>
        <p:nvPicPr>
          <p:cNvPr id="21" name="Picture 20" descr="eq04_composition@3x.png"/>
          <p:cNvPicPr>
            <a:picLocks noChangeAspect="1"/>
          </p:cNvPicPr>
          <p:nvPr/>
        </p:nvPicPr>
        <p:blipFill>
          <a:blip r:embed="rId3"/>
          <a:stretch>
            <a:fillRect/>
          </a:stretch>
        </p:blipFill>
        <p:spPr>
          <a:xfrm>
            <a:off x="7086600" y="5157216"/>
            <a:ext cx="4399095" cy="603504"/>
          </a:xfrm>
          <a:prstGeom prst="rect">
            <a:avLst/>
          </a:prstGeom>
        </p:spPr>
      </p:pic>
      <p:cxnSp>
        <p:nvCxnSpPr>
          <p:cNvPr id="22" name="Connector 21"/>
          <p:cNvCxnSpPr/>
          <p:nvPr/>
        </p:nvCxnSpPr>
        <p:spPr>
          <a:xfrm>
            <a:off x="5120640" y="4398264"/>
            <a:ext cx="274320" cy="0"/>
          </a:xfrm>
          <a:prstGeom prst="line">
            <a:avLst/>
          </a:prstGeom>
          <a:ln w="19050">
            <a:solidFill>
              <a:srgbClr val="5B636B"/>
            </a:solidFill>
          </a:ln>
        </p:spPr>
      </p:cxnSp>
      <p:cxnSp>
        <p:nvCxnSpPr>
          <p:cNvPr id="23" name="Connector 22"/>
          <p:cNvCxnSpPr/>
          <p:nvPr/>
        </p:nvCxnSpPr>
        <p:spPr>
          <a:xfrm>
            <a:off x="5120640" y="5449824"/>
            <a:ext cx="274320" cy="0"/>
          </a:xfrm>
          <a:prstGeom prst="line">
            <a:avLst/>
          </a:prstGeom>
          <a:ln w="19050">
            <a:solidFill>
              <a:srgbClr val="5B636B"/>
            </a:solidFill>
          </a:ln>
        </p:spPr>
      </p:cxnSp>
      <p:cxnSp>
        <p:nvCxnSpPr>
          <p:cNvPr id="24" name="Connector 23"/>
          <p:cNvCxnSpPr/>
          <p:nvPr/>
        </p:nvCxnSpPr>
        <p:spPr>
          <a:xfrm>
            <a:off x="5394960" y="4398264"/>
            <a:ext cx="0" cy="1051560"/>
          </a:xfrm>
          <a:prstGeom prst="line">
            <a:avLst/>
          </a:prstGeom>
          <a:ln w="19050">
            <a:solidFill>
              <a:srgbClr val="5B636B"/>
            </a:solidFill>
          </a:ln>
        </p:spPr>
      </p:cxnSp>
      <p:cxnSp>
        <p:nvCxnSpPr>
          <p:cNvPr id="25" name="Connector 24"/>
          <p:cNvCxnSpPr/>
          <p:nvPr/>
        </p:nvCxnSpPr>
        <p:spPr>
          <a:xfrm>
            <a:off x="5394960" y="4398264"/>
            <a:ext cx="274320" cy="0"/>
          </a:xfrm>
          <a:prstGeom prst="line">
            <a:avLst/>
          </a:prstGeom>
          <a:ln w="19050">
            <a:solidFill>
              <a:srgbClr val="5B636B"/>
            </a:solidFill>
            <a:tailEnd type="triangle" w="med" len="med"/>
          </a:ln>
        </p:spPr>
      </p:cxnSp>
      <p:cxnSp>
        <p:nvCxnSpPr>
          <p:cNvPr id="26" name="Connector 25"/>
          <p:cNvCxnSpPr/>
          <p:nvPr/>
        </p:nvCxnSpPr>
        <p:spPr>
          <a:xfrm>
            <a:off x="5394960" y="5449824"/>
            <a:ext cx="274320" cy="0"/>
          </a:xfrm>
          <a:prstGeom prst="line">
            <a:avLst/>
          </a:prstGeom>
          <a:ln w="19050">
            <a:solidFill>
              <a:srgbClr val="5B636B"/>
            </a:solidFill>
            <a:tailEnd type="triangle" w="med" len="med"/>
          </a:ln>
        </p:spPr>
      </p:cxnSp>
      <p:sp>
        <p:nvSpPr>
          <p:cNvPr id="27" name="Footer"/>
          <p:cNvSpPr txBox="1"/>
          <p:nvPr/>
        </p:nvSpPr>
        <p:spPr>
          <a:xfrm>
            <a:off x="548640" y="6309360"/>
            <a:ext cx="10362895" cy="411480"/>
          </a:xfrm>
          <a:prstGeom prst="rect">
            <a:avLst/>
          </a:prstGeom>
          <a:noFill/>
        </p:spPr>
        <p:txBody>
          <a:bodyPr wrap="square" lIns="0" rIns="0" tIns="0" bIns="0" anchor="t">
            <a:spAutoFit/>
          </a:bodyPr>
          <a:lstStyle/>
          <a:p>
            <a:pPr algn="l"/>
            <a:r>
              <a:rPr sz="1200" b="0" i="0">
                <a:solidFill>
                  <a:srgbClr val="5B636B"/>
                </a:solidFill>
                <a:latin typeface="IBM Plex Sans"/>
              </a:rPr>
              <a:t>van den Elsen et al. (2025) arXiv:2502.13506 · Kim et al. (2026) arXiv:2608.30130 · Al-Shater (2026) Eq. composition.</a:t>
            </a:r>
          </a:p>
        </p:txBody>
      </p:sp>
      <p:sp>
        <p:nvSpPr>
          <p:cNvPr id="28" name="Page"/>
          <p:cNvSpPr txBox="1"/>
          <p:nvPr/>
        </p:nvSpPr>
        <p:spPr>
          <a:xfrm>
            <a:off x="11094415" y="6309360"/>
            <a:ext cx="548640" cy="274320"/>
          </a:xfrm>
          <a:prstGeom prst="rect">
            <a:avLst/>
          </a:prstGeom>
          <a:noFill/>
        </p:spPr>
        <p:txBody>
          <a:bodyPr wrap="square" lIns="0" rIns="0" tIns="0" bIns="0" anchor="t">
            <a:spAutoFit/>
          </a:bodyPr>
          <a:lstStyle/>
          <a:p>
            <a:pPr algn="r"/>
            <a:r>
              <a:rPr sz="1200" b="0" i="0">
                <a:solidFill>
                  <a:srgbClr val="5B636B"/>
                </a:solidFill>
                <a:latin typeface="IBM Plex San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Kicker"/>
          <p:cNvSpPr txBox="1"/>
          <p:nvPr/>
        </p:nvSpPr>
        <p:spPr>
          <a:xfrm>
            <a:off x="548640" y="384048"/>
            <a:ext cx="11094415" cy="274320"/>
          </a:xfrm>
          <a:prstGeom prst="rect">
            <a:avLst/>
          </a:prstGeom>
          <a:noFill/>
        </p:spPr>
        <p:txBody>
          <a:bodyPr wrap="square" lIns="0" rIns="0" tIns="0" bIns="0" anchor="t">
            <a:spAutoFit/>
          </a:bodyPr>
          <a:lstStyle/>
          <a:p>
            <a:pPr algn="l"/>
            <a:r>
              <a:rPr sz="1300" b="1" i="0" spc="150">
                <a:solidFill>
                  <a:srgbClr val="1F6F6B"/>
                </a:solidFill>
                <a:latin typeface="IBM Plex Sans"/>
              </a:rPr>
              <a:t>SPARSE AUTOENCODERS</a:t>
            </a:r>
          </a:p>
        </p:txBody>
      </p:sp>
      <p:sp>
        <p:nvSpPr>
          <p:cNvPr id="3" name="Title"/>
          <p:cNvSpPr txBox="1"/>
          <p:nvPr/>
        </p:nvSpPr>
        <p:spPr>
          <a:xfrm>
            <a:off x="548640" y="676656"/>
            <a:ext cx="11094415" cy="731520"/>
          </a:xfrm>
          <a:prstGeom prst="rect">
            <a:avLst/>
          </a:prstGeom>
          <a:noFill/>
        </p:spPr>
        <p:txBody>
          <a:bodyPr wrap="square" lIns="0" rIns="0" tIns="0" bIns="0" anchor="t">
            <a:spAutoFit/>
          </a:bodyPr>
          <a:lstStyle/>
          <a:p>
            <a:pPr algn="l"/>
            <a:r>
              <a:rPr sz="2800" b="0" i="0">
                <a:solidFill>
                  <a:srgbClr val="1E2328"/>
                </a:solidFill>
                <a:latin typeface="Libre Baskerville"/>
              </a:rPr>
              <a:t>SAEs could hand RSA a concept vocabulary for free</a:t>
            </a:r>
          </a:p>
        </p:txBody>
      </p:sp>
      <p:sp>
        <p:nvSpPr>
          <p:cNvPr id="4" name="Figure panel sae_embed"/>
          <p:cNvSpPr/>
          <p:nvPr/>
        </p:nvSpPr>
        <p:spPr>
          <a:xfrm>
            <a:off x="548640" y="1481328"/>
            <a:ext cx="5760720" cy="3977639"/>
          </a:xfrm>
          <a:prstGeom prst="rect">
            <a:avLst/>
          </a:prstGeom>
          <a:solidFill>
            <a:srgbClr val="FFFDF8"/>
          </a:solidFill>
          <a:ln w="9525">
            <a:solidFill>
              <a:srgbClr val="DDD6C8"/>
            </a:solidFill>
            <a:prstDash val="dash"/>
          </a:ln>
        </p:spPr>
        <p:txBody>
          <a:bodyPr rtlCol="0" anchor="ctr" wrap="square" lIns="73152" rIns="73152" tIns="36576" bIns="36576"/>
          <a:lstStyle/>
          <a:p>
            <a:pPr algn="ctr"/>
          </a:p>
        </p:txBody>
      </p:sp>
      <p:sp>
        <p:nvSpPr>
          <p:cNvPr id="5" name="Placeholder"/>
          <p:cNvSpPr txBox="1"/>
          <p:nvPr/>
        </p:nvSpPr>
        <p:spPr>
          <a:xfrm>
            <a:off x="777240" y="1664208"/>
            <a:ext cx="5303520" cy="3611879"/>
          </a:xfrm>
          <a:prstGeom prst="rect">
            <a:avLst/>
          </a:prstGeom>
          <a:noFill/>
        </p:spPr>
        <p:txBody>
          <a:bodyPr wrap="square" lIns="0" rIns="0" tIns="0" bIns="0" anchor="ctr">
            <a:spAutoFit/>
          </a:bodyPr>
          <a:lstStyle/>
          <a:p>
            <a:pPr algn="ctr"/>
            <a:r>
              <a:rPr sz="1600" b="0" i="1">
                <a:solidFill>
                  <a:srgbClr val="5B636B"/>
                </a:solidFill>
                <a:latin typeface="IBM Plex Sans"/>
              </a:rPr>
              <a:t>[Figure: SAE embeddings toolkit, Figure 1: converting documents into interpretable SAE embeddings]</a:t>
            </a:r>
          </a:p>
        </p:txBody>
      </p:sp>
      <p:sp>
        <p:nvSpPr>
          <p:cNvPr id="6" name="Caption"/>
          <p:cNvSpPr txBox="1"/>
          <p:nvPr/>
        </p:nvSpPr>
        <p:spPr>
          <a:xfrm>
            <a:off x="548640" y="5513831"/>
            <a:ext cx="5760720" cy="457200"/>
          </a:xfrm>
          <a:prstGeom prst="rect">
            <a:avLst/>
          </a:prstGeom>
          <a:noFill/>
        </p:spPr>
        <p:txBody>
          <a:bodyPr wrap="square" lIns="0" rIns="0" tIns="0" bIns="0" anchor="t">
            <a:spAutoFit/>
          </a:bodyPr>
          <a:lstStyle/>
          <a:p>
            <a:pPr algn="l"/>
            <a:r>
              <a:rPr sz="1200" b="0" i="0">
                <a:solidFill>
                  <a:srgbClr val="5B636B"/>
                </a:solidFill>
                <a:latin typeface="IBM Plex Sans"/>
              </a:rPr>
              <a:t>Placeholder: PDF not reachable at build time. Jiang et al. (2025), arXiv:2512.10092.</a:t>
            </a:r>
          </a:p>
        </p:txBody>
      </p:sp>
      <p:sp>
        <p:nvSpPr>
          <p:cNvPr id="7" name="TextBox 6"/>
          <p:cNvSpPr txBox="1"/>
          <p:nvPr/>
        </p:nvSpPr>
        <p:spPr>
          <a:xfrm>
            <a:off x="6720840" y="1481328"/>
            <a:ext cx="4937760" cy="274320"/>
          </a:xfrm>
          <a:prstGeom prst="rect">
            <a:avLst/>
          </a:prstGeom>
          <a:noFill/>
        </p:spPr>
        <p:txBody>
          <a:bodyPr wrap="square" lIns="0" rIns="0" tIns="0" bIns="0" anchor="t">
            <a:spAutoFit/>
          </a:bodyPr>
          <a:lstStyle/>
          <a:p>
            <a:pPr algn="l"/>
            <a:r>
              <a:rPr sz="1300" b="1" i="0" spc="50">
                <a:solidFill>
                  <a:srgbClr val="5B636B"/>
                </a:solidFill>
                <a:latin typeface="IBM Plex Sans"/>
              </a:rPr>
              <a:t>SPARSE AUTOENCODER</a:t>
            </a:r>
          </a:p>
        </p:txBody>
      </p:sp>
      <p:pic>
        <p:nvPicPr>
          <p:cNvPr id="8" name="Picture 7" descr="eq08_sae@3x.png"/>
          <p:cNvPicPr>
            <a:picLocks noChangeAspect="1"/>
          </p:cNvPicPr>
          <p:nvPr/>
        </p:nvPicPr>
        <p:blipFill>
          <a:blip r:embed="rId2"/>
          <a:stretch>
            <a:fillRect/>
          </a:stretch>
        </p:blipFill>
        <p:spPr>
          <a:xfrm>
            <a:off x="6720840" y="1828800"/>
            <a:ext cx="4937760" cy="312200"/>
          </a:xfrm>
          <a:prstGeom prst="rect">
            <a:avLst/>
          </a:prstGeom>
        </p:spPr>
      </p:pic>
      <p:sp>
        <p:nvSpPr>
          <p:cNvPr id="9" name="Statements"/>
          <p:cNvSpPr txBox="1"/>
          <p:nvPr/>
        </p:nvSpPr>
        <p:spPr>
          <a:xfrm>
            <a:off x="6720840" y="2514600"/>
            <a:ext cx="4937760" cy="3566160"/>
          </a:xfrm>
          <a:prstGeom prst="rect">
            <a:avLst/>
          </a:prstGeom>
          <a:noFill/>
        </p:spPr>
        <p:txBody>
          <a:bodyPr wrap="square" lIns="0" rIns="0" tIns="0" bIns="0" anchor="t">
            <a:spAutoFit/>
          </a:bodyPr>
          <a:lstStyle/>
          <a:p>
            <a:pPr algn="l">
              <a:lnSpc>
                <a:spcPct val="108000"/>
              </a:lnSpc>
              <a:spcAft>
                <a:spcPts val="1200"/>
              </a:spcAft>
            </a:pPr>
            <a:r>
              <a:rPr sz="1800" b="0" i="0">
                <a:solidFill>
                  <a:srgbClr val="1E2328"/>
                </a:solidFill>
                <a:latin typeface="IBM Plex Sans"/>
              </a:rPr>
              <a:t>SAE features give RSA a </a:t>
            </a:r>
            <a:r>
              <a:rPr sz="1800" b="1" i="0">
                <a:solidFill>
                  <a:srgbClr val="1F6F6B"/>
                </a:solidFill>
                <a:latin typeface="IBM Plex Sans"/>
              </a:rPr>
              <a:t>teacher-free</a:t>
            </a:r>
            <a:r>
              <a:rPr sz="1800" b="0" i="0">
                <a:solidFill>
                  <a:srgbClr val="1E2328"/>
                </a:solidFill>
                <a:latin typeface="IBM Plex Sans"/>
              </a:rPr>
              <a:t> concept vocabulary.</a:t>
            </a:r>
          </a:p>
          <a:p>
            <a:pPr algn="l">
              <a:lnSpc>
                <a:spcPct val="108000"/>
              </a:lnSpc>
              <a:spcAft>
                <a:spcPts val="1200"/>
              </a:spcAft>
            </a:pPr>
            <a:r>
              <a:rPr sz="1800" b="0" i="0">
                <a:solidFill>
                  <a:srgbClr val="1E2328"/>
                </a:solidFill>
                <a:latin typeface="IBM Plex Sans"/>
              </a:rPr>
              <a:t>Jiang et al. use SAE embeddings for data diffing, correlations, clustering and retrieval.</a:t>
            </a:r>
          </a:p>
          <a:p>
            <a:pPr algn="l">
              <a:lnSpc>
                <a:spcPct val="108000"/>
              </a:lnSpc>
              <a:spcAft>
                <a:spcPts val="1200"/>
              </a:spcAft>
            </a:pPr>
            <a:r>
              <a:rPr sz="1800" b="0" i="0">
                <a:solidFill>
                  <a:srgbClr val="1E2328"/>
                </a:solidFill>
                <a:latin typeface="IBM Plex Sans"/>
              </a:rPr>
              <a:t>Park et al. (CL-SR) turn SAE latents into concept-level sparse retrieval.</a:t>
            </a:r>
          </a:p>
          <a:p>
            <a:pPr algn="l">
              <a:lnSpc>
                <a:spcPct val="108000"/>
              </a:lnSpc>
              <a:spcAft>
                <a:spcPts val="1200"/>
              </a:spcAft>
            </a:pPr>
            <a:r>
              <a:rPr sz="1800" b="0" i="0">
                <a:solidFill>
                  <a:srgbClr val="1E2328"/>
                </a:solidFill>
                <a:latin typeface="IBM Plex Sans"/>
              </a:rPr>
              <a:t>Risks we must test: feature absorption, domain shift, extra compute.</a:t>
            </a:r>
          </a:p>
        </p:txBody>
      </p:sp>
      <p:sp>
        <p:nvSpPr>
          <p:cNvPr id="10" name="Footer"/>
          <p:cNvSpPr txBox="1"/>
          <p:nvPr/>
        </p:nvSpPr>
        <p:spPr>
          <a:xfrm>
            <a:off x="548640" y="6309360"/>
            <a:ext cx="10362895" cy="411480"/>
          </a:xfrm>
          <a:prstGeom prst="rect">
            <a:avLst/>
          </a:prstGeom>
          <a:noFill/>
        </p:spPr>
        <p:txBody>
          <a:bodyPr wrap="square" lIns="0" rIns="0" tIns="0" bIns="0" anchor="t">
            <a:spAutoFit/>
          </a:bodyPr>
          <a:lstStyle/>
          <a:p>
            <a:pPr algn="l"/>
            <a:r>
              <a:rPr sz="1200" b="0" i="0">
                <a:solidFill>
                  <a:srgbClr val="5B636B"/>
                </a:solidFill>
                <a:latin typeface="IBM Plex Sans"/>
              </a:rPr>
              <a:t>Jiang et al. (2025) arXiv:2512.10092 · Park et al. (2025) arXiv:2506.00041</a:t>
            </a:r>
          </a:p>
        </p:txBody>
      </p:sp>
      <p:sp>
        <p:nvSpPr>
          <p:cNvPr id="11" name="Page"/>
          <p:cNvSpPr txBox="1"/>
          <p:nvPr/>
        </p:nvSpPr>
        <p:spPr>
          <a:xfrm>
            <a:off x="11094415" y="6309360"/>
            <a:ext cx="548640" cy="274320"/>
          </a:xfrm>
          <a:prstGeom prst="rect">
            <a:avLst/>
          </a:prstGeom>
          <a:noFill/>
        </p:spPr>
        <p:txBody>
          <a:bodyPr wrap="square" lIns="0" rIns="0" tIns="0" bIns="0" anchor="t">
            <a:spAutoFit/>
          </a:bodyPr>
          <a:lstStyle/>
          <a:p>
            <a:pPr algn="r"/>
            <a:r>
              <a:rPr sz="1200" b="0" i="0">
                <a:solidFill>
                  <a:srgbClr val="5B636B"/>
                </a:solidFill>
                <a:latin typeface="IBM Plex San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Kicker"/>
          <p:cNvSpPr txBox="1"/>
          <p:nvPr/>
        </p:nvSpPr>
        <p:spPr>
          <a:xfrm>
            <a:off x="548640" y="384048"/>
            <a:ext cx="11094415" cy="274320"/>
          </a:xfrm>
          <a:prstGeom prst="rect">
            <a:avLst/>
          </a:prstGeom>
          <a:noFill/>
        </p:spPr>
        <p:txBody>
          <a:bodyPr wrap="square" lIns="0" rIns="0" tIns="0" bIns="0" anchor="t">
            <a:spAutoFit/>
          </a:bodyPr>
          <a:lstStyle/>
          <a:p>
            <a:pPr algn="l"/>
            <a:r>
              <a:rPr sz="1300" b="1" i="0" spc="150">
                <a:solidFill>
                  <a:srgbClr val="1F6F6B"/>
                </a:solidFill>
                <a:latin typeface="IBM Plex Sans"/>
              </a:rPr>
              <a:t>SEMANTIC MAPS (MPDM)</a:t>
            </a:r>
          </a:p>
        </p:txBody>
      </p:sp>
      <p:sp>
        <p:nvSpPr>
          <p:cNvPr id="3" name="Title"/>
          <p:cNvSpPr txBox="1"/>
          <p:nvPr/>
        </p:nvSpPr>
        <p:spPr>
          <a:xfrm>
            <a:off x="548640" y="676656"/>
            <a:ext cx="11094415" cy="731520"/>
          </a:xfrm>
          <a:prstGeom prst="rect">
            <a:avLst/>
          </a:prstGeom>
          <a:noFill/>
        </p:spPr>
        <p:txBody>
          <a:bodyPr wrap="square" lIns="0" rIns="0" tIns="0" bIns="0" anchor="t">
            <a:spAutoFit/>
          </a:bodyPr>
          <a:lstStyle/>
          <a:p>
            <a:pPr algn="l"/>
            <a:r>
              <a:rPr sz="2800" b="0" i="0">
                <a:solidFill>
                  <a:srgbClr val="1E2328"/>
                </a:solidFill>
                <a:latin typeface="Libre Baskerville"/>
              </a:rPr>
              <a:t>An LLM designs the axes; probes place the items</a:t>
            </a:r>
          </a:p>
        </p:txBody>
      </p:sp>
      <p:sp>
        <p:nvSpPr>
          <p:cNvPr id="4" name="Rounded Rectangle 3"/>
          <p:cNvSpPr/>
          <p:nvPr/>
        </p:nvSpPr>
        <p:spPr>
          <a:xfrm>
            <a:off x="548640" y="1527048"/>
            <a:ext cx="2651760" cy="1051560"/>
          </a:xfrm>
          <a:prstGeom prst="roundRect">
            <a:avLst>
              <a:gd name="adj" fmla="val 12000"/>
            </a:avLst>
          </a:prstGeom>
          <a:solidFill>
            <a:srgbClr val="FFFDF8"/>
          </a:solidFill>
          <a:ln w="12700">
            <a:solidFill>
              <a:srgbClr val="DDD6C8"/>
            </a:solidFill>
          </a:ln>
        </p:spPr>
        <p:txBody>
          <a:bodyPr rtlCol="0" anchor="ctr" wrap="square" lIns="73152" rIns="73152" tIns="36576" bIns="36576"/>
          <a:lstStyle/>
          <a:p>
            <a:pPr algn="ctr"/>
            <a:r>
              <a:rPr sz="1400" b="1" i="0">
                <a:solidFill>
                  <a:srgbClr val="1E2328"/>
                </a:solidFill>
                <a:latin typeface="IBM Plex Sans"/>
              </a:rPr>
              <a:t>LLM designs axes</a:t>
            </a:r>
          </a:p>
          <a:p>
            <a:pPr algn="ctr"/>
            <a:r>
              <a:rPr sz="1400" b="0" i="0">
                <a:solidFill>
                  <a:srgbClr val="1E2328"/>
                </a:solidFill>
                <a:latin typeface="IBM Plex Sans"/>
              </a:rPr>
              <a:t>formal – casual</a:t>
            </a:r>
          </a:p>
          <a:p>
            <a:pPr algn="ctr"/>
            <a:r>
              <a:rPr sz="1400" b="0" i="0">
                <a:solidFill>
                  <a:srgbClr val="1E2328"/>
                </a:solidFill>
                <a:latin typeface="IBM Plex Sans"/>
              </a:rPr>
              <a:t>minimal – ornate</a:t>
            </a:r>
          </a:p>
        </p:txBody>
      </p:sp>
      <p:sp>
        <p:nvSpPr>
          <p:cNvPr id="5" name="Rounded Rectangle 4"/>
          <p:cNvSpPr/>
          <p:nvPr/>
        </p:nvSpPr>
        <p:spPr>
          <a:xfrm>
            <a:off x="548640" y="2898648"/>
            <a:ext cx="2651760" cy="1051560"/>
          </a:xfrm>
          <a:prstGeom prst="roundRect">
            <a:avLst>
              <a:gd name="adj" fmla="val 12000"/>
            </a:avLst>
          </a:prstGeom>
          <a:solidFill>
            <a:srgbClr val="FFFDF8"/>
          </a:solidFill>
          <a:ln w="12700">
            <a:solidFill>
              <a:srgbClr val="DDD6C8"/>
            </a:solidFill>
          </a:ln>
        </p:spPr>
        <p:txBody>
          <a:bodyPr rtlCol="0" anchor="ctr" wrap="square" lIns="73152" rIns="73152" tIns="36576" bIns="36576"/>
          <a:lstStyle/>
          <a:p>
            <a:pPr algn="ctr"/>
            <a:r>
              <a:rPr sz="1400" b="1" i="0">
                <a:solidFill>
                  <a:srgbClr val="1E2328"/>
                </a:solidFill>
                <a:latin typeface="IBM Plex Sans"/>
              </a:rPr>
              <a:t>Linear probe per axis</a:t>
            </a:r>
          </a:p>
          <a:p>
            <a:pPr algn="ctr"/>
            <a:r>
              <a:rPr sz="1400" b="0" i="0">
                <a:solidFill>
                  <a:srgbClr val="1E2328"/>
                </a:solidFill>
                <a:latin typeface="IBM Plex Sans"/>
              </a:rPr>
              <a:t>σ(wₖᵀx + bₖ) on item embeddings</a:t>
            </a:r>
          </a:p>
        </p:txBody>
      </p:sp>
      <p:cxnSp>
        <p:nvCxnSpPr>
          <p:cNvPr id="6" name="Connector 5"/>
          <p:cNvCxnSpPr>
            <a:stCxn id="4" idx="2"/>
            <a:endCxn id="5" idx="0"/>
          </p:cNvCxnSpPr>
          <p:nvPr/>
        </p:nvCxnSpPr>
        <p:spPr>
          <a:xfrm flipH="1">
            <a:off x="1874520" y="2578608"/>
            <a:ext cx="0" cy="320040"/>
          </a:xfrm>
          <a:prstGeom prst="line">
            <a:avLst/>
          </a:prstGeom>
          <a:ln w="19050">
            <a:solidFill>
              <a:srgbClr val="5B636B"/>
            </a:solidFill>
            <a:tailEnd type="triangle" w="med" len="med"/>
          </a:ln>
        </p:spPr>
      </p:cxnSp>
      <p:sp>
        <p:nvSpPr>
          <p:cNvPr id="7" name="Rounded Rectangle 6"/>
          <p:cNvSpPr/>
          <p:nvPr/>
        </p:nvSpPr>
        <p:spPr>
          <a:xfrm>
            <a:off x="548640" y="4270248"/>
            <a:ext cx="2651760" cy="1051560"/>
          </a:xfrm>
          <a:prstGeom prst="roundRect">
            <a:avLst>
              <a:gd name="adj" fmla="val 12000"/>
            </a:avLst>
          </a:prstGeom>
          <a:solidFill>
            <a:srgbClr val="FFFDF8"/>
          </a:solidFill>
          <a:ln w="12700">
            <a:solidFill>
              <a:srgbClr val="DDD6C8"/>
            </a:solidFill>
          </a:ln>
        </p:spPr>
        <p:txBody>
          <a:bodyPr rtlCol="0" anchor="ctr" wrap="square" lIns="73152" rIns="73152" tIns="36576" bIns="36576"/>
          <a:lstStyle/>
          <a:p>
            <a:pPr algn="ctr"/>
            <a:r>
              <a:rPr sz="1400" b="1" i="0">
                <a:solidFill>
                  <a:srgbClr val="1E2328"/>
                </a:solidFill>
                <a:latin typeface="IBM Plex Sans"/>
              </a:rPr>
              <a:t>Rank transform</a:t>
            </a:r>
          </a:p>
          <a:p>
            <a:pPr algn="ctr"/>
            <a:r>
              <a:rPr sz="1400" b="0" i="0">
                <a:solidFill>
                  <a:srgbClr val="1E2328"/>
                </a:solidFill>
                <a:latin typeface="IBM Plex Sans"/>
              </a:rPr>
              <a:t>even density on each axis</a:t>
            </a:r>
          </a:p>
        </p:txBody>
      </p:sp>
      <p:cxnSp>
        <p:nvCxnSpPr>
          <p:cNvPr id="8" name="Connector 7"/>
          <p:cNvCxnSpPr>
            <a:stCxn id="5" idx="2"/>
            <a:endCxn id="7" idx="0"/>
          </p:cNvCxnSpPr>
          <p:nvPr/>
        </p:nvCxnSpPr>
        <p:spPr>
          <a:xfrm flipH="1">
            <a:off x="1874520" y="3950208"/>
            <a:ext cx="0" cy="320040"/>
          </a:xfrm>
          <a:prstGeom prst="line">
            <a:avLst/>
          </a:prstGeom>
          <a:ln w="19050">
            <a:solidFill>
              <a:srgbClr val="5B636B"/>
            </a:solidFill>
            <a:tailEnd type="triangle" w="med" len="med"/>
          </a:ln>
        </p:spPr>
      </p:cxnSp>
      <p:sp>
        <p:nvSpPr>
          <p:cNvPr id="9" name="Rectangle 8"/>
          <p:cNvSpPr/>
          <p:nvPr/>
        </p:nvSpPr>
        <p:spPr>
          <a:xfrm>
            <a:off x="3703320" y="1527048"/>
            <a:ext cx="2926080" cy="2926080"/>
          </a:xfrm>
          <a:prstGeom prst="rect">
            <a:avLst/>
          </a:prstGeom>
          <a:solidFill>
            <a:srgbClr val="FFFDF8"/>
          </a:solidFill>
          <a:ln w="12700">
            <a:solidFill>
              <a:srgbClr val="DDD6C8"/>
            </a:solidFill>
          </a:ln>
        </p:spPr>
        <p:txBody>
          <a:bodyPr rtlCol="0" anchor="ctr" wrap="square" lIns="73152" rIns="73152" tIns="36576" bIns="36576"/>
          <a:lstStyle/>
          <a:p>
            <a:pPr algn="ctr"/>
          </a:p>
        </p:txBody>
      </p:sp>
      <p:cxnSp>
        <p:nvCxnSpPr>
          <p:cNvPr id="10" name="Connector 9"/>
          <p:cNvCxnSpPr>
            <a:stCxn id="7" idx="3"/>
            <a:endCxn id="9" idx="1"/>
          </p:cNvCxnSpPr>
          <p:nvPr/>
        </p:nvCxnSpPr>
        <p:spPr>
          <a:xfrm flipV="1">
            <a:off x="3200400" y="2990088"/>
            <a:ext cx="502920" cy="1805940"/>
          </a:xfrm>
          <a:prstGeom prst="line">
            <a:avLst/>
          </a:prstGeom>
          <a:ln w="19050">
            <a:solidFill>
              <a:srgbClr val="5B636B"/>
            </a:solidFill>
            <a:tailEnd type="triangle" w="med" len="med"/>
          </a:ln>
        </p:spPr>
      </p:cxnSp>
      <p:sp>
        <p:nvSpPr>
          <p:cNvPr id="11" name="Oval 10"/>
          <p:cNvSpPr/>
          <p:nvPr/>
        </p:nvSpPr>
        <p:spPr>
          <a:xfrm>
            <a:off x="3900328" y="1778199"/>
            <a:ext cx="82296" cy="82296"/>
          </a:xfrm>
          <a:prstGeom prst="ellipse">
            <a:avLst/>
          </a:prstGeom>
          <a:solidFill>
            <a:srgbClr val="1F6F6B"/>
          </a:solidFill>
          <a:ln>
            <a:noFill/>
          </a:ln>
        </p:spPr>
        <p:txBody>
          <a:bodyPr rtlCol="0" anchor="ctr" wrap="square" lIns="73152" rIns="73152" tIns="36576" bIns="36576"/>
          <a:lstStyle/>
          <a:p>
            <a:pPr algn="ctr"/>
          </a:p>
        </p:txBody>
      </p:sp>
      <p:sp>
        <p:nvSpPr>
          <p:cNvPr id="12" name="Oval 11"/>
          <p:cNvSpPr/>
          <p:nvPr/>
        </p:nvSpPr>
        <p:spPr>
          <a:xfrm>
            <a:off x="4218302" y="1788751"/>
            <a:ext cx="82296" cy="82296"/>
          </a:xfrm>
          <a:prstGeom prst="ellipse">
            <a:avLst/>
          </a:prstGeom>
          <a:solidFill>
            <a:srgbClr val="1F6F6B"/>
          </a:solidFill>
          <a:ln>
            <a:noFill/>
          </a:ln>
        </p:spPr>
        <p:txBody>
          <a:bodyPr rtlCol="0" anchor="ctr" wrap="square" lIns="73152" rIns="73152" tIns="36576" bIns="36576"/>
          <a:lstStyle/>
          <a:p>
            <a:pPr algn="ctr"/>
          </a:p>
        </p:txBody>
      </p:sp>
      <p:sp>
        <p:nvSpPr>
          <p:cNvPr id="13" name="Oval 12"/>
          <p:cNvSpPr/>
          <p:nvPr/>
        </p:nvSpPr>
        <p:spPr>
          <a:xfrm>
            <a:off x="4558157" y="1693572"/>
            <a:ext cx="82296" cy="82296"/>
          </a:xfrm>
          <a:prstGeom prst="ellipse">
            <a:avLst/>
          </a:prstGeom>
          <a:solidFill>
            <a:srgbClr val="1F6F6B"/>
          </a:solidFill>
          <a:ln>
            <a:noFill/>
          </a:ln>
        </p:spPr>
        <p:txBody>
          <a:bodyPr rtlCol="0" anchor="ctr" wrap="square" lIns="73152" rIns="73152" tIns="36576" bIns="36576"/>
          <a:lstStyle/>
          <a:p>
            <a:pPr algn="ctr"/>
          </a:p>
        </p:txBody>
      </p:sp>
      <p:sp>
        <p:nvSpPr>
          <p:cNvPr id="14" name="Oval 13"/>
          <p:cNvSpPr/>
          <p:nvPr/>
        </p:nvSpPr>
        <p:spPr>
          <a:xfrm>
            <a:off x="4744507" y="1830039"/>
            <a:ext cx="82296" cy="82296"/>
          </a:xfrm>
          <a:prstGeom prst="ellipse">
            <a:avLst/>
          </a:prstGeom>
          <a:solidFill>
            <a:srgbClr val="1F6F6B"/>
          </a:solidFill>
          <a:ln>
            <a:noFill/>
          </a:ln>
        </p:spPr>
        <p:txBody>
          <a:bodyPr rtlCol="0" anchor="ctr" wrap="square" lIns="73152" rIns="73152" tIns="36576" bIns="36576"/>
          <a:lstStyle/>
          <a:p>
            <a:pPr algn="ctr"/>
          </a:p>
        </p:txBody>
      </p:sp>
      <p:sp>
        <p:nvSpPr>
          <p:cNvPr id="15" name="Oval 14"/>
          <p:cNvSpPr/>
          <p:nvPr/>
        </p:nvSpPr>
        <p:spPr>
          <a:xfrm>
            <a:off x="5082669" y="1723413"/>
            <a:ext cx="82296" cy="82296"/>
          </a:xfrm>
          <a:prstGeom prst="ellipse">
            <a:avLst/>
          </a:prstGeom>
          <a:solidFill>
            <a:srgbClr val="1F6F6B"/>
          </a:solidFill>
          <a:ln>
            <a:noFill/>
          </a:ln>
        </p:spPr>
        <p:txBody>
          <a:bodyPr rtlCol="0" anchor="ctr" wrap="square" lIns="73152" rIns="73152" tIns="36576" bIns="36576"/>
          <a:lstStyle/>
          <a:p>
            <a:pPr algn="ctr"/>
          </a:p>
        </p:txBody>
      </p:sp>
      <p:sp>
        <p:nvSpPr>
          <p:cNvPr id="16" name="Oval 15"/>
          <p:cNvSpPr/>
          <p:nvPr/>
        </p:nvSpPr>
        <p:spPr>
          <a:xfrm>
            <a:off x="5507474" y="1765123"/>
            <a:ext cx="82296" cy="82296"/>
          </a:xfrm>
          <a:prstGeom prst="ellipse">
            <a:avLst/>
          </a:prstGeom>
          <a:solidFill>
            <a:srgbClr val="1F6F6B"/>
          </a:solidFill>
          <a:ln>
            <a:noFill/>
          </a:ln>
        </p:spPr>
        <p:txBody>
          <a:bodyPr rtlCol="0" anchor="ctr" wrap="square" lIns="73152" rIns="73152" tIns="36576" bIns="36576"/>
          <a:lstStyle/>
          <a:p>
            <a:pPr algn="ctr"/>
          </a:p>
        </p:txBody>
      </p:sp>
      <p:sp>
        <p:nvSpPr>
          <p:cNvPr id="17" name="Oval 16"/>
          <p:cNvSpPr/>
          <p:nvPr/>
        </p:nvSpPr>
        <p:spPr>
          <a:xfrm>
            <a:off x="5773973" y="1766199"/>
            <a:ext cx="82296" cy="82296"/>
          </a:xfrm>
          <a:prstGeom prst="ellipse">
            <a:avLst/>
          </a:prstGeom>
          <a:solidFill>
            <a:srgbClr val="1F6F6B"/>
          </a:solidFill>
          <a:ln>
            <a:noFill/>
          </a:ln>
        </p:spPr>
        <p:txBody>
          <a:bodyPr rtlCol="0" anchor="ctr" wrap="square" lIns="73152" rIns="73152" tIns="36576" bIns="36576"/>
          <a:lstStyle/>
          <a:p>
            <a:pPr algn="ctr"/>
          </a:p>
        </p:txBody>
      </p:sp>
      <p:sp>
        <p:nvSpPr>
          <p:cNvPr id="18" name="Oval 17"/>
          <p:cNvSpPr/>
          <p:nvPr/>
        </p:nvSpPr>
        <p:spPr>
          <a:xfrm>
            <a:off x="6033717" y="1708614"/>
            <a:ext cx="82296" cy="82296"/>
          </a:xfrm>
          <a:prstGeom prst="ellipse">
            <a:avLst/>
          </a:prstGeom>
          <a:solidFill>
            <a:srgbClr val="1F6F6B"/>
          </a:solidFill>
          <a:ln>
            <a:noFill/>
          </a:ln>
        </p:spPr>
        <p:txBody>
          <a:bodyPr rtlCol="0" anchor="ctr" wrap="square" lIns="73152" rIns="73152" tIns="36576" bIns="36576"/>
          <a:lstStyle/>
          <a:p>
            <a:pPr algn="ctr"/>
          </a:p>
        </p:txBody>
      </p:sp>
      <p:sp>
        <p:nvSpPr>
          <p:cNvPr id="19" name="Oval 18"/>
          <p:cNvSpPr/>
          <p:nvPr/>
        </p:nvSpPr>
        <p:spPr>
          <a:xfrm>
            <a:off x="6327613" y="1835444"/>
            <a:ext cx="82296" cy="82296"/>
          </a:xfrm>
          <a:prstGeom prst="ellipse">
            <a:avLst/>
          </a:prstGeom>
          <a:solidFill>
            <a:srgbClr val="1F6F6B"/>
          </a:solidFill>
          <a:ln>
            <a:noFill/>
          </a:ln>
        </p:spPr>
        <p:txBody>
          <a:bodyPr rtlCol="0" anchor="ctr" wrap="square" lIns="73152" rIns="73152" tIns="36576" bIns="36576"/>
          <a:lstStyle/>
          <a:p>
            <a:pPr algn="ctr"/>
          </a:p>
        </p:txBody>
      </p:sp>
      <p:sp>
        <p:nvSpPr>
          <p:cNvPr id="20" name="Oval 19"/>
          <p:cNvSpPr/>
          <p:nvPr/>
        </p:nvSpPr>
        <p:spPr>
          <a:xfrm>
            <a:off x="3950750" y="2107669"/>
            <a:ext cx="82296" cy="82296"/>
          </a:xfrm>
          <a:prstGeom prst="ellipse">
            <a:avLst/>
          </a:prstGeom>
          <a:solidFill>
            <a:srgbClr val="1F6F6B"/>
          </a:solidFill>
          <a:ln>
            <a:noFill/>
          </a:ln>
        </p:spPr>
        <p:txBody>
          <a:bodyPr rtlCol="0" anchor="ctr" wrap="square" lIns="73152" rIns="73152" tIns="36576" bIns="36576"/>
          <a:lstStyle/>
          <a:p>
            <a:pPr algn="ctr"/>
          </a:p>
        </p:txBody>
      </p:sp>
      <p:sp>
        <p:nvSpPr>
          <p:cNvPr id="21" name="Oval 20"/>
          <p:cNvSpPr/>
          <p:nvPr/>
        </p:nvSpPr>
        <p:spPr>
          <a:xfrm>
            <a:off x="4271594" y="1987947"/>
            <a:ext cx="82296" cy="82296"/>
          </a:xfrm>
          <a:prstGeom prst="ellipse">
            <a:avLst/>
          </a:prstGeom>
          <a:solidFill>
            <a:srgbClr val="1F6F6B"/>
          </a:solidFill>
          <a:ln>
            <a:noFill/>
          </a:ln>
        </p:spPr>
        <p:txBody>
          <a:bodyPr rtlCol="0" anchor="ctr" wrap="square" lIns="73152" rIns="73152" tIns="36576" bIns="36576"/>
          <a:lstStyle/>
          <a:p>
            <a:pPr algn="ctr"/>
          </a:p>
        </p:txBody>
      </p:sp>
      <p:sp>
        <p:nvSpPr>
          <p:cNvPr id="22" name="Oval 21"/>
          <p:cNvSpPr/>
          <p:nvPr/>
        </p:nvSpPr>
        <p:spPr>
          <a:xfrm>
            <a:off x="4581582" y="2081124"/>
            <a:ext cx="82296" cy="82296"/>
          </a:xfrm>
          <a:prstGeom prst="ellipse">
            <a:avLst/>
          </a:prstGeom>
          <a:solidFill>
            <a:srgbClr val="1F6F6B"/>
          </a:solidFill>
          <a:ln>
            <a:noFill/>
          </a:ln>
        </p:spPr>
        <p:txBody>
          <a:bodyPr rtlCol="0" anchor="ctr" wrap="square" lIns="73152" rIns="73152" tIns="36576" bIns="36576"/>
          <a:lstStyle/>
          <a:p>
            <a:pPr algn="ctr"/>
          </a:p>
        </p:txBody>
      </p:sp>
      <p:sp>
        <p:nvSpPr>
          <p:cNvPr id="23" name="Oval 22"/>
          <p:cNvSpPr/>
          <p:nvPr/>
        </p:nvSpPr>
        <p:spPr>
          <a:xfrm>
            <a:off x="4795439" y="1982110"/>
            <a:ext cx="82296" cy="82296"/>
          </a:xfrm>
          <a:prstGeom prst="ellipse">
            <a:avLst/>
          </a:prstGeom>
          <a:solidFill>
            <a:srgbClr val="1F6F6B"/>
          </a:solidFill>
          <a:ln>
            <a:noFill/>
          </a:ln>
        </p:spPr>
        <p:txBody>
          <a:bodyPr rtlCol="0" anchor="ctr" wrap="square" lIns="73152" rIns="73152" tIns="36576" bIns="36576"/>
          <a:lstStyle/>
          <a:p>
            <a:pPr algn="ctr"/>
          </a:p>
        </p:txBody>
      </p:sp>
      <p:sp>
        <p:nvSpPr>
          <p:cNvPr id="24" name="Oval 23"/>
          <p:cNvSpPr/>
          <p:nvPr/>
        </p:nvSpPr>
        <p:spPr>
          <a:xfrm>
            <a:off x="5189831" y="2060202"/>
            <a:ext cx="82296" cy="82296"/>
          </a:xfrm>
          <a:prstGeom prst="ellipse">
            <a:avLst/>
          </a:prstGeom>
          <a:solidFill>
            <a:srgbClr val="1F6F6B"/>
          </a:solidFill>
          <a:ln>
            <a:noFill/>
          </a:ln>
        </p:spPr>
        <p:txBody>
          <a:bodyPr rtlCol="0" anchor="ctr" wrap="square" lIns="73152" rIns="73152" tIns="36576" bIns="36576"/>
          <a:lstStyle/>
          <a:p>
            <a:pPr algn="ctr"/>
          </a:p>
        </p:txBody>
      </p:sp>
      <p:sp>
        <p:nvSpPr>
          <p:cNvPr id="25" name="Oval 24"/>
          <p:cNvSpPr/>
          <p:nvPr/>
        </p:nvSpPr>
        <p:spPr>
          <a:xfrm>
            <a:off x="5458536" y="2131988"/>
            <a:ext cx="82296" cy="82296"/>
          </a:xfrm>
          <a:prstGeom prst="ellipse">
            <a:avLst/>
          </a:prstGeom>
          <a:solidFill>
            <a:srgbClr val="1F6F6B"/>
          </a:solidFill>
          <a:ln>
            <a:noFill/>
          </a:ln>
        </p:spPr>
        <p:txBody>
          <a:bodyPr rtlCol="0" anchor="ctr" wrap="square" lIns="73152" rIns="73152" tIns="36576" bIns="36576"/>
          <a:lstStyle/>
          <a:p>
            <a:pPr algn="ctr"/>
          </a:p>
        </p:txBody>
      </p:sp>
      <p:sp>
        <p:nvSpPr>
          <p:cNvPr id="26" name="Oval 25"/>
          <p:cNvSpPr/>
          <p:nvPr/>
        </p:nvSpPr>
        <p:spPr>
          <a:xfrm>
            <a:off x="5752346" y="2139463"/>
            <a:ext cx="82296" cy="82296"/>
          </a:xfrm>
          <a:prstGeom prst="ellipse">
            <a:avLst/>
          </a:prstGeom>
          <a:solidFill>
            <a:srgbClr val="1F6F6B"/>
          </a:solidFill>
          <a:ln>
            <a:noFill/>
          </a:ln>
        </p:spPr>
        <p:txBody>
          <a:bodyPr rtlCol="0" anchor="ctr" wrap="square" lIns="73152" rIns="73152" tIns="36576" bIns="36576"/>
          <a:lstStyle/>
          <a:p>
            <a:pPr algn="ctr"/>
          </a:p>
        </p:txBody>
      </p:sp>
      <p:sp>
        <p:nvSpPr>
          <p:cNvPr id="27" name="Oval 26"/>
          <p:cNvSpPr/>
          <p:nvPr/>
        </p:nvSpPr>
        <p:spPr>
          <a:xfrm>
            <a:off x="5990563" y="2118215"/>
            <a:ext cx="82296" cy="82296"/>
          </a:xfrm>
          <a:prstGeom prst="ellipse">
            <a:avLst/>
          </a:prstGeom>
          <a:solidFill>
            <a:srgbClr val="1F6F6B"/>
          </a:solidFill>
          <a:ln>
            <a:noFill/>
          </a:ln>
        </p:spPr>
        <p:txBody>
          <a:bodyPr rtlCol="0" anchor="ctr" wrap="square" lIns="73152" rIns="73152" tIns="36576" bIns="36576"/>
          <a:lstStyle/>
          <a:p>
            <a:pPr algn="ctr"/>
          </a:p>
        </p:txBody>
      </p:sp>
      <p:sp>
        <p:nvSpPr>
          <p:cNvPr id="28" name="Oval 27"/>
          <p:cNvSpPr/>
          <p:nvPr/>
        </p:nvSpPr>
        <p:spPr>
          <a:xfrm>
            <a:off x="6293981" y="2142024"/>
            <a:ext cx="82296" cy="82296"/>
          </a:xfrm>
          <a:prstGeom prst="ellipse">
            <a:avLst/>
          </a:prstGeom>
          <a:solidFill>
            <a:srgbClr val="1F6F6B"/>
          </a:solidFill>
          <a:ln>
            <a:noFill/>
          </a:ln>
        </p:spPr>
        <p:txBody>
          <a:bodyPr rtlCol="0" anchor="ctr" wrap="square" lIns="73152" rIns="73152" tIns="36576" bIns="36576"/>
          <a:lstStyle/>
          <a:p>
            <a:pPr algn="ctr"/>
          </a:p>
        </p:txBody>
      </p:sp>
      <p:sp>
        <p:nvSpPr>
          <p:cNvPr id="29" name="Oval 28"/>
          <p:cNvSpPr/>
          <p:nvPr/>
        </p:nvSpPr>
        <p:spPr>
          <a:xfrm>
            <a:off x="4013629" y="2288496"/>
            <a:ext cx="82296" cy="82296"/>
          </a:xfrm>
          <a:prstGeom prst="ellipse">
            <a:avLst/>
          </a:prstGeom>
          <a:solidFill>
            <a:srgbClr val="1F6F6B"/>
          </a:solidFill>
          <a:ln>
            <a:noFill/>
          </a:ln>
        </p:spPr>
        <p:txBody>
          <a:bodyPr rtlCol="0" anchor="ctr" wrap="square" lIns="73152" rIns="73152" tIns="36576" bIns="36576"/>
          <a:lstStyle/>
          <a:p>
            <a:pPr algn="ctr"/>
          </a:p>
        </p:txBody>
      </p:sp>
      <p:sp>
        <p:nvSpPr>
          <p:cNvPr id="30" name="Oval 29"/>
          <p:cNvSpPr/>
          <p:nvPr/>
        </p:nvSpPr>
        <p:spPr>
          <a:xfrm>
            <a:off x="4176937" y="2309627"/>
            <a:ext cx="82296" cy="82296"/>
          </a:xfrm>
          <a:prstGeom prst="ellipse">
            <a:avLst/>
          </a:prstGeom>
          <a:solidFill>
            <a:srgbClr val="1F6F6B"/>
          </a:solidFill>
          <a:ln>
            <a:noFill/>
          </a:ln>
        </p:spPr>
        <p:txBody>
          <a:bodyPr rtlCol="0" anchor="ctr" wrap="square" lIns="73152" rIns="73152" tIns="36576" bIns="36576"/>
          <a:lstStyle/>
          <a:p>
            <a:pPr algn="ctr"/>
          </a:p>
        </p:txBody>
      </p:sp>
      <p:sp>
        <p:nvSpPr>
          <p:cNvPr id="31" name="Oval 30"/>
          <p:cNvSpPr/>
          <p:nvPr/>
        </p:nvSpPr>
        <p:spPr>
          <a:xfrm>
            <a:off x="4618221" y="2348374"/>
            <a:ext cx="82296" cy="82296"/>
          </a:xfrm>
          <a:prstGeom prst="ellipse">
            <a:avLst/>
          </a:prstGeom>
          <a:solidFill>
            <a:srgbClr val="1F6F6B"/>
          </a:solidFill>
          <a:ln>
            <a:noFill/>
          </a:ln>
        </p:spPr>
        <p:txBody>
          <a:bodyPr rtlCol="0" anchor="ctr" wrap="square" lIns="73152" rIns="73152" tIns="36576" bIns="36576"/>
          <a:lstStyle/>
          <a:p>
            <a:pPr algn="ctr"/>
          </a:p>
        </p:txBody>
      </p:sp>
      <p:sp>
        <p:nvSpPr>
          <p:cNvPr id="32" name="Oval 31"/>
          <p:cNvSpPr/>
          <p:nvPr/>
        </p:nvSpPr>
        <p:spPr>
          <a:xfrm>
            <a:off x="4852961" y="2324484"/>
            <a:ext cx="82296" cy="82296"/>
          </a:xfrm>
          <a:prstGeom prst="ellipse">
            <a:avLst/>
          </a:prstGeom>
          <a:solidFill>
            <a:srgbClr val="1F6F6B"/>
          </a:solidFill>
          <a:ln>
            <a:noFill/>
          </a:ln>
        </p:spPr>
        <p:txBody>
          <a:bodyPr rtlCol="0" anchor="ctr" wrap="square" lIns="73152" rIns="73152" tIns="36576" bIns="36576"/>
          <a:lstStyle/>
          <a:p>
            <a:pPr algn="ctr"/>
          </a:p>
        </p:txBody>
      </p:sp>
      <p:sp>
        <p:nvSpPr>
          <p:cNvPr id="33" name="Oval 32"/>
          <p:cNvSpPr/>
          <p:nvPr/>
        </p:nvSpPr>
        <p:spPr>
          <a:xfrm>
            <a:off x="5126492" y="2339482"/>
            <a:ext cx="82296" cy="82296"/>
          </a:xfrm>
          <a:prstGeom prst="ellipse">
            <a:avLst/>
          </a:prstGeom>
          <a:solidFill>
            <a:srgbClr val="1F6F6B"/>
          </a:solidFill>
          <a:ln>
            <a:noFill/>
          </a:ln>
        </p:spPr>
        <p:txBody>
          <a:bodyPr rtlCol="0" anchor="ctr" wrap="square" lIns="73152" rIns="73152" tIns="36576" bIns="36576"/>
          <a:lstStyle/>
          <a:p>
            <a:pPr algn="ctr"/>
          </a:p>
        </p:txBody>
      </p:sp>
      <p:sp>
        <p:nvSpPr>
          <p:cNvPr id="34" name="Oval 33"/>
          <p:cNvSpPr/>
          <p:nvPr/>
        </p:nvSpPr>
        <p:spPr>
          <a:xfrm>
            <a:off x="5393495" y="2374699"/>
            <a:ext cx="82296" cy="82296"/>
          </a:xfrm>
          <a:prstGeom prst="ellipse">
            <a:avLst/>
          </a:prstGeom>
          <a:solidFill>
            <a:srgbClr val="1F6F6B"/>
          </a:solidFill>
          <a:ln>
            <a:noFill/>
          </a:ln>
        </p:spPr>
        <p:txBody>
          <a:bodyPr rtlCol="0" anchor="ctr" wrap="square" lIns="73152" rIns="73152" tIns="36576" bIns="36576"/>
          <a:lstStyle/>
          <a:p>
            <a:pPr algn="ctr"/>
          </a:p>
        </p:txBody>
      </p:sp>
      <p:sp>
        <p:nvSpPr>
          <p:cNvPr id="35" name="Oval 34"/>
          <p:cNvSpPr/>
          <p:nvPr/>
        </p:nvSpPr>
        <p:spPr>
          <a:xfrm>
            <a:off x="5729386" y="2431116"/>
            <a:ext cx="82296" cy="82296"/>
          </a:xfrm>
          <a:prstGeom prst="ellipse">
            <a:avLst/>
          </a:prstGeom>
          <a:solidFill>
            <a:srgbClr val="1F6F6B"/>
          </a:solidFill>
          <a:ln>
            <a:noFill/>
          </a:ln>
        </p:spPr>
        <p:txBody>
          <a:bodyPr rtlCol="0" anchor="ctr" wrap="square" lIns="73152" rIns="73152" tIns="36576" bIns="36576"/>
          <a:lstStyle/>
          <a:p>
            <a:pPr algn="ctr"/>
          </a:p>
        </p:txBody>
      </p:sp>
      <p:sp>
        <p:nvSpPr>
          <p:cNvPr id="36" name="Oval 35"/>
          <p:cNvSpPr/>
          <p:nvPr/>
        </p:nvSpPr>
        <p:spPr>
          <a:xfrm>
            <a:off x="6041303" y="2435490"/>
            <a:ext cx="82296" cy="82296"/>
          </a:xfrm>
          <a:prstGeom prst="ellipse">
            <a:avLst/>
          </a:prstGeom>
          <a:solidFill>
            <a:srgbClr val="1F6F6B"/>
          </a:solidFill>
          <a:ln>
            <a:noFill/>
          </a:ln>
        </p:spPr>
        <p:txBody>
          <a:bodyPr rtlCol="0" anchor="ctr" wrap="square" lIns="73152" rIns="73152" tIns="36576" bIns="36576"/>
          <a:lstStyle/>
          <a:p>
            <a:pPr algn="ctr"/>
          </a:p>
        </p:txBody>
      </p:sp>
      <p:sp>
        <p:nvSpPr>
          <p:cNvPr id="37" name="Oval 36"/>
          <p:cNvSpPr/>
          <p:nvPr/>
        </p:nvSpPr>
        <p:spPr>
          <a:xfrm>
            <a:off x="6366777" y="2446459"/>
            <a:ext cx="82296" cy="82296"/>
          </a:xfrm>
          <a:prstGeom prst="ellipse">
            <a:avLst/>
          </a:prstGeom>
          <a:solidFill>
            <a:srgbClr val="1F6F6B"/>
          </a:solidFill>
          <a:ln>
            <a:noFill/>
          </a:ln>
        </p:spPr>
        <p:txBody>
          <a:bodyPr rtlCol="0" anchor="ctr" wrap="square" lIns="73152" rIns="73152" tIns="36576" bIns="36576"/>
          <a:lstStyle/>
          <a:p>
            <a:pPr algn="ctr"/>
          </a:p>
        </p:txBody>
      </p:sp>
      <p:sp>
        <p:nvSpPr>
          <p:cNvPr id="38" name="Oval 37"/>
          <p:cNvSpPr/>
          <p:nvPr/>
        </p:nvSpPr>
        <p:spPr>
          <a:xfrm>
            <a:off x="3976930" y="2594741"/>
            <a:ext cx="82296" cy="82296"/>
          </a:xfrm>
          <a:prstGeom prst="ellipse">
            <a:avLst/>
          </a:prstGeom>
          <a:solidFill>
            <a:srgbClr val="1F6F6B"/>
          </a:solidFill>
          <a:ln>
            <a:noFill/>
          </a:ln>
        </p:spPr>
        <p:txBody>
          <a:bodyPr rtlCol="0" anchor="ctr" wrap="square" lIns="73152" rIns="73152" tIns="36576" bIns="36576"/>
          <a:lstStyle/>
          <a:p>
            <a:pPr algn="ctr"/>
          </a:p>
        </p:txBody>
      </p:sp>
      <p:sp>
        <p:nvSpPr>
          <p:cNvPr id="39" name="Oval 38"/>
          <p:cNvSpPr/>
          <p:nvPr/>
        </p:nvSpPr>
        <p:spPr>
          <a:xfrm>
            <a:off x="4305046" y="2736439"/>
            <a:ext cx="82296" cy="82296"/>
          </a:xfrm>
          <a:prstGeom prst="ellipse">
            <a:avLst/>
          </a:prstGeom>
          <a:solidFill>
            <a:srgbClr val="1F6F6B"/>
          </a:solidFill>
          <a:ln>
            <a:noFill/>
          </a:ln>
        </p:spPr>
        <p:txBody>
          <a:bodyPr rtlCol="0" anchor="ctr" wrap="square" lIns="73152" rIns="73152" tIns="36576" bIns="36576"/>
          <a:lstStyle/>
          <a:p>
            <a:pPr algn="ctr"/>
          </a:p>
        </p:txBody>
      </p:sp>
      <p:sp>
        <p:nvSpPr>
          <p:cNvPr id="40" name="Oval 39"/>
          <p:cNvSpPr/>
          <p:nvPr/>
        </p:nvSpPr>
        <p:spPr>
          <a:xfrm>
            <a:off x="4607475" y="2666517"/>
            <a:ext cx="82296" cy="82296"/>
          </a:xfrm>
          <a:prstGeom prst="ellipse">
            <a:avLst/>
          </a:prstGeom>
          <a:solidFill>
            <a:srgbClr val="1F6F6B"/>
          </a:solidFill>
          <a:ln>
            <a:noFill/>
          </a:ln>
        </p:spPr>
        <p:txBody>
          <a:bodyPr rtlCol="0" anchor="ctr" wrap="square" lIns="73152" rIns="73152" tIns="36576" bIns="36576"/>
          <a:lstStyle/>
          <a:p>
            <a:pPr algn="ctr"/>
          </a:p>
        </p:txBody>
      </p:sp>
      <p:sp>
        <p:nvSpPr>
          <p:cNvPr id="41" name="Oval 40"/>
          <p:cNvSpPr/>
          <p:nvPr/>
        </p:nvSpPr>
        <p:spPr>
          <a:xfrm>
            <a:off x="4868371" y="2603231"/>
            <a:ext cx="82296" cy="82296"/>
          </a:xfrm>
          <a:prstGeom prst="ellipse">
            <a:avLst/>
          </a:prstGeom>
          <a:solidFill>
            <a:srgbClr val="1F6F6B"/>
          </a:solidFill>
          <a:ln>
            <a:noFill/>
          </a:ln>
        </p:spPr>
        <p:txBody>
          <a:bodyPr rtlCol="0" anchor="ctr" wrap="square" lIns="73152" rIns="73152" tIns="36576" bIns="36576"/>
          <a:lstStyle/>
          <a:p>
            <a:pPr algn="ctr"/>
          </a:p>
        </p:txBody>
      </p:sp>
      <p:sp>
        <p:nvSpPr>
          <p:cNvPr id="42" name="Oval 41"/>
          <p:cNvSpPr/>
          <p:nvPr/>
        </p:nvSpPr>
        <p:spPr>
          <a:xfrm>
            <a:off x="5183834" y="2667299"/>
            <a:ext cx="82296" cy="82296"/>
          </a:xfrm>
          <a:prstGeom prst="ellipse">
            <a:avLst/>
          </a:prstGeom>
          <a:solidFill>
            <a:srgbClr val="1F6F6B"/>
          </a:solidFill>
          <a:ln>
            <a:noFill/>
          </a:ln>
        </p:spPr>
        <p:txBody>
          <a:bodyPr rtlCol="0" anchor="ctr" wrap="square" lIns="73152" rIns="73152" tIns="36576" bIns="36576"/>
          <a:lstStyle/>
          <a:p>
            <a:pPr algn="ctr"/>
          </a:p>
        </p:txBody>
      </p:sp>
      <p:sp>
        <p:nvSpPr>
          <p:cNvPr id="43" name="Oval 42"/>
          <p:cNvSpPr/>
          <p:nvPr/>
        </p:nvSpPr>
        <p:spPr>
          <a:xfrm>
            <a:off x="5381835" y="2577126"/>
            <a:ext cx="82296" cy="82296"/>
          </a:xfrm>
          <a:prstGeom prst="ellipse">
            <a:avLst/>
          </a:prstGeom>
          <a:solidFill>
            <a:srgbClr val="1F6F6B"/>
          </a:solidFill>
          <a:ln>
            <a:noFill/>
          </a:ln>
        </p:spPr>
        <p:txBody>
          <a:bodyPr rtlCol="0" anchor="ctr" wrap="square" lIns="73152" rIns="73152" tIns="36576" bIns="36576"/>
          <a:lstStyle/>
          <a:p>
            <a:pPr algn="ctr"/>
          </a:p>
        </p:txBody>
      </p:sp>
      <p:sp>
        <p:nvSpPr>
          <p:cNvPr id="44" name="Oval 43"/>
          <p:cNvSpPr/>
          <p:nvPr/>
        </p:nvSpPr>
        <p:spPr>
          <a:xfrm>
            <a:off x="5777063" y="2740889"/>
            <a:ext cx="82296" cy="82296"/>
          </a:xfrm>
          <a:prstGeom prst="ellipse">
            <a:avLst/>
          </a:prstGeom>
          <a:solidFill>
            <a:srgbClr val="1F6F6B"/>
          </a:solidFill>
          <a:ln>
            <a:noFill/>
          </a:ln>
        </p:spPr>
        <p:txBody>
          <a:bodyPr rtlCol="0" anchor="ctr" wrap="square" lIns="73152" rIns="73152" tIns="36576" bIns="36576"/>
          <a:lstStyle/>
          <a:p>
            <a:pPr algn="ctr"/>
          </a:p>
        </p:txBody>
      </p:sp>
      <p:sp>
        <p:nvSpPr>
          <p:cNvPr id="45" name="Oval 44"/>
          <p:cNvSpPr/>
          <p:nvPr/>
        </p:nvSpPr>
        <p:spPr>
          <a:xfrm>
            <a:off x="5936388" y="2707440"/>
            <a:ext cx="82296" cy="82296"/>
          </a:xfrm>
          <a:prstGeom prst="ellipse">
            <a:avLst/>
          </a:prstGeom>
          <a:solidFill>
            <a:srgbClr val="1F6F6B"/>
          </a:solidFill>
          <a:ln>
            <a:noFill/>
          </a:ln>
        </p:spPr>
        <p:txBody>
          <a:bodyPr rtlCol="0" anchor="ctr" wrap="square" lIns="73152" rIns="73152" tIns="36576" bIns="36576"/>
          <a:lstStyle/>
          <a:p>
            <a:pPr algn="ctr"/>
          </a:p>
        </p:txBody>
      </p:sp>
      <p:sp>
        <p:nvSpPr>
          <p:cNvPr id="46" name="Oval 45"/>
          <p:cNvSpPr/>
          <p:nvPr/>
        </p:nvSpPr>
        <p:spPr>
          <a:xfrm>
            <a:off x="6287943" y="2592560"/>
            <a:ext cx="82296" cy="82296"/>
          </a:xfrm>
          <a:prstGeom prst="ellipse">
            <a:avLst/>
          </a:prstGeom>
          <a:solidFill>
            <a:srgbClr val="1F6F6B"/>
          </a:solidFill>
          <a:ln>
            <a:noFill/>
          </a:ln>
        </p:spPr>
        <p:txBody>
          <a:bodyPr rtlCol="0" anchor="ctr" wrap="square" lIns="73152" rIns="73152" tIns="36576" bIns="36576"/>
          <a:lstStyle/>
          <a:p>
            <a:pPr algn="ctr"/>
          </a:p>
        </p:txBody>
      </p:sp>
      <p:sp>
        <p:nvSpPr>
          <p:cNvPr id="47" name="Oval 46"/>
          <p:cNvSpPr/>
          <p:nvPr/>
        </p:nvSpPr>
        <p:spPr>
          <a:xfrm>
            <a:off x="3910215" y="2996458"/>
            <a:ext cx="82296" cy="82296"/>
          </a:xfrm>
          <a:prstGeom prst="ellipse">
            <a:avLst/>
          </a:prstGeom>
          <a:solidFill>
            <a:srgbClr val="1F6F6B"/>
          </a:solidFill>
          <a:ln>
            <a:noFill/>
          </a:ln>
        </p:spPr>
        <p:txBody>
          <a:bodyPr rtlCol="0" anchor="ctr" wrap="square" lIns="73152" rIns="73152" tIns="36576" bIns="36576"/>
          <a:lstStyle/>
          <a:p>
            <a:pPr algn="ctr"/>
          </a:p>
        </p:txBody>
      </p:sp>
      <p:sp>
        <p:nvSpPr>
          <p:cNvPr id="48" name="Oval 47"/>
          <p:cNvSpPr/>
          <p:nvPr/>
        </p:nvSpPr>
        <p:spPr>
          <a:xfrm>
            <a:off x="4307191" y="2868360"/>
            <a:ext cx="82296" cy="82296"/>
          </a:xfrm>
          <a:prstGeom prst="ellipse">
            <a:avLst/>
          </a:prstGeom>
          <a:solidFill>
            <a:srgbClr val="1F6F6B"/>
          </a:solidFill>
          <a:ln>
            <a:noFill/>
          </a:ln>
        </p:spPr>
        <p:txBody>
          <a:bodyPr rtlCol="0" anchor="ctr" wrap="square" lIns="73152" rIns="73152" tIns="36576" bIns="36576"/>
          <a:lstStyle/>
          <a:p>
            <a:pPr algn="ctr"/>
          </a:p>
        </p:txBody>
      </p:sp>
      <p:sp>
        <p:nvSpPr>
          <p:cNvPr id="49" name="Oval 48"/>
          <p:cNvSpPr/>
          <p:nvPr/>
        </p:nvSpPr>
        <p:spPr>
          <a:xfrm>
            <a:off x="4556179" y="2868492"/>
            <a:ext cx="82296" cy="82296"/>
          </a:xfrm>
          <a:prstGeom prst="ellipse">
            <a:avLst/>
          </a:prstGeom>
          <a:solidFill>
            <a:srgbClr val="1F6F6B"/>
          </a:solidFill>
          <a:ln>
            <a:noFill/>
          </a:ln>
        </p:spPr>
        <p:txBody>
          <a:bodyPr rtlCol="0" anchor="ctr" wrap="square" lIns="73152" rIns="73152" tIns="36576" bIns="36576"/>
          <a:lstStyle/>
          <a:p>
            <a:pPr algn="ctr"/>
          </a:p>
        </p:txBody>
      </p:sp>
      <p:sp>
        <p:nvSpPr>
          <p:cNvPr id="50" name="Oval 49"/>
          <p:cNvSpPr/>
          <p:nvPr/>
        </p:nvSpPr>
        <p:spPr>
          <a:xfrm>
            <a:off x="4869188" y="2919055"/>
            <a:ext cx="82296" cy="82296"/>
          </a:xfrm>
          <a:prstGeom prst="ellipse">
            <a:avLst/>
          </a:prstGeom>
          <a:solidFill>
            <a:srgbClr val="1F6F6B"/>
          </a:solidFill>
          <a:ln>
            <a:noFill/>
          </a:ln>
        </p:spPr>
        <p:txBody>
          <a:bodyPr rtlCol="0" anchor="ctr" wrap="square" lIns="73152" rIns="73152" tIns="36576" bIns="36576"/>
          <a:lstStyle/>
          <a:p>
            <a:pPr algn="ctr"/>
          </a:p>
        </p:txBody>
      </p:sp>
      <p:sp>
        <p:nvSpPr>
          <p:cNvPr id="51" name="Oval 50"/>
          <p:cNvSpPr/>
          <p:nvPr/>
        </p:nvSpPr>
        <p:spPr>
          <a:xfrm>
            <a:off x="5192549" y="3033908"/>
            <a:ext cx="82296" cy="82296"/>
          </a:xfrm>
          <a:prstGeom prst="ellipse">
            <a:avLst/>
          </a:prstGeom>
          <a:solidFill>
            <a:srgbClr val="1F6F6B"/>
          </a:solidFill>
          <a:ln>
            <a:noFill/>
          </a:ln>
        </p:spPr>
        <p:txBody>
          <a:bodyPr rtlCol="0" anchor="ctr" wrap="square" lIns="73152" rIns="73152" tIns="36576" bIns="36576"/>
          <a:lstStyle/>
          <a:p>
            <a:pPr algn="ctr"/>
          </a:p>
        </p:txBody>
      </p:sp>
      <p:sp>
        <p:nvSpPr>
          <p:cNvPr id="52" name="Oval 51"/>
          <p:cNvSpPr/>
          <p:nvPr/>
        </p:nvSpPr>
        <p:spPr>
          <a:xfrm>
            <a:off x="5420810" y="3037068"/>
            <a:ext cx="82296" cy="82296"/>
          </a:xfrm>
          <a:prstGeom prst="ellipse">
            <a:avLst/>
          </a:prstGeom>
          <a:solidFill>
            <a:srgbClr val="1F6F6B"/>
          </a:solidFill>
          <a:ln>
            <a:noFill/>
          </a:ln>
        </p:spPr>
        <p:txBody>
          <a:bodyPr rtlCol="0" anchor="ctr" wrap="square" lIns="73152" rIns="73152" tIns="36576" bIns="36576"/>
          <a:lstStyle/>
          <a:p>
            <a:pPr algn="ctr"/>
          </a:p>
        </p:txBody>
      </p:sp>
      <p:sp>
        <p:nvSpPr>
          <p:cNvPr id="53" name="Oval 52"/>
          <p:cNvSpPr/>
          <p:nvPr/>
        </p:nvSpPr>
        <p:spPr>
          <a:xfrm>
            <a:off x="5680844" y="2874155"/>
            <a:ext cx="82296" cy="82296"/>
          </a:xfrm>
          <a:prstGeom prst="ellipse">
            <a:avLst/>
          </a:prstGeom>
          <a:solidFill>
            <a:srgbClr val="1F6F6B"/>
          </a:solidFill>
          <a:ln>
            <a:noFill/>
          </a:ln>
        </p:spPr>
        <p:txBody>
          <a:bodyPr rtlCol="0" anchor="ctr" wrap="square" lIns="73152" rIns="73152" tIns="36576" bIns="36576"/>
          <a:lstStyle/>
          <a:p>
            <a:pPr algn="ctr"/>
          </a:p>
        </p:txBody>
      </p:sp>
      <p:sp>
        <p:nvSpPr>
          <p:cNvPr id="54" name="Oval 53"/>
          <p:cNvSpPr/>
          <p:nvPr/>
        </p:nvSpPr>
        <p:spPr>
          <a:xfrm>
            <a:off x="6026768" y="2866095"/>
            <a:ext cx="82296" cy="82296"/>
          </a:xfrm>
          <a:prstGeom prst="ellipse">
            <a:avLst/>
          </a:prstGeom>
          <a:solidFill>
            <a:srgbClr val="1F6F6B"/>
          </a:solidFill>
          <a:ln>
            <a:noFill/>
          </a:ln>
        </p:spPr>
        <p:txBody>
          <a:bodyPr rtlCol="0" anchor="ctr" wrap="square" lIns="73152" rIns="73152" tIns="36576" bIns="36576"/>
          <a:lstStyle/>
          <a:p>
            <a:pPr algn="ctr"/>
          </a:p>
        </p:txBody>
      </p:sp>
      <p:sp>
        <p:nvSpPr>
          <p:cNvPr id="55" name="Oval 54"/>
          <p:cNvSpPr/>
          <p:nvPr/>
        </p:nvSpPr>
        <p:spPr>
          <a:xfrm>
            <a:off x="6250274" y="2932664"/>
            <a:ext cx="82296" cy="82296"/>
          </a:xfrm>
          <a:prstGeom prst="ellipse">
            <a:avLst/>
          </a:prstGeom>
          <a:solidFill>
            <a:srgbClr val="1F6F6B"/>
          </a:solidFill>
          <a:ln>
            <a:noFill/>
          </a:ln>
        </p:spPr>
        <p:txBody>
          <a:bodyPr rtlCol="0" anchor="ctr" wrap="square" lIns="73152" rIns="73152" tIns="36576" bIns="36576"/>
          <a:lstStyle/>
          <a:p>
            <a:pPr algn="ctr"/>
          </a:p>
        </p:txBody>
      </p:sp>
      <p:sp>
        <p:nvSpPr>
          <p:cNvPr id="56" name="Oval 55"/>
          <p:cNvSpPr/>
          <p:nvPr/>
        </p:nvSpPr>
        <p:spPr>
          <a:xfrm>
            <a:off x="3966180" y="3182801"/>
            <a:ext cx="82296" cy="82296"/>
          </a:xfrm>
          <a:prstGeom prst="ellipse">
            <a:avLst/>
          </a:prstGeom>
          <a:solidFill>
            <a:srgbClr val="1F6F6B"/>
          </a:solidFill>
          <a:ln>
            <a:noFill/>
          </a:ln>
        </p:spPr>
        <p:txBody>
          <a:bodyPr rtlCol="0" anchor="ctr" wrap="square" lIns="73152" rIns="73152" tIns="36576" bIns="36576"/>
          <a:lstStyle/>
          <a:p>
            <a:pPr algn="ctr"/>
          </a:p>
        </p:txBody>
      </p:sp>
      <p:sp>
        <p:nvSpPr>
          <p:cNvPr id="57" name="Oval 56"/>
          <p:cNvSpPr/>
          <p:nvPr/>
        </p:nvSpPr>
        <p:spPr>
          <a:xfrm>
            <a:off x="4160401" y="3308597"/>
            <a:ext cx="82296" cy="82296"/>
          </a:xfrm>
          <a:prstGeom prst="ellipse">
            <a:avLst/>
          </a:prstGeom>
          <a:solidFill>
            <a:srgbClr val="1F6F6B"/>
          </a:solidFill>
          <a:ln>
            <a:noFill/>
          </a:ln>
        </p:spPr>
        <p:txBody>
          <a:bodyPr rtlCol="0" anchor="ctr" wrap="square" lIns="73152" rIns="73152" tIns="36576" bIns="36576"/>
          <a:lstStyle/>
          <a:p>
            <a:pPr algn="ctr"/>
          </a:p>
        </p:txBody>
      </p:sp>
      <p:sp>
        <p:nvSpPr>
          <p:cNvPr id="58" name="Oval 57"/>
          <p:cNvSpPr/>
          <p:nvPr/>
        </p:nvSpPr>
        <p:spPr>
          <a:xfrm>
            <a:off x="4503020" y="3324663"/>
            <a:ext cx="82296" cy="82296"/>
          </a:xfrm>
          <a:prstGeom prst="ellipse">
            <a:avLst/>
          </a:prstGeom>
          <a:solidFill>
            <a:srgbClr val="1F6F6B"/>
          </a:solidFill>
          <a:ln>
            <a:noFill/>
          </a:ln>
        </p:spPr>
        <p:txBody>
          <a:bodyPr rtlCol="0" anchor="ctr" wrap="square" lIns="73152" rIns="73152" tIns="36576" bIns="36576"/>
          <a:lstStyle/>
          <a:p>
            <a:pPr algn="ctr"/>
          </a:p>
        </p:txBody>
      </p:sp>
      <p:sp>
        <p:nvSpPr>
          <p:cNvPr id="59" name="Oval 58"/>
          <p:cNvSpPr/>
          <p:nvPr/>
        </p:nvSpPr>
        <p:spPr>
          <a:xfrm>
            <a:off x="4900695" y="3221975"/>
            <a:ext cx="82296" cy="82296"/>
          </a:xfrm>
          <a:prstGeom prst="ellipse">
            <a:avLst/>
          </a:prstGeom>
          <a:solidFill>
            <a:srgbClr val="1F6F6B"/>
          </a:solidFill>
          <a:ln>
            <a:noFill/>
          </a:ln>
        </p:spPr>
        <p:txBody>
          <a:bodyPr rtlCol="0" anchor="ctr" wrap="square" lIns="73152" rIns="73152" tIns="36576" bIns="36576"/>
          <a:lstStyle/>
          <a:p>
            <a:pPr algn="ctr"/>
          </a:p>
        </p:txBody>
      </p:sp>
      <p:sp>
        <p:nvSpPr>
          <p:cNvPr id="60" name="Oval 59"/>
          <p:cNvSpPr/>
          <p:nvPr/>
        </p:nvSpPr>
        <p:spPr>
          <a:xfrm>
            <a:off x="5118213" y="3247128"/>
            <a:ext cx="82296" cy="82296"/>
          </a:xfrm>
          <a:prstGeom prst="ellipse">
            <a:avLst/>
          </a:prstGeom>
          <a:solidFill>
            <a:srgbClr val="1F6F6B"/>
          </a:solidFill>
          <a:ln>
            <a:noFill/>
          </a:ln>
        </p:spPr>
        <p:txBody>
          <a:bodyPr rtlCol="0" anchor="ctr" wrap="square" lIns="73152" rIns="73152" tIns="36576" bIns="36576"/>
          <a:lstStyle/>
          <a:p>
            <a:pPr algn="ctr"/>
          </a:p>
        </p:txBody>
      </p:sp>
      <p:sp>
        <p:nvSpPr>
          <p:cNvPr id="61" name="Oval 60"/>
          <p:cNvSpPr/>
          <p:nvPr/>
        </p:nvSpPr>
        <p:spPr>
          <a:xfrm>
            <a:off x="5445289" y="3260489"/>
            <a:ext cx="82296" cy="82296"/>
          </a:xfrm>
          <a:prstGeom prst="ellipse">
            <a:avLst/>
          </a:prstGeom>
          <a:solidFill>
            <a:srgbClr val="1F6F6B"/>
          </a:solidFill>
          <a:ln>
            <a:noFill/>
          </a:ln>
        </p:spPr>
        <p:txBody>
          <a:bodyPr rtlCol="0" anchor="ctr" wrap="square" lIns="73152" rIns="73152" tIns="36576" bIns="36576"/>
          <a:lstStyle/>
          <a:p>
            <a:pPr algn="ctr"/>
          </a:p>
        </p:txBody>
      </p:sp>
      <p:sp>
        <p:nvSpPr>
          <p:cNvPr id="62" name="Oval 61"/>
          <p:cNvSpPr/>
          <p:nvPr/>
        </p:nvSpPr>
        <p:spPr>
          <a:xfrm>
            <a:off x="5724968" y="3264816"/>
            <a:ext cx="82296" cy="82296"/>
          </a:xfrm>
          <a:prstGeom prst="ellipse">
            <a:avLst/>
          </a:prstGeom>
          <a:solidFill>
            <a:srgbClr val="1F6F6B"/>
          </a:solidFill>
          <a:ln>
            <a:noFill/>
          </a:ln>
        </p:spPr>
        <p:txBody>
          <a:bodyPr rtlCol="0" anchor="ctr" wrap="square" lIns="73152" rIns="73152" tIns="36576" bIns="36576"/>
          <a:lstStyle/>
          <a:p>
            <a:pPr algn="ctr"/>
          </a:p>
        </p:txBody>
      </p:sp>
      <p:sp>
        <p:nvSpPr>
          <p:cNvPr id="63" name="Oval 62"/>
          <p:cNvSpPr/>
          <p:nvPr/>
        </p:nvSpPr>
        <p:spPr>
          <a:xfrm>
            <a:off x="6087026" y="3244822"/>
            <a:ext cx="82296" cy="82296"/>
          </a:xfrm>
          <a:prstGeom prst="ellipse">
            <a:avLst/>
          </a:prstGeom>
          <a:solidFill>
            <a:srgbClr val="1F6F6B"/>
          </a:solidFill>
          <a:ln>
            <a:noFill/>
          </a:ln>
        </p:spPr>
        <p:txBody>
          <a:bodyPr rtlCol="0" anchor="ctr" wrap="square" lIns="73152" rIns="73152" tIns="36576" bIns="36576"/>
          <a:lstStyle/>
          <a:p>
            <a:pPr algn="ctr"/>
          </a:p>
        </p:txBody>
      </p:sp>
      <p:sp>
        <p:nvSpPr>
          <p:cNvPr id="64" name="Oval 63"/>
          <p:cNvSpPr/>
          <p:nvPr/>
        </p:nvSpPr>
        <p:spPr>
          <a:xfrm>
            <a:off x="6291607" y="3282527"/>
            <a:ext cx="82296" cy="82296"/>
          </a:xfrm>
          <a:prstGeom prst="ellipse">
            <a:avLst/>
          </a:prstGeom>
          <a:solidFill>
            <a:srgbClr val="1F6F6B"/>
          </a:solidFill>
          <a:ln>
            <a:noFill/>
          </a:ln>
        </p:spPr>
        <p:txBody>
          <a:bodyPr rtlCol="0" anchor="ctr" wrap="square" lIns="73152" rIns="73152" tIns="36576" bIns="36576"/>
          <a:lstStyle/>
          <a:p>
            <a:pPr algn="ctr"/>
          </a:p>
        </p:txBody>
      </p:sp>
      <p:sp>
        <p:nvSpPr>
          <p:cNvPr id="65" name="Oval 64"/>
          <p:cNvSpPr/>
          <p:nvPr/>
        </p:nvSpPr>
        <p:spPr>
          <a:xfrm>
            <a:off x="3900270" y="3503055"/>
            <a:ext cx="82296" cy="82296"/>
          </a:xfrm>
          <a:prstGeom prst="ellipse">
            <a:avLst/>
          </a:prstGeom>
          <a:solidFill>
            <a:srgbClr val="1F6F6B"/>
          </a:solidFill>
          <a:ln>
            <a:noFill/>
          </a:ln>
        </p:spPr>
        <p:txBody>
          <a:bodyPr rtlCol="0" anchor="ctr" wrap="square" lIns="73152" rIns="73152" tIns="36576" bIns="36576"/>
          <a:lstStyle/>
          <a:p>
            <a:pPr algn="ctr"/>
          </a:p>
        </p:txBody>
      </p:sp>
      <p:sp>
        <p:nvSpPr>
          <p:cNvPr id="66" name="Oval 65"/>
          <p:cNvSpPr/>
          <p:nvPr/>
        </p:nvSpPr>
        <p:spPr>
          <a:xfrm>
            <a:off x="4325758" y="3541954"/>
            <a:ext cx="82296" cy="82296"/>
          </a:xfrm>
          <a:prstGeom prst="ellipse">
            <a:avLst/>
          </a:prstGeom>
          <a:solidFill>
            <a:srgbClr val="1F6F6B"/>
          </a:solidFill>
          <a:ln>
            <a:noFill/>
          </a:ln>
        </p:spPr>
        <p:txBody>
          <a:bodyPr rtlCol="0" anchor="ctr" wrap="square" lIns="73152" rIns="73152" tIns="36576" bIns="36576"/>
          <a:lstStyle/>
          <a:p>
            <a:pPr algn="ctr"/>
          </a:p>
        </p:txBody>
      </p:sp>
      <p:sp>
        <p:nvSpPr>
          <p:cNvPr id="67" name="Oval 66"/>
          <p:cNvSpPr/>
          <p:nvPr/>
        </p:nvSpPr>
        <p:spPr>
          <a:xfrm>
            <a:off x="4544493" y="3451853"/>
            <a:ext cx="82296" cy="82296"/>
          </a:xfrm>
          <a:prstGeom prst="ellipse">
            <a:avLst/>
          </a:prstGeom>
          <a:solidFill>
            <a:srgbClr val="1F6F6B"/>
          </a:solidFill>
          <a:ln>
            <a:noFill/>
          </a:ln>
        </p:spPr>
        <p:txBody>
          <a:bodyPr rtlCol="0" anchor="ctr" wrap="square" lIns="73152" rIns="73152" tIns="36576" bIns="36576"/>
          <a:lstStyle/>
          <a:p>
            <a:pPr algn="ctr"/>
          </a:p>
        </p:txBody>
      </p:sp>
      <p:sp>
        <p:nvSpPr>
          <p:cNvPr id="68" name="Oval 67"/>
          <p:cNvSpPr/>
          <p:nvPr/>
        </p:nvSpPr>
        <p:spPr>
          <a:xfrm>
            <a:off x="4815582" y="3552356"/>
            <a:ext cx="82296" cy="82296"/>
          </a:xfrm>
          <a:prstGeom prst="ellipse">
            <a:avLst/>
          </a:prstGeom>
          <a:solidFill>
            <a:srgbClr val="1F6F6B"/>
          </a:solidFill>
          <a:ln>
            <a:noFill/>
          </a:ln>
        </p:spPr>
        <p:txBody>
          <a:bodyPr rtlCol="0" anchor="ctr" wrap="square" lIns="73152" rIns="73152" tIns="36576" bIns="36576"/>
          <a:lstStyle/>
          <a:p>
            <a:pPr algn="ctr"/>
          </a:p>
        </p:txBody>
      </p:sp>
      <p:sp>
        <p:nvSpPr>
          <p:cNvPr id="69" name="Oval 68"/>
          <p:cNvSpPr/>
          <p:nvPr/>
        </p:nvSpPr>
        <p:spPr>
          <a:xfrm>
            <a:off x="5040365" y="3558691"/>
            <a:ext cx="82296" cy="82296"/>
          </a:xfrm>
          <a:prstGeom prst="ellipse">
            <a:avLst/>
          </a:prstGeom>
          <a:solidFill>
            <a:srgbClr val="1F6F6B"/>
          </a:solidFill>
          <a:ln>
            <a:noFill/>
          </a:ln>
        </p:spPr>
        <p:txBody>
          <a:bodyPr rtlCol="0" anchor="ctr" wrap="square" lIns="73152" rIns="73152" tIns="36576" bIns="36576"/>
          <a:lstStyle/>
          <a:p>
            <a:pPr algn="ctr"/>
          </a:p>
        </p:txBody>
      </p:sp>
      <p:sp>
        <p:nvSpPr>
          <p:cNvPr id="70" name="Oval 69"/>
          <p:cNvSpPr/>
          <p:nvPr/>
        </p:nvSpPr>
        <p:spPr>
          <a:xfrm>
            <a:off x="5443219" y="3460449"/>
            <a:ext cx="82296" cy="82296"/>
          </a:xfrm>
          <a:prstGeom prst="ellipse">
            <a:avLst/>
          </a:prstGeom>
          <a:solidFill>
            <a:srgbClr val="1F6F6B"/>
          </a:solidFill>
          <a:ln>
            <a:noFill/>
          </a:ln>
        </p:spPr>
        <p:txBody>
          <a:bodyPr rtlCol="0" anchor="ctr" wrap="square" lIns="73152" rIns="73152" tIns="36576" bIns="36576"/>
          <a:lstStyle/>
          <a:p>
            <a:pPr algn="ctr"/>
          </a:p>
        </p:txBody>
      </p:sp>
      <p:sp>
        <p:nvSpPr>
          <p:cNvPr id="71" name="Oval 70"/>
          <p:cNvSpPr/>
          <p:nvPr/>
        </p:nvSpPr>
        <p:spPr>
          <a:xfrm>
            <a:off x="5737003" y="3532253"/>
            <a:ext cx="82296" cy="82296"/>
          </a:xfrm>
          <a:prstGeom prst="ellipse">
            <a:avLst/>
          </a:prstGeom>
          <a:solidFill>
            <a:srgbClr val="1F6F6B"/>
          </a:solidFill>
          <a:ln>
            <a:noFill/>
          </a:ln>
        </p:spPr>
        <p:txBody>
          <a:bodyPr rtlCol="0" anchor="ctr" wrap="square" lIns="73152" rIns="73152" tIns="36576" bIns="36576"/>
          <a:lstStyle/>
          <a:p>
            <a:pPr algn="ctr"/>
          </a:p>
        </p:txBody>
      </p:sp>
      <p:sp>
        <p:nvSpPr>
          <p:cNvPr id="72" name="Oval 71"/>
          <p:cNvSpPr/>
          <p:nvPr/>
        </p:nvSpPr>
        <p:spPr>
          <a:xfrm>
            <a:off x="6040826" y="3512157"/>
            <a:ext cx="82296" cy="82296"/>
          </a:xfrm>
          <a:prstGeom prst="ellipse">
            <a:avLst/>
          </a:prstGeom>
          <a:solidFill>
            <a:srgbClr val="1F6F6B"/>
          </a:solidFill>
          <a:ln>
            <a:noFill/>
          </a:ln>
        </p:spPr>
        <p:txBody>
          <a:bodyPr rtlCol="0" anchor="ctr" wrap="square" lIns="73152" rIns="73152" tIns="36576" bIns="36576"/>
          <a:lstStyle/>
          <a:p>
            <a:pPr algn="ctr"/>
          </a:p>
        </p:txBody>
      </p:sp>
      <p:sp>
        <p:nvSpPr>
          <p:cNvPr id="73" name="Oval 72"/>
          <p:cNvSpPr/>
          <p:nvPr/>
        </p:nvSpPr>
        <p:spPr>
          <a:xfrm>
            <a:off x="6340357" y="3580300"/>
            <a:ext cx="82296" cy="82296"/>
          </a:xfrm>
          <a:prstGeom prst="ellipse">
            <a:avLst/>
          </a:prstGeom>
          <a:solidFill>
            <a:srgbClr val="1F6F6B"/>
          </a:solidFill>
          <a:ln>
            <a:noFill/>
          </a:ln>
        </p:spPr>
        <p:txBody>
          <a:bodyPr rtlCol="0" anchor="ctr" wrap="square" lIns="73152" rIns="73152" tIns="36576" bIns="36576"/>
          <a:lstStyle/>
          <a:p>
            <a:pPr algn="ctr"/>
          </a:p>
        </p:txBody>
      </p:sp>
      <p:sp>
        <p:nvSpPr>
          <p:cNvPr id="74" name="Oval 73"/>
          <p:cNvSpPr/>
          <p:nvPr/>
        </p:nvSpPr>
        <p:spPr>
          <a:xfrm>
            <a:off x="3862181" y="3755177"/>
            <a:ext cx="82296" cy="82296"/>
          </a:xfrm>
          <a:prstGeom prst="ellipse">
            <a:avLst/>
          </a:prstGeom>
          <a:solidFill>
            <a:srgbClr val="1F6F6B"/>
          </a:solidFill>
          <a:ln>
            <a:noFill/>
          </a:ln>
        </p:spPr>
        <p:txBody>
          <a:bodyPr rtlCol="0" anchor="ctr" wrap="square" lIns="73152" rIns="73152" tIns="36576" bIns="36576"/>
          <a:lstStyle/>
          <a:p>
            <a:pPr algn="ctr"/>
          </a:p>
        </p:txBody>
      </p:sp>
      <p:sp>
        <p:nvSpPr>
          <p:cNvPr id="75" name="Oval 74"/>
          <p:cNvSpPr/>
          <p:nvPr/>
        </p:nvSpPr>
        <p:spPr>
          <a:xfrm>
            <a:off x="4272409" y="3914765"/>
            <a:ext cx="82296" cy="82296"/>
          </a:xfrm>
          <a:prstGeom prst="ellipse">
            <a:avLst/>
          </a:prstGeom>
          <a:solidFill>
            <a:srgbClr val="1F6F6B"/>
          </a:solidFill>
          <a:ln>
            <a:noFill/>
          </a:ln>
        </p:spPr>
        <p:txBody>
          <a:bodyPr rtlCol="0" anchor="ctr" wrap="square" lIns="73152" rIns="73152" tIns="36576" bIns="36576"/>
          <a:lstStyle/>
          <a:p>
            <a:pPr algn="ctr"/>
          </a:p>
        </p:txBody>
      </p:sp>
      <p:sp>
        <p:nvSpPr>
          <p:cNvPr id="76" name="Oval 75"/>
          <p:cNvSpPr/>
          <p:nvPr/>
        </p:nvSpPr>
        <p:spPr>
          <a:xfrm>
            <a:off x="4491934" y="3825136"/>
            <a:ext cx="82296" cy="82296"/>
          </a:xfrm>
          <a:prstGeom prst="ellipse">
            <a:avLst/>
          </a:prstGeom>
          <a:solidFill>
            <a:srgbClr val="1F6F6B"/>
          </a:solidFill>
          <a:ln>
            <a:noFill/>
          </a:ln>
        </p:spPr>
        <p:txBody>
          <a:bodyPr rtlCol="0" anchor="ctr" wrap="square" lIns="73152" rIns="73152" tIns="36576" bIns="36576"/>
          <a:lstStyle/>
          <a:p>
            <a:pPr algn="ctr"/>
          </a:p>
        </p:txBody>
      </p:sp>
      <p:sp>
        <p:nvSpPr>
          <p:cNvPr id="77" name="Oval 76"/>
          <p:cNvSpPr/>
          <p:nvPr/>
        </p:nvSpPr>
        <p:spPr>
          <a:xfrm>
            <a:off x="4846954" y="3801043"/>
            <a:ext cx="82296" cy="82296"/>
          </a:xfrm>
          <a:prstGeom prst="ellipse">
            <a:avLst/>
          </a:prstGeom>
          <a:solidFill>
            <a:srgbClr val="1F6F6B"/>
          </a:solidFill>
          <a:ln>
            <a:noFill/>
          </a:ln>
        </p:spPr>
        <p:txBody>
          <a:bodyPr rtlCol="0" anchor="ctr" wrap="square" lIns="73152" rIns="73152" tIns="36576" bIns="36576"/>
          <a:lstStyle/>
          <a:p>
            <a:pPr algn="ctr"/>
          </a:p>
        </p:txBody>
      </p:sp>
      <p:sp>
        <p:nvSpPr>
          <p:cNvPr id="78" name="Oval 77"/>
          <p:cNvSpPr/>
          <p:nvPr/>
        </p:nvSpPr>
        <p:spPr>
          <a:xfrm>
            <a:off x="5101161" y="3799743"/>
            <a:ext cx="82296" cy="82296"/>
          </a:xfrm>
          <a:prstGeom prst="ellipse">
            <a:avLst/>
          </a:prstGeom>
          <a:solidFill>
            <a:srgbClr val="1F6F6B"/>
          </a:solidFill>
          <a:ln>
            <a:noFill/>
          </a:ln>
        </p:spPr>
        <p:txBody>
          <a:bodyPr rtlCol="0" anchor="ctr" wrap="square" lIns="73152" rIns="73152" tIns="36576" bIns="36576"/>
          <a:lstStyle/>
          <a:p>
            <a:pPr algn="ctr"/>
          </a:p>
        </p:txBody>
      </p:sp>
      <p:sp>
        <p:nvSpPr>
          <p:cNvPr id="79" name="Oval 78"/>
          <p:cNvSpPr/>
          <p:nvPr/>
        </p:nvSpPr>
        <p:spPr>
          <a:xfrm>
            <a:off x="5396720" y="3849764"/>
            <a:ext cx="82296" cy="82296"/>
          </a:xfrm>
          <a:prstGeom prst="ellipse">
            <a:avLst/>
          </a:prstGeom>
          <a:solidFill>
            <a:srgbClr val="1F6F6B"/>
          </a:solidFill>
          <a:ln>
            <a:noFill/>
          </a:ln>
        </p:spPr>
        <p:txBody>
          <a:bodyPr rtlCol="0" anchor="ctr" wrap="square" lIns="73152" rIns="73152" tIns="36576" bIns="36576"/>
          <a:lstStyle/>
          <a:p>
            <a:pPr algn="ctr"/>
          </a:p>
        </p:txBody>
      </p:sp>
      <p:sp>
        <p:nvSpPr>
          <p:cNvPr id="80" name="Oval 79"/>
          <p:cNvSpPr/>
          <p:nvPr/>
        </p:nvSpPr>
        <p:spPr>
          <a:xfrm>
            <a:off x="5679206" y="3811143"/>
            <a:ext cx="82296" cy="82296"/>
          </a:xfrm>
          <a:prstGeom prst="ellipse">
            <a:avLst/>
          </a:prstGeom>
          <a:solidFill>
            <a:srgbClr val="1F6F6B"/>
          </a:solidFill>
          <a:ln>
            <a:noFill/>
          </a:ln>
        </p:spPr>
        <p:txBody>
          <a:bodyPr rtlCol="0" anchor="ctr" wrap="square" lIns="73152" rIns="73152" tIns="36576" bIns="36576"/>
          <a:lstStyle/>
          <a:p>
            <a:pPr algn="ctr"/>
          </a:p>
        </p:txBody>
      </p:sp>
      <p:sp>
        <p:nvSpPr>
          <p:cNvPr id="81" name="Oval 80"/>
          <p:cNvSpPr/>
          <p:nvPr/>
        </p:nvSpPr>
        <p:spPr>
          <a:xfrm>
            <a:off x="6057265" y="3749227"/>
            <a:ext cx="82296" cy="82296"/>
          </a:xfrm>
          <a:prstGeom prst="ellipse">
            <a:avLst/>
          </a:prstGeom>
          <a:solidFill>
            <a:srgbClr val="1F6F6B"/>
          </a:solidFill>
          <a:ln>
            <a:noFill/>
          </a:ln>
        </p:spPr>
        <p:txBody>
          <a:bodyPr rtlCol="0" anchor="ctr" wrap="square" lIns="73152" rIns="73152" tIns="36576" bIns="36576"/>
          <a:lstStyle/>
          <a:p>
            <a:pPr algn="ctr"/>
          </a:p>
        </p:txBody>
      </p:sp>
      <p:sp>
        <p:nvSpPr>
          <p:cNvPr id="82" name="Oval 81"/>
          <p:cNvSpPr/>
          <p:nvPr/>
        </p:nvSpPr>
        <p:spPr>
          <a:xfrm>
            <a:off x="6316015" y="3874434"/>
            <a:ext cx="82296" cy="82296"/>
          </a:xfrm>
          <a:prstGeom prst="ellipse">
            <a:avLst/>
          </a:prstGeom>
          <a:solidFill>
            <a:srgbClr val="1F6F6B"/>
          </a:solidFill>
          <a:ln>
            <a:noFill/>
          </a:ln>
        </p:spPr>
        <p:txBody>
          <a:bodyPr rtlCol="0" anchor="ctr" wrap="square" lIns="73152" rIns="73152" tIns="36576" bIns="36576"/>
          <a:lstStyle/>
          <a:p>
            <a:pPr algn="ctr"/>
          </a:p>
        </p:txBody>
      </p:sp>
      <p:sp>
        <p:nvSpPr>
          <p:cNvPr id="83" name="Oval 82"/>
          <p:cNvSpPr/>
          <p:nvPr/>
        </p:nvSpPr>
        <p:spPr>
          <a:xfrm>
            <a:off x="3913065" y="4078449"/>
            <a:ext cx="82296" cy="82296"/>
          </a:xfrm>
          <a:prstGeom prst="ellipse">
            <a:avLst/>
          </a:prstGeom>
          <a:solidFill>
            <a:srgbClr val="1F6F6B"/>
          </a:solidFill>
          <a:ln>
            <a:noFill/>
          </a:ln>
        </p:spPr>
        <p:txBody>
          <a:bodyPr rtlCol="0" anchor="ctr" wrap="square" lIns="73152" rIns="73152" tIns="36576" bIns="36576"/>
          <a:lstStyle/>
          <a:p>
            <a:pPr algn="ctr"/>
          </a:p>
        </p:txBody>
      </p:sp>
      <p:sp>
        <p:nvSpPr>
          <p:cNvPr id="84" name="Oval 83"/>
          <p:cNvSpPr/>
          <p:nvPr/>
        </p:nvSpPr>
        <p:spPr>
          <a:xfrm>
            <a:off x="4295000" y="4081305"/>
            <a:ext cx="82296" cy="82296"/>
          </a:xfrm>
          <a:prstGeom prst="ellipse">
            <a:avLst/>
          </a:prstGeom>
          <a:solidFill>
            <a:srgbClr val="1F6F6B"/>
          </a:solidFill>
          <a:ln>
            <a:noFill/>
          </a:ln>
        </p:spPr>
        <p:txBody>
          <a:bodyPr rtlCol="0" anchor="ctr" wrap="square" lIns="73152" rIns="73152" tIns="36576" bIns="36576"/>
          <a:lstStyle/>
          <a:p>
            <a:pPr algn="ctr"/>
          </a:p>
        </p:txBody>
      </p:sp>
      <p:sp>
        <p:nvSpPr>
          <p:cNvPr id="85" name="Oval 84"/>
          <p:cNvSpPr/>
          <p:nvPr/>
        </p:nvSpPr>
        <p:spPr>
          <a:xfrm>
            <a:off x="4480668" y="4116050"/>
            <a:ext cx="82296" cy="82296"/>
          </a:xfrm>
          <a:prstGeom prst="ellipse">
            <a:avLst/>
          </a:prstGeom>
          <a:solidFill>
            <a:srgbClr val="1F6F6B"/>
          </a:solidFill>
          <a:ln>
            <a:noFill/>
          </a:ln>
        </p:spPr>
        <p:txBody>
          <a:bodyPr rtlCol="0" anchor="ctr" wrap="square" lIns="73152" rIns="73152" tIns="36576" bIns="36576"/>
          <a:lstStyle/>
          <a:p>
            <a:pPr algn="ctr"/>
          </a:p>
        </p:txBody>
      </p:sp>
      <p:sp>
        <p:nvSpPr>
          <p:cNvPr id="86" name="Oval 85"/>
          <p:cNvSpPr/>
          <p:nvPr/>
        </p:nvSpPr>
        <p:spPr>
          <a:xfrm>
            <a:off x="4865586" y="4057111"/>
            <a:ext cx="82296" cy="82296"/>
          </a:xfrm>
          <a:prstGeom prst="ellipse">
            <a:avLst/>
          </a:prstGeom>
          <a:solidFill>
            <a:srgbClr val="1F6F6B"/>
          </a:solidFill>
          <a:ln>
            <a:noFill/>
          </a:ln>
        </p:spPr>
        <p:txBody>
          <a:bodyPr rtlCol="0" anchor="ctr" wrap="square" lIns="73152" rIns="73152" tIns="36576" bIns="36576"/>
          <a:lstStyle/>
          <a:p>
            <a:pPr algn="ctr"/>
          </a:p>
        </p:txBody>
      </p:sp>
      <p:sp>
        <p:nvSpPr>
          <p:cNvPr id="87" name="Oval 86"/>
          <p:cNvSpPr/>
          <p:nvPr/>
        </p:nvSpPr>
        <p:spPr>
          <a:xfrm>
            <a:off x="5093738" y="4098110"/>
            <a:ext cx="82296" cy="82296"/>
          </a:xfrm>
          <a:prstGeom prst="ellipse">
            <a:avLst/>
          </a:prstGeom>
          <a:solidFill>
            <a:srgbClr val="1F6F6B"/>
          </a:solidFill>
          <a:ln>
            <a:noFill/>
          </a:ln>
        </p:spPr>
        <p:txBody>
          <a:bodyPr rtlCol="0" anchor="ctr" wrap="square" lIns="73152" rIns="73152" tIns="36576" bIns="36576"/>
          <a:lstStyle/>
          <a:p>
            <a:pPr algn="ctr"/>
          </a:p>
        </p:txBody>
      </p:sp>
      <p:sp>
        <p:nvSpPr>
          <p:cNvPr id="88" name="Oval 87"/>
          <p:cNvSpPr/>
          <p:nvPr/>
        </p:nvSpPr>
        <p:spPr>
          <a:xfrm>
            <a:off x="5478816" y="4116615"/>
            <a:ext cx="82296" cy="82296"/>
          </a:xfrm>
          <a:prstGeom prst="ellipse">
            <a:avLst/>
          </a:prstGeom>
          <a:solidFill>
            <a:srgbClr val="1F6F6B"/>
          </a:solidFill>
          <a:ln>
            <a:noFill/>
          </a:ln>
        </p:spPr>
        <p:txBody>
          <a:bodyPr rtlCol="0" anchor="ctr" wrap="square" lIns="73152" rIns="73152" tIns="36576" bIns="36576"/>
          <a:lstStyle/>
          <a:p>
            <a:pPr algn="ctr"/>
          </a:p>
        </p:txBody>
      </p:sp>
      <p:sp>
        <p:nvSpPr>
          <p:cNvPr id="89" name="Oval 88"/>
          <p:cNvSpPr/>
          <p:nvPr/>
        </p:nvSpPr>
        <p:spPr>
          <a:xfrm>
            <a:off x="5777344" y="4069034"/>
            <a:ext cx="82296" cy="82296"/>
          </a:xfrm>
          <a:prstGeom prst="ellipse">
            <a:avLst/>
          </a:prstGeom>
          <a:solidFill>
            <a:srgbClr val="1F6F6B"/>
          </a:solidFill>
          <a:ln>
            <a:noFill/>
          </a:ln>
        </p:spPr>
        <p:txBody>
          <a:bodyPr rtlCol="0" anchor="ctr" wrap="square" lIns="73152" rIns="73152" tIns="36576" bIns="36576"/>
          <a:lstStyle/>
          <a:p>
            <a:pPr algn="ctr"/>
          </a:p>
        </p:txBody>
      </p:sp>
      <p:sp>
        <p:nvSpPr>
          <p:cNvPr id="90" name="Oval 89"/>
          <p:cNvSpPr/>
          <p:nvPr/>
        </p:nvSpPr>
        <p:spPr>
          <a:xfrm>
            <a:off x="5980264" y="4154058"/>
            <a:ext cx="82296" cy="82296"/>
          </a:xfrm>
          <a:prstGeom prst="ellipse">
            <a:avLst/>
          </a:prstGeom>
          <a:solidFill>
            <a:srgbClr val="1F6F6B"/>
          </a:solidFill>
          <a:ln>
            <a:noFill/>
          </a:ln>
        </p:spPr>
        <p:txBody>
          <a:bodyPr rtlCol="0" anchor="ctr" wrap="square" lIns="73152" rIns="73152" tIns="36576" bIns="36576"/>
          <a:lstStyle/>
          <a:p>
            <a:pPr algn="ctr"/>
          </a:p>
        </p:txBody>
      </p:sp>
      <p:sp>
        <p:nvSpPr>
          <p:cNvPr id="91" name="Oval 90"/>
          <p:cNvSpPr/>
          <p:nvPr/>
        </p:nvSpPr>
        <p:spPr>
          <a:xfrm>
            <a:off x="6371815" y="4118855"/>
            <a:ext cx="82296" cy="82296"/>
          </a:xfrm>
          <a:prstGeom prst="ellipse">
            <a:avLst/>
          </a:prstGeom>
          <a:solidFill>
            <a:srgbClr val="1F6F6B"/>
          </a:solidFill>
          <a:ln>
            <a:noFill/>
          </a:ln>
        </p:spPr>
        <p:txBody>
          <a:bodyPr rtlCol="0" anchor="ctr" wrap="square" lIns="73152" rIns="73152" tIns="36576" bIns="36576"/>
          <a:lstStyle/>
          <a:p>
            <a:pPr algn="ctr"/>
          </a:p>
        </p:txBody>
      </p:sp>
      <p:sp>
        <p:nvSpPr>
          <p:cNvPr id="92" name="TextBox 91"/>
          <p:cNvSpPr txBox="1"/>
          <p:nvPr/>
        </p:nvSpPr>
        <p:spPr>
          <a:xfrm>
            <a:off x="3703320" y="4498848"/>
            <a:ext cx="2926080" cy="274320"/>
          </a:xfrm>
          <a:prstGeom prst="rect">
            <a:avLst/>
          </a:prstGeom>
          <a:noFill/>
        </p:spPr>
        <p:txBody>
          <a:bodyPr wrap="square" lIns="0" rIns="0" tIns="0" bIns="0" anchor="t">
            <a:spAutoFit/>
          </a:bodyPr>
          <a:lstStyle/>
          <a:p>
            <a:pPr algn="ctr"/>
            <a:r>
              <a:rPr sz="1300" b="0" i="0">
                <a:solidFill>
                  <a:srgbClr val="5B636B"/>
                </a:solidFill>
                <a:latin typeface="IBM Plex Sans"/>
              </a:rPr>
              <a:t>formal  ←  u₁  →  casual</a:t>
            </a:r>
          </a:p>
        </p:txBody>
      </p:sp>
      <p:sp>
        <p:nvSpPr>
          <p:cNvPr id="93" name="TextBox 92"/>
          <p:cNvSpPr txBox="1"/>
          <p:nvPr/>
        </p:nvSpPr>
        <p:spPr>
          <a:xfrm>
            <a:off x="3703320" y="4754880"/>
            <a:ext cx="2926080" cy="274320"/>
          </a:xfrm>
          <a:prstGeom prst="rect">
            <a:avLst/>
          </a:prstGeom>
          <a:noFill/>
        </p:spPr>
        <p:txBody>
          <a:bodyPr wrap="square" lIns="0" rIns="0" tIns="0" bIns="0" anchor="t">
            <a:spAutoFit/>
          </a:bodyPr>
          <a:lstStyle/>
          <a:p>
            <a:pPr algn="ctr"/>
            <a:r>
              <a:rPr sz="1300" b="0" i="0">
                <a:solidFill>
                  <a:srgbClr val="5B636B"/>
                </a:solidFill>
                <a:latin typeface="IBM Plex Sans"/>
              </a:rPr>
              <a:t>minimal ↑ u₂ ↓ ornate</a:t>
            </a:r>
          </a:p>
        </p:txBody>
      </p:sp>
      <p:sp>
        <p:nvSpPr>
          <p:cNvPr id="94" name="TextBox 93"/>
          <p:cNvSpPr txBox="1"/>
          <p:nvPr/>
        </p:nvSpPr>
        <p:spPr>
          <a:xfrm>
            <a:off x="6949440" y="1527048"/>
            <a:ext cx="1691640" cy="274320"/>
          </a:xfrm>
          <a:prstGeom prst="rect">
            <a:avLst/>
          </a:prstGeom>
          <a:noFill/>
        </p:spPr>
        <p:txBody>
          <a:bodyPr wrap="square" lIns="0" rIns="0" tIns="0" bIns="0" anchor="t">
            <a:spAutoFit/>
          </a:bodyPr>
          <a:lstStyle/>
          <a:p>
            <a:pPr algn="l"/>
            <a:r>
              <a:rPr sz="1200" b="1" i="0">
                <a:solidFill>
                  <a:srgbClr val="5B636B"/>
                </a:solidFill>
                <a:latin typeface="IBM Plex Sans"/>
              </a:rPr>
              <a:t>EXACT FACET LAYERS</a:t>
            </a:r>
          </a:p>
        </p:txBody>
      </p:sp>
      <p:sp>
        <p:nvSpPr>
          <p:cNvPr id="95" name="Rounded Rectangle 94"/>
          <p:cNvSpPr/>
          <p:nvPr/>
        </p:nvSpPr>
        <p:spPr>
          <a:xfrm>
            <a:off x="6949440" y="1892808"/>
            <a:ext cx="1600200" cy="502920"/>
          </a:xfrm>
          <a:prstGeom prst="roundRect">
            <a:avLst>
              <a:gd name="adj" fmla="val 12000"/>
            </a:avLst>
          </a:prstGeom>
          <a:solidFill>
            <a:srgbClr val="EAE5DB"/>
          </a:solidFill>
          <a:ln w="12700">
            <a:solidFill>
              <a:srgbClr val="DDD6C8"/>
            </a:solidFill>
          </a:ln>
        </p:spPr>
        <p:txBody>
          <a:bodyPr rtlCol="0" anchor="ctr" wrap="square" lIns="73152" rIns="73152" tIns="36576" bIns="36576"/>
          <a:lstStyle/>
          <a:p>
            <a:pPr algn="ctr"/>
            <a:r>
              <a:rPr sz="1400" b="0" i="0">
                <a:solidFill>
                  <a:srgbClr val="1E2328"/>
                </a:solidFill>
                <a:latin typeface="IBM Plex Sans"/>
              </a:rPr>
              <a:t>category</a:t>
            </a:r>
          </a:p>
        </p:txBody>
      </p:sp>
      <p:sp>
        <p:nvSpPr>
          <p:cNvPr id="96" name="Rounded Rectangle 95"/>
          <p:cNvSpPr/>
          <p:nvPr/>
        </p:nvSpPr>
        <p:spPr>
          <a:xfrm>
            <a:off x="7004303" y="2514600"/>
            <a:ext cx="1600200" cy="502920"/>
          </a:xfrm>
          <a:prstGeom prst="roundRect">
            <a:avLst>
              <a:gd name="adj" fmla="val 12000"/>
            </a:avLst>
          </a:prstGeom>
          <a:solidFill>
            <a:srgbClr val="EAE5DB"/>
          </a:solidFill>
          <a:ln w="12700">
            <a:solidFill>
              <a:srgbClr val="DDD6C8"/>
            </a:solidFill>
          </a:ln>
        </p:spPr>
        <p:txBody>
          <a:bodyPr rtlCol="0" anchor="ctr" wrap="square" lIns="73152" rIns="73152" tIns="36576" bIns="36576"/>
          <a:lstStyle/>
          <a:p>
            <a:pPr algn="ctr"/>
            <a:r>
              <a:rPr sz="1400" b="0" i="0">
                <a:solidFill>
                  <a:srgbClr val="1E2328"/>
                </a:solidFill>
                <a:latin typeface="IBM Plex Sans"/>
              </a:rPr>
              <a:t>color</a:t>
            </a:r>
          </a:p>
        </p:txBody>
      </p:sp>
      <p:sp>
        <p:nvSpPr>
          <p:cNvPr id="97" name="Rounded Rectangle 96"/>
          <p:cNvSpPr/>
          <p:nvPr/>
        </p:nvSpPr>
        <p:spPr>
          <a:xfrm>
            <a:off x="7059168" y="3136392"/>
            <a:ext cx="1600200" cy="502920"/>
          </a:xfrm>
          <a:prstGeom prst="roundRect">
            <a:avLst>
              <a:gd name="adj" fmla="val 12000"/>
            </a:avLst>
          </a:prstGeom>
          <a:solidFill>
            <a:srgbClr val="EAE5DB"/>
          </a:solidFill>
          <a:ln w="12700">
            <a:solidFill>
              <a:srgbClr val="DDD6C8"/>
            </a:solidFill>
          </a:ln>
        </p:spPr>
        <p:txBody>
          <a:bodyPr rtlCol="0" anchor="ctr" wrap="square" lIns="73152" rIns="73152" tIns="36576" bIns="36576"/>
          <a:lstStyle/>
          <a:p>
            <a:pPr algn="ctr"/>
            <a:r>
              <a:rPr sz="1400" b="0" i="0">
                <a:solidFill>
                  <a:srgbClr val="1E2328"/>
                </a:solidFill>
                <a:latin typeface="IBM Plex Sans"/>
              </a:rPr>
              <a:t>price</a:t>
            </a:r>
          </a:p>
        </p:txBody>
      </p:sp>
      <p:sp>
        <p:nvSpPr>
          <p:cNvPr id="98" name="Rounded Rectangle 97"/>
          <p:cNvSpPr/>
          <p:nvPr/>
        </p:nvSpPr>
        <p:spPr>
          <a:xfrm>
            <a:off x="7114031" y="3758184"/>
            <a:ext cx="1600200" cy="502920"/>
          </a:xfrm>
          <a:prstGeom prst="roundRect">
            <a:avLst>
              <a:gd name="adj" fmla="val 12000"/>
            </a:avLst>
          </a:prstGeom>
          <a:solidFill>
            <a:srgbClr val="EAE5DB"/>
          </a:solidFill>
          <a:ln w="12700">
            <a:solidFill>
              <a:srgbClr val="DDD6C8"/>
            </a:solidFill>
          </a:ln>
        </p:spPr>
        <p:txBody>
          <a:bodyPr rtlCol="0" anchor="ctr" wrap="square" lIns="73152" rIns="73152" tIns="36576" bIns="36576"/>
          <a:lstStyle/>
          <a:p>
            <a:pPr algn="ctr"/>
            <a:r>
              <a:rPr sz="1400" b="0" i="0">
                <a:solidFill>
                  <a:srgbClr val="1E2328"/>
                </a:solidFill>
                <a:latin typeface="IBM Plex Sans"/>
              </a:rPr>
              <a:t>stock per market</a:t>
            </a:r>
          </a:p>
        </p:txBody>
      </p:sp>
      <p:sp>
        <p:nvSpPr>
          <p:cNvPr id="99" name="TextBox 98"/>
          <p:cNvSpPr txBox="1"/>
          <p:nvPr/>
        </p:nvSpPr>
        <p:spPr>
          <a:xfrm>
            <a:off x="8915400" y="1481328"/>
            <a:ext cx="2743200" cy="274320"/>
          </a:xfrm>
          <a:prstGeom prst="rect">
            <a:avLst/>
          </a:prstGeom>
          <a:noFill/>
        </p:spPr>
        <p:txBody>
          <a:bodyPr wrap="square" lIns="0" rIns="0" tIns="0" bIns="0" anchor="t">
            <a:spAutoFit/>
          </a:bodyPr>
          <a:lstStyle/>
          <a:p>
            <a:pPr algn="l"/>
            <a:r>
              <a:rPr sz="1300" b="1" i="0" spc="50">
                <a:solidFill>
                  <a:srgbClr val="5B636B"/>
                </a:solidFill>
                <a:latin typeface="IBM Plex Sans"/>
              </a:rPr>
              <a:t>MAP COORDINATE</a:t>
            </a:r>
          </a:p>
        </p:txBody>
      </p:sp>
      <p:pic>
        <p:nvPicPr>
          <p:cNvPr id="100" name="Picture 99" descr="eq10_mapcoord@3x.png"/>
          <p:cNvPicPr>
            <a:picLocks noChangeAspect="1"/>
          </p:cNvPicPr>
          <p:nvPr/>
        </p:nvPicPr>
        <p:blipFill>
          <a:blip r:embed="rId2"/>
          <a:stretch>
            <a:fillRect/>
          </a:stretch>
        </p:blipFill>
        <p:spPr>
          <a:xfrm>
            <a:off x="8915400" y="1828800"/>
            <a:ext cx="2743200" cy="323004"/>
          </a:xfrm>
          <a:prstGeom prst="rect">
            <a:avLst/>
          </a:prstGeom>
        </p:spPr>
      </p:pic>
      <p:sp>
        <p:nvSpPr>
          <p:cNvPr id="101" name="Statements"/>
          <p:cNvSpPr txBox="1"/>
          <p:nvPr/>
        </p:nvSpPr>
        <p:spPr>
          <a:xfrm>
            <a:off x="8915400" y="2377440"/>
            <a:ext cx="2743200" cy="3657600"/>
          </a:xfrm>
          <a:prstGeom prst="rect">
            <a:avLst/>
          </a:prstGeom>
          <a:noFill/>
        </p:spPr>
        <p:txBody>
          <a:bodyPr wrap="square" lIns="0" rIns="0" tIns="0" bIns="0" anchor="t">
            <a:spAutoFit/>
          </a:bodyPr>
          <a:lstStyle/>
          <a:p>
            <a:pPr algn="l">
              <a:lnSpc>
                <a:spcPct val="108000"/>
              </a:lnSpc>
              <a:spcAft>
                <a:spcPts val="1200"/>
              </a:spcAft>
            </a:pPr>
            <a:r>
              <a:rPr sz="1800" b="0" i="0">
                <a:solidFill>
                  <a:srgbClr val="1E2328"/>
                </a:solidFill>
                <a:latin typeface="IBM Plex Sans"/>
              </a:rPr>
              <a:t>Keep only axes whose </a:t>
            </a:r>
            <a:r>
              <a:rPr sz="1800" b="1" i="0">
                <a:solidFill>
                  <a:srgbClr val="1F6F6B"/>
                </a:solidFill>
                <a:latin typeface="IBM Plex Sans"/>
              </a:rPr>
              <a:t>probes are accurate</a:t>
            </a:r>
            <a:r>
              <a:rPr sz="1800" b="0" i="0">
                <a:solidFill>
                  <a:srgbClr val="1E2328"/>
                </a:solidFill>
                <a:latin typeface="IBM Plex Sans"/>
              </a:rPr>
              <a:t>.</a:t>
            </a:r>
          </a:p>
          <a:p>
            <a:pPr algn="l">
              <a:lnSpc>
                <a:spcPct val="108000"/>
              </a:lnSpc>
              <a:spcAft>
                <a:spcPts val="1200"/>
              </a:spcAft>
            </a:pPr>
            <a:r>
              <a:rPr sz="1800" b="1" i="0">
                <a:solidFill>
                  <a:srgbClr val="1F6F6B"/>
                </a:solidFill>
                <a:latin typeface="IBM Plex Sans"/>
              </a:rPr>
              <a:t>Decorrelate</a:t>
            </a:r>
            <a:r>
              <a:rPr sz="1800" b="0" i="0">
                <a:solidFill>
                  <a:srgbClr val="1E2328"/>
                </a:solidFill>
                <a:latin typeface="IBM Plex Sans"/>
              </a:rPr>
              <a:t> axes within a map.</a:t>
            </a:r>
          </a:p>
          <a:p>
            <a:pPr algn="l">
              <a:lnSpc>
                <a:spcPct val="108000"/>
              </a:lnSpc>
              <a:spcAft>
                <a:spcPts val="1200"/>
              </a:spcAft>
            </a:pPr>
            <a:r>
              <a:rPr sz="1800" b="0" i="0">
                <a:solidFill>
                  <a:srgbClr val="1E2328"/>
                </a:solidFill>
                <a:latin typeface="IBM Plex Sans"/>
              </a:rPr>
              <a:t>Exact facets stay layers over the base map, never coordinates.</a:t>
            </a:r>
          </a:p>
        </p:txBody>
      </p:sp>
      <p:sp>
        <p:nvSpPr>
          <p:cNvPr id="102" name="Footer"/>
          <p:cNvSpPr txBox="1"/>
          <p:nvPr/>
        </p:nvSpPr>
        <p:spPr>
          <a:xfrm>
            <a:off x="548640" y="6309360"/>
            <a:ext cx="10362895" cy="411480"/>
          </a:xfrm>
          <a:prstGeom prst="rect">
            <a:avLst/>
          </a:prstGeom>
          <a:noFill/>
        </p:spPr>
        <p:txBody>
          <a:bodyPr wrap="square" lIns="0" rIns="0" tIns="0" bIns="0" anchor="t">
            <a:spAutoFit/>
          </a:bodyPr>
          <a:lstStyle/>
          <a:p>
            <a:pPr algn="l"/>
            <a:r>
              <a:rPr sz="1200" b="0" i="0">
                <a:solidFill>
                  <a:srgbClr val="5B636B"/>
                </a:solidFill>
                <a:latin typeface="IBM Plex Sans"/>
              </a:rPr>
              <a:t>Internal design (MPDM). Coordinates: rank-transformed linear probes, equation top right.</a:t>
            </a:r>
          </a:p>
        </p:txBody>
      </p:sp>
      <p:sp>
        <p:nvSpPr>
          <p:cNvPr id="103" name="Page"/>
          <p:cNvSpPr txBox="1"/>
          <p:nvPr/>
        </p:nvSpPr>
        <p:spPr>
          <a:xfrm>
            <a:off x="11094415" y="6309360"/>
            <a:ext cx="548640" cy="274320"/>
          </a:xfrm>
          <a:prstGeom prst="rect">
            <a:avLst/>
          </a:prstGeom>
          <a:noFill/>
        </p:spPr>
        <p:txBody>
          <a:bodyPr wrap="square" lIns="0" rIns="0" tIns="0" bIns="0" anchor="t">
            <a:spAutoFit/>
          </a:bodyPr>
          <a:lstStyle/>
          <a:p>
            <a:pPr algn="r"/>
            <a:r>
              <a:rPr sz="1200" b="0" i="0">
                <a:solidFill>
                  <a:srgbClr val="5B636B"/>
                </a:solidFill>
                <a:latin typeface="IBM Plex San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Kicker"/>
          <p:cNvSpPr txBox="1"/>
          <p:nvPr/>
        </p:nvSpPr>
        <p:spPr>
          <a:xfrm>
            <a:off x="548640" y="384048"/>
            <a:ext cx="11094415" cy="274320"/>
          </a:xfrm>
          <a:prstGeom prst="rect">
            <a:avLst/>
          </a:prstGeom>
          <a:noFill/>
        </p:spPr>
        <p:txBody>
          <a:bodyPr wrap="square" lIns="0" rIns="0" tIns="0" bIns="0" anchor="t">
            <a:spAutoFit/>
          </a:bodyPr>
          <a:lstStyle/>
          <a:p>
            <a:pPr algn="l"/>
            <a:r>
              <a:rPr sz="1300" b="1" i="0" spc="150">
                <a:solidFill>
                  <a:srgbClr val="1F6F6B"/>
                </a:solidFill>
                <a:latin typeface="IBM Plex Sans"/>
              </a:rPr>
              <a:t>INTENT CANVAS</a:t>
            </a:r>
          </a:p>
        </p:txBody>
      </p:sp>
      <p:sp>
        <p:nvSpPr>
          <p:cNvPr id="3" name="Title"/>
          <p:cNvSpPr txBox="1"/>
          <p:nvPr/>
        </p:nvSpPr>
        <p:spPr>
          <a:xfrm>
            <a:off x="548640" y="676656"/>
            <a:ext cx="11094415" cy="731520"/>
          </a:xfrm>
          <a:prstGeom prst="rect">
            <a:avLst/>
          </a:prstGeom>
          <a:noFill/>
        </p:spPr>
        <p:txBody>
          <a:bodyPr wrap="square" lIns="0" rIns="0" tIns="0" bIns="0" anchor="t">
            <a:spAutoFit/>
          </a:bodyPr>
          <a:lstStyle/>
          <a:p>
            <a:pPr algn="l"/>
            <a:r>
              <a:rPr sz="2800" b="0" i="0">
                <a:solidFill>
                  <a:srgbClr val="1E2328"/>
                </a:solidFill>
                <a:latin typeface="Libre Baskerville"/>
              </a:rPr>
              <a:t>Each clarification becomes layer algebra</a:t>
            </a:r>
          </a:p>
        </p:txBody>
      </p:sp>
      <p:sp>
        <p:nvSpPr>
          <p:cNvPr id="4" name="Rectangle 3"/>
          <p:cNvSpPr/>
          <p:nvPr/>
        </p:nvSpPr>
        <p:spPr>
          <a:xfrm>
            <a:off x="548640" y="1572768"/>
            <a:ext cx="2377440" cy="2377440"/>
          </a:xfrm>
          <a:prstGeom prst="rect">
            <a:avLst/>
          </a:prstGeom>
          <a:solidFill>
            <a:srgbClr val="FFFDF8"/>
          </a:solidFill>
          <a:ln w="12700">
            <a:solidFill>
              <a:srgbClr val="DDD6C8"/>
            </a:solidFill>
          </a:ln>
        </p:spPr>
        <p:txBody>
          <a:bodyPr rtlCol="0" anchor="ctr" wrap="square" lIns="73152" rIns="73152" tIns="36576" bIns="36576"/>
          <a:lstStyle/>
          <a:p>
            <a:pPr algn="ctr"/>
          </a:p>
        </p:txBody>
      </p:sp>
      <p:sp>
        <p:nvSpPr>
          <p:cNvPr id="5" name="Rounded Rectangle 4"/>
          <p:cNvSpPr/>
          <p:nvPr/>
        </p:nvSpPr>
        <p:spPr>
          <a:xfrm>
            <a:off x="1051560" y="1892808"/>
            <a:ext cx="1234440" cy="1097280"/>
          </a:xfrm>
          <a:prstGeom prst="roundRect">
            <a:avLst>
              <a:gd name="adj" fmla="val 30000"/>
            </a:avLst>
          </a:prstGeom>
          <a:solidFill>
            <a:srgbClr val="1F6F6B">
              <a:alpha val="28000"/>
            </a:srgbClr>
          </a:solidFill>
          <a:ln w="12700">
            <a:solidFill>
              <a:srgbClr val="1F6F6B"/>
            </a:solidFill>
          </a:ln>
        </p:spPr>
        <p:txBody>
          <a:bodyPr rtlCol="0" anchor="ctr" wrap="square" lIns="73152" rIns="73152" tIns="36576" bIns="36576"/>
          <a:lstStyle/>
          <a:p>
            <a:pPr algn="ctr"/>
          </a:p>
        </p:txBody>
      </p:sp>
      <p:sp>
        <p:nvSpPr>
          <p:cNvPr id="6" name="TextBox 5"/>
          <p:cNvSpPr txBox="1"/>
          <p:nvPr/>
        </p:nvSpPr>
        <p:spPr>
          <a:xfrm>
            <a:off x="548640" y="3995928"/>
            <a:ext cx="2377440" cy="274320"/>
          </a:xfrm>
          <a:prstGeom prst="rect">
            <a:avLst/>
          </a:prstGeom>
          <a:noFill/>
        </p:spPr>
        <p:txBody>
          <a:bodyPr wrap="square" lIns="0" rIns="0" tIns="0" bIns="0" anchor="t">
            <a:spAutoFit/>
          </a:bodyPr>
          <a:lstStyle/>
          <a:p>
            <a:pPr algn="ctr"/>
            <a:r>
              <a:rPr sz="1300" b="0" i="0">
                <a:solidFill>
                  <a:srgbClr val="5B636B"/>
                </a:solidFill>
                <a:latin typeface="IBM Plex Sans"/>
              </a:rPr>
              <a:t>formal – casual</a:t>
            </a:r>
          </a:p>
        </p:txBody>
      </p:sp>
      <p:sp>
        <p:nvSpPr>
          <p:cNvPr id="7" name="TextBox 6"/>
          <p:cNvSpPr txBox="1"/>
          <p:nvPr/>
        </p:nvSpPr>
        <p:spPr>
          <a:xfrm>
            <a:off x="548640" y="4224528"/>
            <a:ext cx="2377440" cy="274320"/>
          </a:xfrm>
          <a:prstGeom prst="rect">
            <a:avLst/>
          </a:prstGeom>
          <a:noFill/>
        </p:spPr>
        <p:txBody>
          <a:bodyPr wrap="square" lIns="0" rIns="0" tIns="0" bIns="0" anchor="t">
            <a:spAutoFit/>
          </a:bodyPr>
          <a:lstStyle/>
          <a:p>
            <a:pPr algn="ctr"/>
            <a:r>
              <a:rPr sz="1300" b="0" i="0">
                <a:solidFill>
                  <a:srgbClr val="5B636B"/>
                </a:solidFill>
                <a:latin typeface="IBM Plex Sans"/>
              </a:rPr>
              <a:t>minimal – ornate</a:t>
            </a:r>
          </a:p>
        </p:txBody>
      </p:sp>
      <p:sp>
        <p:nvSpPr>
          <p:cNvPr id="8" name="TextBox 7"/>
          <p:cNvSpPr txBox="1"/>
          <p:nvPr/>
        </p:nvSpPr>
        <p:spPr>
          <a:xfrm>
            <a:off x="1097280" y="2258568"/>
            <a:ext cx="1188720" cy="365760"/>
          </a:xfrm>
          <a:prstGeom prst="rect">
            <a:avLst/>
          </a:prstGeom>
          <a:noFill/>
        </p:spPr>
        <p:txBody>
          <a:bodyPr wrap="square" lIns="0" rIns="0" tIns="0" bIns="0" anchor="t">
            <a:spAutoFit/>
          </a:bodyPr>
          <a:lstStyle/>
          <a:p>
            <a:pPr algn="ctr"/>
            <a:r>
              <a:rPr sz="1400" b="1" i="0">
                <a:solidFill>
                  <a:srgbClr val="1F6F6B"/>
                </a:solidFill>
                <a:latin typeface="IBM Plex Sans"/>
              </a:rPr>
              <a:t>region</a:t>
            </a:r>
          </a:p>
        </p:txBody>
      </p:sp>
      <p:sp>
        <p:nvSpPr>
          <p:cNvPr id="9" name="Rounded Rectangle 8"/>
          <p:cNvSpPr/>
          <p:nvPr/>
        </p:nvSpPr>
        <p:spPr>
          <a:xfrm>
            <a:off x="3291840" y="1618488"/>
            <a:ext cx="1828800" cy="640080"/>
          </a:xfrm>
          <a:prstGeom prst="roundRect">
            <a:avLst>
              <a:gd name="adj" fmla="val 12000"/>
            </a:avLst>
          </a:prstGeom>
          <a:solidFill>
            <a:srgbClr val="EAE5DB"/>
          </a:solidFill>
          <a:ln w="12700">
            <a:solidFill>
              <a:srgbClr val="DDD6C8"/>
            </a:solidFill>
          </a:ln>
        </p:spPr>
        <p:txBody>
          <a:bodyPr rtlCol="0" anchor="ctr" wrap="square" lIns="73152" rIns="73152" tIns="36576" bIns="36576"/>
          <a:lstStyle/>
          <a:p>
            <a:pPr algn="ctr"/>
            <a:r>
              <a:rPr sz="1400" b="0" i="0">
                <a:solidFill>
                  <a:srgbClr val="1E2328"/>
                </a:solidFill>
                <a:latin typeface="IBM Plex Sans"/>
              </a:rPr>
              <a:t>dresses</a:t>
            </a:r>
          </a:p>
        </p:txBody>
      </p:sp>
      <p:sp>
        <p:nvSpPr>
          <p:cNvPr id="10" name="Rounded Rectangle 9"/>
          <p:cNvSpPr/>
          <p:nvPr/>
        </p:nvSpPr>
        <p:spPr>
          <a:xfrm>
            <a:off x="3401568" y="2395728"/>
            <a:ext cx="1828800" cy="640080"/>
          </a:xfrm>
          <a:prstGeom prst="roundRect">
            <a:avLst>
              <a:gd name="adj" fmla="val 12000"/>
            </a:avLst>
          </a:prstGeom>
          <a:solidFill>
            <a:srgbClr val="EAE5DB"/>
          </a:solidFill>
          <a:ln w="12700">
            <a:solidFill>
              <a:srgbClr val="DDD6C8"/>
            </a:solidFill>
          </a:ln>
        </p:spPr>
        <p:txBody>
          <a:bodyPr rtlCol="0" anchor="ctr" wrap="square" lIns="73152" rIns="73152" tIns="36576" bIns="36576"/>
          <a:lstStyle/>
          <a:p>
            <a:pPr algn="ctr"/>
            <a:r>
              <a:rPr sz="1400" b="0" i="0">
                <a:solidFill>
                  <a:srgbClr val="1E2328"/>
                </a:solidFill>
                <a:latin typeface="IBM Plex Sans"/>
              </a:rPr>
              <a:t>in stock · DE</a:t>
            </a:r>
          </a:p>
        </p:txBody>
      </p:sp>
      <p:sp>
        <p:nvSpPr>
          <p:cNvPr id="11" name="Rounded Rectangle 10"/>
          <p:cNvSpPr/>
          <p:nvPr/>
        </p:nvSpPr>
        <p:spPr>
          <a:xfrm>
            <a:off x="3511296" y="3172968"/>
            <a:ext cx="1828800" cy="640080"/>
          </a:xfrm>
          <a:prstGeom prst="roundRect">
            <a:avLst>
              <a:gd name="adj" fmla="val 12000"/>
            </a:avLst>
          </a:prstGeom>
          <a:solidFill>
            <a:srgbClr val="FFFDF8"/>
          </a:solidFill>
          <a:ln w="12700">
            <a:solidFill>
              <a:srgbClr val="A5541B"/>
            </a:solidFill>
            <a:prstDash val="dash"/>
          </a:ln>
        </p:spPr>
        <p:txBody>
          <a:bodyPr rtlCol="0" anchor="ctr" wrap="square" lIns="73152" rIns="73152" tIns="36576" bIns="36576"/>
          <a:lstStyle/>
          <a:p>
            <a:pPr algn="ctr"/>
            <a:r>
              <a:rPr sz="1400" b="1" i="0">
                <a:solidFill>
                  <a:srgbClr val="A5541B"/>
                </a:solidFill>
                <a:latin typeface="IBM Plex Sans"/>
              </a:rPr>
              <a:t>NOT floral (soft)</a:t>
            </a:r>
          </a:p>
        </p:txBody>
      </p:sp>
      <p:cxnSp>
        <p:nvCxnSpPr>
          <p:cNvPr id="12" name="Connector 11"/>
          <p:cNvCxnSpPr>
            <a:stCxn id="4" idx="3"/>
            <a:endCxn id="10" idx="1"/>
          </p:cNvCxnSpPr>
          <p:nvPr/>
        </p:nvCxnSpPr>
        <p:spPr>
          <a:xfrm flipV="1">
            <a:off x="2926080" y="2715768"/>
            <a:ext cx="475488" cy="45720"/>
          </a:xfrm>
          <a:prstGeom prst="line">
            <a:avLst/>
          </a:prstGeom>
          <a:ln w="19050">
            <a:solidFill>
              <a:srgbClr val="5B636B"/>
            </a:solidFill>
            <a:tailEnd type="triangle" w="med" len="med"/>
          </a:ln>
        </p:spPr>
      </p:cxnSp>
      <p:sp>
        <p:nvSpPr>
          <p:cNvPr id="13" name="Rectangle 12"/>
          <p:cNvSpPr/>
          <p:nvPr/>
        </p:nvSpPr>
        <p:spPr>
          <a:xfrm>
            <a:off x="5806440" y="1755648"/>
            <a:ext cx="246888" cy="246888"/>
          </a:xfrm>
          <a:prstGeom prst="rect">
            <a:avLst/>
          </a:prstGeom>
          <a:solidFill>
            <a:srgbClr val="EAE5DB"/>
          </a:solidFill>
          <a:ln>
            <a:noFill/>
          </a:ln>
        </p:spPr>
        <p:txBody>
          <a:bodyPr rtlCol="0" anchor="ctr" wrap="square" lIns="73152" rIns="73152" tIns="36576" bIns="36576"/>
          <a:lstStyle/>
          <a:p>
            <a:pPr algn="ctr"/>
          </a:p>
        </p:txBody>
      </p:sp>
      <p:sp>
        <p:nvSpPr>
          <p:cNvPr id="14" name="Rectangle 13"/>
          <p:cNvSpPr/>
          <p:nvPr/>
        </p:nvSpPr>
        <p:spPr>
          <a:xfrm>
            <a:off x="5806440" y="2029968"/>
            <a:ext cx="246888" cy="246888"/>
          </a:xfrm>
          <a:prstGeom prst="rect">
            <a:avLst/>
          </a:prstGeom>
          <a:solidFill>
            <a:srgbClr val="EAE5DB"/>
          </a:solidFill>
          <a:ln>
            <a:noFill/>
          </a:ln>
        </p:spPr>
        <p:txBody>
          <a:bodyPr rtlCol="0" anchor="ctr" wrap="square" lIns="73152" rIns="73152" tIns="36576" bIns="36576"/>
          <a:lstStyle/>
          <a:p>
            <a:pPr algn="ctr"/>
          </a:p>
        </p:txBody>
      </p:sp>
      <p:sp>
        <p:nvSpPr>
          <p:cNvPr id="15" name="Rectangle 14"/>
          <p:cNvSpPr/>
          <p:nvPr/>
        </p:nvSpPr>
        <p:spPr>
          <a:xfrm>
            <a:off x="5806440" y="2304288"/>
            <a:ext cx="246888" cy="246888"/>
          </a:xfrm>
          <a:prstGeom prst="rect">
            <a:avLst/>
          </a:prstGeom>
          <a:solidFill>
            <a:srgbClr val="EAE5DB"/>
          </a:solidFill>
          <a:ln>
            <a:noFill/>
          </a:ln>
        </p:spPr>
        <p:txBody>
          <a:bodyPr rtlCol="0" anchor="ctr" wrap="square" lIns="73152" rIns="73152" tIns="36576" bIns="36576"/>
          <a:lstStyle/>
          <a:p>
            <a:pPr algn="ctr"/>
          </a:p>
        </p:txBody>
      </p:sp>
      <p:sp>
        <p:nvSpPr>
          <p:cNvPr id="16" name="Rectangle 15"/>
          <p:cNvSpPr/>
          <p:nvPr/>
        </p:nvSpPr>
        <p:spPr>
          <a:xfrm>
            <a:off x="5806440" y="2578608"/>
            <a:ext cx="246888" cy="246888"/>
          </a:xfrm>
          <a:prstGeom prst="rect">
            <a:avLst/>
          </a:prstGeom>
          <a:solidFill>
            <a:srgbClr val="EAE5DB"/>
          </a:solidFill>
          <a:ln>
            <a:noFill/>
          </a:ln>
        </p:spPr>
        <p:txBody>
          <a:bodyPr rtlCol="0" anchor="ctr" wrap="square" lIns="73152" rIns="73152" tIns="36576" bIns="36576"/>
          <a:lstStyle/>
          <a:p>
            <a:pPr algn="ctr"/>
          </a:p>
        </p:txBody>
      </p:sp>
      <p:sp>
        <p:nvSpPr>
          <p:cNvPr id="17" name="Rectangle 16"/>
          <p:cNvSpPr/>
          <p:nvPr/>
        </p:nvSpPr>
        <p:spPr>
          <a:xfrm>
            <a:off x="5806440" y="2852928"/>
            <a:ext cx="246888" cy="246888"/>
          </a:xfrm>
          <a:prstGeom prst="rect">
            <a:avLst/>
          </a:prstGeom>
          <a:solidFill>
            <a:srgbClr val="EAE5DB"/>
          </a:solidFill>
          <a:ln>
            <a:noFill/>
          </a:ln>
        </p:spPr>
        <p:txBody>
          <a:bodyPr rtlCol="0" anchor="ctr" wrap="square" lIns="73152" rIns="73152" tIns="36576" bIns="36576"/>
          <a:lstStyle/>
          <a:p>
            <a:pPr algn="ctr"/>
          </a:p>
        </p:txBody>
      </p:sp>
      <p:sp>
        <p:nvSpPr>
          <p:cNvPr id="18" name="Rectangle 17"/>
          <p:cNvSpPr/>
          <p:nvPr/>
        </p:nvSpPr>
        <p:spPr>
          <a:xfrm>
            <a:off x="5806440" y="3127248"/>
            <a:ext cx="246888" cy="246888"/>
          </a:xfrm>
          <a:prstGeom prst="rect">
            <a:avLst/>
          </a:prstGeom>
          <a:solidFill>
            <a:srgbClr val="EAE5DB"/>
          </a:solidFill>
          <a:ln>
            <a:noFill/>
          </a:ln>
        </p:spPr>
        <p:txBody>
          <a:bodyPr rtlCol="0" anchor="ctr" wrap="square" lIns="73152" rIns="73152" tIns="36576" bIns="36576"/>
          <a:lstStyle/>
          <a:p>
            <a:pPr algn="ctr"/>
          </a:p>
        </p:txBody>
      </p:sp>
      <p:sp>
        <p:nvSpPr>
          <p:cNvPr id="19" name="Rectangle 18"/>
          <p:cNvSpPr/>
          <p:nvPr/>
        </p:nvSpPr>
        <p:spPr>
          <a:xfrm>
            <a:off x="6080759" y="1755648"/>
            <a:ext cx="246888" cy="246888"/>
          </a:xfrm>
          <a:prstGeom prst="rect">
            <a:avLst/>
          </a:prstGeom>
          <a:solidFill>
            <a:srgbClr val="EAE5DB"/>
          </a:solidFill>
          <a:ln>
            <a:noFill/>
          </a:ln>
        </p:spPr>
        <p:txBody>
          <a:bodyPr rtlCol="0" anchor="ctr" wrap="square" lIns="73152" rIns="73152" tIns="36576" bIns="36576"/>
          <a:lstStyle/>
          <a:p>
            <a:pPr algn="ctr"/>
          </a:p>
        </p:txBody>
      </p:sp>
      <p:sp>
        <p:nvSpPr>
          <p:cNvPr id="20" name="Rectangle 19"/>
          <p:cNvSpPr/>
          <p:nvPr/>
        </p:nvSpPr>
        <p:spPr>
          <a:xfrm>
            <a:off x="6080759" y="2029968"/>
            <a:ext cx="246888" cy="246888"/>
          </a:xfrm>
          <a:prstGeom prst="rect">
            <a:avLst/>
          </a:prstGeom>
          <a:solidFill>
            <a:srgbClr val="1F6F6B"/>
          </a:solidFill>
          <a:ln>
            <a:noFill/>
          </a:ln>
        </p:spPr>
        <p:txBody>
          <a:bodyPr rtlCol="0" anchor="ctr" wrap="square" lIns="73152" rIns="73152" tIns="36576" bIns="36576"/>
          <a:lstStyle/>
          <a:p>
            <a:pPr algn="ctr"/>
          </a:p>
        </p:txBody>
      </p:sp>
      <p:sp>
        <p:nvSpPr>
          <p:cNvPr id="21" name="Rectangle 20"/>
          <p:cNvSpPr/>
          <p:nvPr/>
        </p:nvSpPr>
        <p:spPr>
          <a:xfrm>
            <a:off x="6080759" y="2304288"/>
            <a:ext cx="246888" cy="246888"/>
          </a:xfrm>
          <a:prstGeom prst="rect">
            <a:avLst/>
          </a:prstGeom>
          <a:solidFill>
            <a:srgbClr val="1F6F6B"/>
          </a:solidFill>
          <a:ln>
            <a:noFill/>
          </a:ln>
        </p:spPr>
        <p:txBody>
          <a:bodyPr rtlCol="0" anchor="ctr" wrap="square" lIns="73152" rIns="73152" tIns="36576" bIns="36576"/>
          <a:lstStyle/>
          <a:p>
            <a:pPr algn="ctr"/>
          </a:p>
        </p:txBody>
      </p:sp>
      <p:sp>
        <p:nvSpPr>
          <p:cNvPr id="22" name="Rectangle 21"/>
          <p:cNvSpPr/>
          <p:nvPr/>
        </p:nvSpPr>
        <p:spPr>
          <a:xfrm>
            <a:off x="6080759" y="2578608"/>
            <a:ext cx="246888" cy="246888"/>
          </a:xfrm>
          <a:prstGeom prst="rect">
            <a:avLst/>
          </a:prstGeom>
          <a:solidFill>
            <a:srgbClr val="1F6F6B"/>
          </a:solidFill>
          <a:ln>
            <a:noFill/>
          </a:ln>
        </p:spPr>
        <p:txBody>
          <a:bodyPr rtlCol="0" anchor="ctr" wrap="square" lIns="73152" rIns="73152" tIns="36576" bIns="36576"/>
          <a:lstStyle/>
          <a:p>
            <a:pPr algn="ctr"/>
          </a:p>
        </p:txBody>
      </p:sp>
      <p:sp>
        <p:nvSpPr>
          <p:cNvPr id="23" name="Rectangle 22"/>
          <p:cNvSpPr/>
          <p:nvPr/>
        </p:nvSpPr>
        <p:spPr>
          <a:xfrm>
            <a:off x="6080759" y="2852928"/>
            <a:ext cx="246888" cy="246888"/>
          </a:xfrm>
          <a:prstGeom prst="rect">
            <a:avLst/>
          </a:prstGeom>
          <a:solidFill>
            <a:srgbClr val="EAE5DB"/>
          </a:solidFill>
          <a:ln>
            <a:noFill/>
          </a:ln>
        </p:spPr>
        <p:txBody>
          <a:bodyPr rtlCol="0" anchor="ctr" wrap="square" lIns="73152" rIns="73152" tIns="36576" bIns="36576"/>
          <a:lstStyle/>
          <a:p>
            <a:pPr algn="ctr"/>
          </a:p>
        </p:txBody>
      </p:sp>
      <p:sp>
        <p:nvSpPr>
          <p:cNvPr id="24" name="Rectangle 23"/>
          <p:cNvSpPr/>
          <p:nvPr/>
        </p:nvSpPr>
        <p:spPr>
          <a:xfrm>
            <a:off x="6080759" y="3127248"/>
            <a:ext cx="246888" cy="246888"/>
          </a:xfrm>
          <a:prstGeom prst="rect">
            <a:avLst/>
          </a:prstGeom>
          <a:solidFill>
            <a:srgbClr val="EAE5DB"/>
          </a:solidFill>
          <a:ln>
            <a:noFill/>
          </a:ln>
        </p:spPr>
        <p:txBody>
          <a:bodyPr rtlCol="0" anchor="ctr" wrap="square" lIns="73152" rIns="73152" tIns="36576" bIns="36576"/>
          <a:lstStyle/>
          <a:p>
            <a:pPr algn="ctr"/>
          </a:p>
        </p:txBody>
      </p:sp>
      <p:sp>
        <p:nvSpPr>
          <p:cNvPr id="25" name="Rectangle 24"/>
          <p:cNvSpPr/>
          <p:nvPr/>
        </p:nvSpPr>
        <p:spPr>
          <a:xfrm>
            <a:off x="6355079" y="1755648"/>
            <a:ext cx="246888" cy="246888"/>
          </a:xfrm>
          <a:prstGeom prst="rect">
            <a:avLst/>
          </a:prstGeom>
          <a:solidFill>
            <a:srgbClr val="EAE5DB"/>
          </a:solidFill>
          <a:ln>
            <a:noFill/>
          </a:ln>
        </p:spPr>
        <p:txBody>
          <a:bodyPr rtlCol="0" anchor="ctr" wrap="square" lIns="73152" rIns="73152" tIns="36576" bIns="36576"/>
          <a:lstStyle/>
          <a:p>
            <a:pPr algn="ctr"/>
          </a:p>
        </p:txBody>
      </p:sp>
      <p:sp>
        <p:nvSpPr>
          <p:cNvPr id="26" name="Rectangle 25"/>
          <p:cNvSpPr/>
          <p:nvPr/>
        </p:nvSpPr>
        <p:spPr>
          <a:xfrm>
            <a:off x="6355079" y="2029968"/>
            <a:ext cx="246888" cy="246888"/>
          </a:xfrm>
          <a:prstGeom prst="rect">
            <a:avLst/>
          </a:prstGeom>
          <a:solidFill>
            <a:srgbClr val="1F6F6B"/>
          </a:solidFill>
          <a:ln>
            <a:noFill/>
          </a:ln>
        </p:spPr>
        <p:txBody>
          <a:bodyPr rtlCol="0" anchor="ctr" wrap="square" lIns="73152" rIns="73152" tIns="36576" bIns="36576"/>
          <a:lstStyle/>
          <a:p>
            <a:pPr algn="ctr"/>
          </a:p>
        </p:txBody>
      </p:sp>
      <p:sp>
        <p:nvSpPr>
          <p:cNvPr id="27" name="Rectangle 26"/>
          <p:cNvSpPr/>
          <p:nvPr/>
        </p:nvSpPr>
        <p:spPr>
          <a:xfrm>
            <a:off x="6355079" y="2304288"/>
            <a:ext cx="246888" cy="246888"/>
          </a:xfrm>
          <a:prstGeom prst="rect">
            <a:avLst/>
          </a:prstGeom>
          <a:solidFill>
            <a:srgbClr val="1F6F6B"/>
          </a:solidFill>
          <a:ln>
            <a:noFill/>
          </a:ln>
        </p:spPr>
        <p:txBody>
          <a:bodyPr rtlCol="0" anchor="ctr" wrap="square" lIns="73152" rIns="73152" tIns="36576" bIns="36576"/>
          <a:lstStyle/>
          <a:p>
            <a:pPr algn="ctr"/>
          </a:p>
        </p:txBody>
      </p:sp>
      <p:sp>
        <p:nvSpPr>
          <p:cNvPr id="28" name="Rectangle 27"/>
          <p:cNvSpPr/>
          <p:nvPr/>
        </p:nvSpPr>
        <p:spPr>
          <a:xfrm>
            <a:off x="6355079" y="2578608"/>
            <a:ext cx="246888" cy="246888"/>
          </a:xfrm>
          <a:prstGeom prst="rect">
            <a:avLst/>
          </a:prstGeom>
          <a:solidFill>
            <a:srgbClr val="1F6F6B"/>
          </a:solidFill>
          <a:ln>
            <a:noFill/>
          </a:ln>
        </p:spPr>
        <p:txBody>
          <a:bodyPr rtlCol="0" anchor="ctr" wrap="square" lIns="73152" rIns="73152" tIns="36576" bIns="36576"/>
          <a:lstStyle/>
          <a:p>
            <a:pPr algn="ctr"/>
          </a:p>
        </p:txBody>
      </p:sp>
      <p:sp>
        <p:nvSpPr>
          <p:cNvPr id="29" name="Rectangle 28"/>
          <p:cNvSpPr/>
          <p:nvPr/>
        </p:nvSpPr>
        <p:spPr>
          <a:xfrm>
            <a:off x="6355079" y="2852928"/>
            <a:ext cx="246888" cy="246888"/>
          </a:xfrm>
          <a:prstGeom prst="rect">
            <a:avLst/>
          </a:prstGeom>
          <a:solidFill>
            <a:srgbClr val="EAE5DB"/>
          </a:solidFill>
          <a:ln>
            <a:noFill/>
          </a:ln>
        </p:spPr>
        <p:txBody>
          <a:bodyPr rtlCol="0" anchor="ctr" wrap="square" lIns="73152" rIns="73152" tIns="36576" bIns="36576"/>
          <a:lstStyle/>
          <a:p>
            <a:pPr algn="ctr"/>
          </a:p>
        </p:txBody>
      </p:sp>
      <p:sp>
        <p:nvSpPr>
          <p:cNvPr id="30" name="Rectangle 29"/>
          <p:cNvSpPr/>
          <p:nvPr/>
        </p:nvSpPr>
        <p:spPr>
          <a:xfrm>
            <a:off x="6355079" y="3127248"/>
            <a:ext cx="246888" cy="246888"/>
          </a:xfrm>
          <a:prstGeom prst="rect">
            <a:avLst/>
          </a:prstGeom>
          <a:solidFill>
            <a:srgbClr val="EAE5DB"/>
          </a:solidFill>
          <a:ln>
            <a:noFill/>
          </a:ln>
        </p:spPr>
        <p:txBody>
          <a:bodyPr rtlCol="0" anchor="ctr" wrap="square" lIns="73152" rIns="73152" tIns="36576" bIns="36576"/>
          <a:lstStyle/>
          <a:p>
            <a:pPr algn="ctr"/>
          </a:p>
        </p:txBody>
      </p:sp>
      <p:sp>
        <p:nvSpPr>
          <p:cNvPr id="31" name="Rectangle 30"/>
          <p:cNvSpPr/>
          <p:nvPr/>
        </p:nvSpPr>
        <p:spPr>
          <a:xfrm>
            <a:off x="6629400" y="1755648"/>
            <a:ext cx="246888" cy="246888"/>
          </a:xfrm>
          <a:prstGeom prst="rect">
            <a:avLst/>
          </a:prstGeom>
          <a:solidFill>
            <a:srgbClr val="EAE5DB"/>
          </a:solidFill>
          <a:ln>
            <a:noFill/>
          </a:ln>
        </p:spPr>
        <p:txBody>
          <a:bodyPr rtlCol="0" anchor="ctr" wrap="square" lIns="73152" rIns="73152" tIns="36576" bIns="36576"/>
          <a:lstStyle/>
          <a:p>
            <a:pPr algn="ctr"/>
          </a:p>
        </p:txBody>
      </p:sp>
      <p:sp>
        <p:nvSpPr>
          <p:cNvPr id="32" name="Rectangle 31"/>
          <p:cNvSpPr/>
          <p:nvPr/>
        </p:nvSpPr>
        <p:spPr>
          <a:xfrm>
            <a:off x="6629400" y="2029968"/>
            <a:ext cx="246888" cy="246888"/>
          </a:xfrm>
          <a:prstGeom prst="rect">
            <a:avLst/>
          </a:prstGeom>
          <a:solidFill>
            <a:srgbClr val="EAE5DB"/>
          </a:solidFill>
          <a:ln>
            <a:noFill/>
          </a:ln>
        </p:spPr>
        <p:txBody>
          <a:bodyPr rtlCol="0" anchor="ctr" wrap="square" lIns="73152" rIns="73152" tIns="36576" bIns="36576"/>
          <a:lstStyle/>
          <a:p>
            <a:pPr algn="ctr"/>
          </a:p>
        </p:txBody>
      </p:sp>
      <p:sp>
        <p:nvSpPr>
          <p:cNvPr id="33" name="Rectangle 32"/>
          <p:cNvSpPr/>
          <p:nvPr/>
        </p:nvSpPr>
        <p:spPr>
          <a:xfrm>
            <a:off x="6629400" y="2304288"/>
            <a:ext cx="246888" cy="246888"/>
          </a:xfrm>
          <a:prstGeom prst="rect">
            <a:avLst/>
          </a:prstGeom>
          <a:solidFill>
            <a:srgbClr val="1F6F6B"/>
          </a:solidFill>
          <a:ln>
            <a:noFill/>
          </a:ln>
        </p:spPr>
        <p:txBody>
          <a:bodyPr rtlCol="0" anchor="ctr" wrap="square" lIns="73152" rIns="73152" tIns="36576" bIns="36576"/>
          <a:lstStyle/>
          <a:p>
            <a:pPr algn="ctr"/>
          </a:p>
        </p:txBody>
      </p:sp>
      <p:sp>
        <p:nvSpPr>
          <p:cNvPr id="34" name="Rectangle 33"/>
          <p:cNvSpPr/>
          <p:nvPr/>
        </p:nvSpPr>
        <p:spPr>
          <a:xfrm>
            <a:off x="6629400" y="2578608"/>
            <a:ext cx="246888" cy="246888"/>
          </a:xfrm>
          <a:prstGeom prst="rect">
            <a:avLst/>
          </a:prstGeom>
          <a:solidFill>
            <a:srgbClr val="EAE5DB"/>
          </a:solidFill>
          <a:ln>
            <a:noFill/>
          </a:ln>
        </p:spPr>
        <p:txBody>
          <a:bodyPr rtlCol="0" anchor="ctr" wrap="square" lIns="73152" rIns="73152" tIns="36576" bIns="36576"/>
          <a:lstStyle/>
          <a:p>
            <a:pPr algn="ctr"/>
          </a:p>
        </p:txBody>
      </p:sp>
      <p:sp>
        <p:nvSpPr>
          <p:cNvPr id="35" name="Rectangle 34"/>
          <p:cNvSpPr/>
          <p:nvPr/>
        </p:nvSpPr>
        <p:spPr>
          <a:xfrm>
            <a:off x="6629400" y="2852928"/>
            <a:ext cx="246888" cy="246888"/>
          </a:xfrm>
          <a:prstGeom prst="rect">
            <a:avLst/>
          </a:prstGeom>
          <a:solidFill>
            <a:srgbClr val="EAE5DB"/>
          </a:solidFill>
          <a:ln>
            <a:noFill/>
          </a:ln>
        </p:spPr>
        <p:txBody>
          <a:bodyPr rtlCol="0" anchor="ctr" wrap="square" lIns="73152" rIns="73152" tIns="36576" bIns="36576"/>
          <a:lstStyle/>
          <a:p>
            <a:pPr algn="ctr"/>
          </a:p>
        </p:txBody>
      </p:sp>
      <p:sp>
        <p:nvSpPr>
          <p:cNvPr id="36" name="Rectangle 35"/>
          <p:cNvSpPr/>
          <p:nvPr/>
        </p:nvSpPr>
        <p:spPr>
          <a:xfrm>
            <a:off x="6629400" y="3127248"/>
            <a:ext cx="246888" cy="246888"/>
          </a:xfrm>
          <a:prstGeom prst="rect">
            <a:avLst/>
          </a:prstGeom>
          <a:solidFill>
            <a:srgbClr val="EAE5DB"/>
          </a:solidFill>
          <a:ln>
            <a:noFill/>
          </a:ln>
        </p:spPr>
        <p:txBody>
          <a:bodyPr rtlCol="0" anchor="ctr" wrap="square" lIns="73152" rIns="73152" tIns="36576" bIns="36576"/>
          <a:lstStyle/>
          <a:p>
            <a:pPr algn="ctr"/>
          </a:p>
        </p:txBody>
      </p:sp>
      <p:sp>
        <p:nvSpPr>
          <p:cNvPr id="37" name="Rectangle 36"/>
          <p:cNvSpPr/>
          <p:nvPr/>
        </p:nvSpPr>
        <p:spPr>
          <a:xfrm>
            <a:off x="6903720" y="1755648"/>
            <a:ext cx="246888" cy="246888"/>
          </a:xfrm>
          <a:prstGeom prst="rect">
            <a:avLst/>
          </a:prstGeom>
          <a:solidFill>
            <a:srgbClr val="EAE5DB"/>
          </a:solidFill>
          <a:ln>
            <a:noFill/>
          </a:ln>
        </p:spPr>
        <p:txBody>
          <a:bodyPr rtlCol="0" anchor="ctr" wrap="square" lIns="73152" rIns="73152" tIns="36576" bIns="36576"/>
          <a:lstStyle/>
          <a:p>
            <a:pPr algn="ctr"/>
          </a:p>
        </p:txBody>
      </p:sp>
      <p:sp>
        <p:nvSpPr>
          <p:cNvPr id="38" name="Rectangle 37"/>
          <p:cNvSpPr/>
          <p:nvPr/>
        </p:nvSpPr>
        <p:spPr>
          <a:xfrm>
            <a:off x="6903720" y="2029968"/>
            <a:ext cx="246888" cy="246888"/>
          </a:xfrm>
          <a:prstGeom prst="rect">
            <a:avLst/>
          </a:prstGeom>
          <a:solidFill>
            <a:srgbClr val="EAE5DB"/>
          </a:solidFill>
          <a:ln>
            <a:noFill/>
          </a:ln>
        </p:spPr>
        <p:txBody>
          <a:bodyPr rtlCol="0" anchor="ctr" wrap="square" lIns="73152" rIns="73152" tIns="36576" bIns="36576"/>
          <a:lstStyle/>
          <a:p>
            <a:pPr algn="ctr"/>
          </a:p>
        </p:txBody>
      </p:sp>
      <p:sp>
        <p:nvSpPr>
          <p:cNvPr id="39" name="Rectangle 38"/>
          <p:cNvSpPr/>
          <p:nvPr/>
        </p:nvSpPr>
        <p:spPr>
          <a:xfrm>
            <a:off x="6903720" y="2304288"/>
            <a:ext cx="246888" cy="246888"/>
          </a:xfrm>
          <a:prstGeom prst="rect">
            <a:avLst/>
          </a:prstGeom>
          <a:solidFill>
            <a:srgbClr val="EAE5DB"/>
          </a:solidFill>
          <a:ln>
            <a:noFill/>
          </a:ln>
        </p:spPr>
        <p:txBody>
          <a:bodyPr rtlCol="0" anchor="ctr" wrap="square" lIns="73152" rIns="73152" tIns="36576" bIns="36576"/>
          <a:lstStyle/>
          <a:p>
            <a:pPr algn="ctr"/>
          </a:p>
        </p:txBody>
      </p:sp>
      <p:sp>
        <p:nvSpPr>
          <p:cNvPr id="40" name="Rectangle 39"/>
          <p:cNvSpPr/>
          <p:nvPr/>
        </p:nvSpPr>
        <p:spPr>
          <a:xfrm>
            <a:off x="6903720" y="2578608"/>
            <a:ext cx="246888" cy="246888"/>
          </a:xfrm>
          <a:prstGeom prst="rect">
            <a:avLst/>
          </a:prstGeom>
          <a:solidFill>
            <a:srgbClr val="EAE5DB"/>
          </a:solidFill>
          <a:ln>
            <a:noFill/>
          </a:ln>
        </p:spPr>
        <p:txBody>
          <a:bodyPr rtlCol="0" anchor="ctr" wrap="square" lIns="73152" rIns="73152" tIns="36576" bIns="36576"/>
          <a:lstStyle/>
          <a:p>
            <a:pPr algn="ctr"/>
          </a:p>
        </p:txBody>
      </p:sp>
      <p:sp>
        <p:nvSpPr>
          <p:cNvPr id="41" name="Rectangle 40"/>
          <p:cNvSpPr/>
          <p:nvPr/>
        </p:nvSpPr>
        <p:spPr>
          <a:xfrm>
            <a:off x="6903720" y="2852928"/>
            <a:ext cx="246888" cy="246888"/>
          </a:xfrm>
          <a:prstGeom prst="rect">
            <a:avLst/>
          </a:prstGeom>
          <a:solidFill>
            <a:srgbClr val="EAE5DB"/>
          </a:solidFill>
          <a:ln>
            <a:noFill/>
          </a:ln>
        </p:spPr>
        <p:txBody>
          <a:bodyPr rtlCol="0" anchor="ctr" wrap="square" lIns="73152" rIns="73152" tIns="36576" bIns="36576"/>
          <a:lstStyle/>
          <a:p>
            <a:pPr algn="ctr"/>
          </a:p>
        </p:txBody>
      </p:sp>
      <p:sp>
        <p:nvSpPr>
          <p:cNvPr id="42" name="Rectangle 41"/>
          <p:cNvSpPr/>
          <p:nvPr/>
        </p:nvSpPr>
        <p:spPr>
          <a:xfrm>
            <a:off x="6903720" y="3127248"/>
            <a:ext cx="246888" cy="246888"/>
          </a:xfrm>
          <a:prstGeom prst="rect">
            <a:avLst/>
          </a:prstGeom>
          <a:solidFill>
            <a:srgbClr val="EAE5DB"/>
          </a:solidFill>
          <a:ln>
            <a:noFill/>
          </a:ln>
        </p:spPr>
        <p:txBody>
          <a:bodyPr rtlCol="0" anchor="ctr" wrap="square" lIns="73152" rIns="73152" tIns="36576" bIns="36576"/>
          <a:lstStyle/>
          <a:p>
            <a:pPr algn="ctr"/>
          </a:p>
        </p:txBody>
      </p:sp>
      <p:sp>
        <p:nvSpPr>
          <p:cNvPr id="43" name="Rectangle 42"/>
          <p:cNvSpPr/>
          <p:nvPr/>
        </p:nvSpPr>
        <p:spPr>
          <a:xfrm>
            <a:off x="7178040" y="1755648"/>
            <a:ext cx="246888" cy="246888"/>
          </a:xfrm>
          <a:prstGeom prst="rect">
            <a:avLst/>
          </a:prstGeom>
          <a:solidFill>
            <a:srgbClr val="EAE5DB"/>
          </a:solidFill>
          <a:ln>
            <a:noFill/>
          </a:ln>
        </p:spPr>
        <p:txBody>
          <a:bodyPr rtlCol="0" anchor="ctr" wrap="square" lIns="73152" rIns="73152" tIns="36576" bIns="36576"/>
          <a:lstStyle/>
          <a:p>
            <a:pPr algn="ctr"/>
          </a:p>
        </p:txBody>
      </p:sp>
      <p:sp>
        <p:nvSpPr>
          <p:cNvPr id="44" name="Rectangle 43"/>
          <p:cNvSpPr/>
          <p:nvPr/>
        </p:nvSpPr>
        <p:spPr>
          <a:xfrm>
            <a:off x="7178040" y="2029968"/>
            <a:ext cx="246888" cy="246888"/>
          </a:xfrm>
          <a:prstGeom prst="rect">
            <a:avLst/>
          </a:prstGeom>
          <a:solidFill>
            <a:srgbClr val="EAE5DB"/>
          </a:solidFill>
          <a:ln>
            <a:noFill/>
          </a:ln>
        </p:spPr>
        <p:txBody>
          <a:bodyPr rtlCol="0" anchor="ctr" wrap="square" lIns="73152" rIns="73152" tIns="36576" bIns="36576"/>
          <a:lstStyle/>
          <a:p>
            <a:pPr algn="ctr"/>
          </a:p>
        </p:txBody>
      </p:sp>
      <p:sp>
        <p:nvSpPr>
          <p:cNvPr id="45" name="Rectangle 44"/>
          <p:cNvSpPr/>
          <p:nvPr/>
        </p:nvSpPr>
        <p:spPr>
          <a:xfrm>
            <a:off x="7178040" y="2304288"/>
            <a:ext cx="246888" cy="246888"/>
          </a:xfrm>
          <a:prstGeom prst="rect">
            <a:avLst/>
          </a:prstGeom>
          <a:solidFill>
            <a:srgbClr val="EAE5DB"/>
          </a:solidFill>
          <a:ln>
            <a:noFill/>
          </a:ln>
        </p:spPr>
        <p:txBody>
          <a:bodyPr rtlCol="0" anchor="ctr" wrap="square" lIns="73152" rIns="73152" tIns="36576" bIns="36576"/>
          <a:lstStyle/>
          <a:p>
            <a:pPr algn="ctr"/>
          </a:p>
        </p:txBody>
      </p:sp>
      <p:sp>
        <p:nvSpPr>
          <p:cNvPr id="46" name="Rectangle 45"/>
          <p:cNvSpPr/>
          <p:nvPr/>
        </p:nvSpPr>
        <p:spPr>
          <a:xfrm>
            <a:off x="7178040" y="2578608"/>
            <a:ext cx="246888" cy="246888"/>
          </a:xfrm>
          <a:prstGeom prst="rect">
            <a:avLst/>
          </a:prstGeom>
          <a:solidFill>
            <a:srgbClr val="EAE5DB"/>
          </a:solidFill>
          <a:ln>
            <a:noFill/>
          </a:ln>
        </p:spPr>
        <p:txBody>
          <a:bodyPr rtlCol="0" anchor="ctr" wrap="square" lIns="73152" rIns="73152" tIns="36576" bIns="36576"/>
          <a:lstStyle/>
          <a:p>
            <a:pPr algn="ctr"/>
          </a:p>
        </p:txBody>
      </p:sp>
      <p:sp>
        <p:nvSpPr>
          <p:cNvPr id="47" name="Rectangle 46"/>
          <p:cNvSpPr/>
          <p:nvPr/>
        </p:nvSpPr>
        <p:spPr>
          <a:xfrm>
            <a:off x="7178040" y="2852928"/>
            <a:ext cx="246888" cy="246888"/>
          </a:xfrm>
          <a:prstGeom prst="rect">
            <a:avLst/>
          </a:prstGeom>
          <a:solidFill>
            <a:srgbClr val="EAE5DB"/>
          </a:solidFill>
          <a:ln>
            <a:noFill/>
          </a:ln>
        </p:spPr>
        <p:txBody>
          <a:bodyPr rtlCol="0" anchor="ctr" wrap="square" lIns="73152" rIns="73152" tIns="36576" bIns="36576"/>
          <a:lstStyle/>
          <a:p>
            <a:pPr algn="ctr"/>
          </a:p>
        </p:txBody>
      </p:sp>
      <p:sp>
        <p:nvSpPr>
          <p:cNvPr id="48" name="Rectangle 47"/>
          <p:cNvSpPr/>
          <p:nvPr/>
        </p:nvSpPr>
        <p:spPr>
          <a:xfrm>
            <a:off x="7178040" y="3127248"/>
            <a:ext cx="246888" cy="246888"/>
          </a:xfrm>
          <a:prstGeom prst="rect">
            <a:avLst/>
          </a:prstGeom>
          <a:solidFill>
            <a:srgbClr val="EAE5DB"/>
          </a:solidFill>
          <a:ln>
            <a:noFill/>
          </a:ln>
        </p:spPr>
        <p:txBody>
          <a:bodyPr rtlCol="0" anchor="ctr" wrap="square" lIns="73152" rIns="73152" tIns="36576" bIns="36576"/>
          <a:lstStyle/>
          <a:p>
            <a:pPr algn="ctr"/>
          </a:p>
        </p:txBody>
      </p:sp>
      <p:sp>
        <p:nvSpPr>
          <p:cNvPr id="49" name="TextBox 48"/>
          <p:cNvSpPr txBox="1"/>
          <p:nvPr/>
        </p:nvSpPr>
        <p:spPr>
          <a:xfrm>
            <a:off x="5806440" y="3447287"/>
            <a:ext cx="1645919" cy="274320"/>
          </a:xfrm>
          <a:prstGeom prst="rect">
            <a:avLst/>
          </a:prstGeom>
          <a:noFill/>
        </p:spPr>
        <p:txBody>
          <a:bodyPr wrap="square" lIns="0" rIns="0" tIns="0" bIns="0" anchor="t">
            <a:spAutoFit/>
          </a:bodyPr>
          <a:lstStyle/>
          <a:p>
            <a:pPr algn="ctr"/>
            <a:r>
              <a:rPr sz="1400" b="1" i="0">
                <a:solidFill>
                  <a:srgbClr val="1F6F6B"/>
                </a:solidFill>
                <a:latin typeface="IBM Plex Sans"/>
              </a:rPr>
              <a:t>mask M</a:t>
            </a:r>
          </a:p>
        </p:txBody>
      </p:sp>
      <p:cxnSp>
        <p:nvCxnSpPr>
          <p:cNvPr id="50" name="Connector 49"/>
          <p:cNvCxnSpPr/>
          <p:nvPr/>
        </p:nvCxnSpPr>
        <p:spPr>
          <a:xfrm flipV="1">
            <a:off x="5486400" y="2578608"/>
            <a:ext cx="228600" cy="91440"/>
          </a:xfrm>
          <a:prstGeom prst="line">
            <a:avLst/>
          </a:prstGeom>
          <a:ln w="19050">
            <a:solidFill>
              <a:srgbClr val="5B636B"/>
            </a:solidFill>
            <a:tailEnd type="triangle" w="med" len="med"/>
          </a:ln>
        </p:spPr>
      </p:cxnSp>
      <p:sp>
        <p:nvSpPr>
          <p:cNvPr id="51" name="TextBox 50"/>
          <p:cNvSpPr txBox="1"/>
          <p:nvPr/>
        </p:nvSpPr>
        <p:spPr>
          <a:xfrm>
            <a:off x="548640" y="4754880"/>
            <a:ext cx="6766560" cy="274320"/>
          </a:xfrm>
          <a:prstGeom prst="rect">
            <a:avLst/>
          </a:prstGeom>
          <a:noFill/>
        </p:spPr>
        <p:txBody>
          <a:bodyPr wrap="square" lIns="0" rIns="0" tIns="0" bIns="0" anchor="t">
            <a:spAutoFit/>
          </a:bodyPr>
          <a:lstStyle/>
          <a:p>
            <a:pPr algn="l"/>
            <a:r>
              <a:rPr sz="1300" b="1" i="0" spc="50">
                <a:solidFill>
                  <a:srgbClr val="5B636B"/>
                </a:solidFill>
                <a:latin typeface="IBM Plex Sans"/>
              </a:rPr>
              <a:t>CANVAS MASK AS LAYER ALGEBRA</a:t>
            </a:r>
          </a:p>
        </p:txBody>
      </p:sp>
      <p:pic>
        <p:nvPicPr>
          <p:cNvPr id="52" name="Picture 51" descr="eq12_canvas@3x.png"/>
          <p:cNvPicPr>
            <a:picLocks noChangeAspect="1"/>
          </p:cNvPicPr>
          <p:nvPr/>
        </p:nvPicPr>
        <p:blipFill>
          <a:blip r:embed="rId2"/>
          <a:stretch>
            <a:fillRect/>
          </a:stretch>
        </p:blipFill>
        <p:spPr>
          <a:xfrm>
            <a:off x="548640" y="5102352"/>
            <a:ext cx="4410733" cy="328768"/>
          </a:xfrm>
          <a:prstGeom prst="rect">
            <a:avLst/>
          </a:prstGeom>
        </p:spPr>
      </p:pic>
      <p:sp>
        <p:nvSpPr>
          <p:cNvPr id="53" name="Figure panel fashioniq"/>
          <p:cNvSpPr/>
          <p:nvPr/>
        </p:nvSpPr>
        <p:spPr>
          <a:xfrm>
            <a:off x="7863840" y="1481328"/>
            <a:ext cx="3794760" cy="1874519"/>
          </a:xfrm>
          <a:prstGeom prst="rect">
            <a:avLst/>
          </a:prstGeom>
          <a:solidFill>
            <a:srgbClr val="FFFDF8"/>
          </a:solidFill>
          <a:ln w="9525">
            <a:solidFill>
              <a:srgbClr val="DDD6C8"/>
            </a:solidFill>
            <a:prstDash val="dash"/>
          </a:ln>
        </p:spPr>
        <p:txBody>
          <a:bodyPr rtlCol="0" anchor="ctr" wrap="square" lIns="73152" rIns="73152" tIns="36576" bIns="36576"/>
          <a:lstStyle/>
          <a:p>
            <a:pPr algn="ctr"/>
          </a:p>
        </p:txBody>
      </p:sp>
      <p:sp>
        <p:nvSpPr>
          <p:cNvPr id="54" name="Placeholder"/>
          <p:cNvSpPr txBox="1"/>
          <p:nvPr/>
        </p:nvSpPr>
        <p:spPr>
          <a:xfrm>
            <a:off x="8092440" y="1664208"/>
            <a:ext cx="3337560" cy="1508760"/>
          </a:xfrm>
          <a:prstGeom prst="rect">
            <a:avLst/>
          </a:prstGeom>
          <a:noFill/>
        </p:spPr>
        <p:txBody>
          <a:bodyPr wrap="square" lIns="0" rIns="0" tIns="0" bIns="0" anchor="ctr">
            <a:spAutoFit/>
          </a:bodyPr>
          <a:lstStyle/>
          <a:p>
            <a:pPr algn="ctr"/>
            <a:r>
              <a:rPr sz="1600" b="0" i="1">
                <a:solidFill>
                  <a:srgbClr val="5B636B"/>
                </a:solidFill>
                <a:latin typeface="IBM Plex Sans"/>
              </a:rPr>
              <a:t>[Figure: Fashion IQ, dataset examples: reference image, relative caption, target image]</a:t>
            </a:r>
          </a:p>
        </p:txBody>
      </p:sp>
      <p:sp>
        <p:nvSpPr>
          <p:cNvPr id="55" name="Caption"/>
          <p:cNvSpPr txBox="1"/>
          <p:nvPr/>
        </p:nvSpPr>
        <p:spPr>
          <a:xfrm>
            <a:off x="7863840" y="3410712"/>
            <a:ext cx="3794760" cy="457200"/>
          </a:xfrm>
          <a:prstGeom prst="rect">
            <a:avLst/>
          </a:prstGeom>
          <a:noFill/>
        </p:spPr>
        <p:txBody>
          <a:bodyPr wrap="square" lIns="0" rIns="0" tIns="0" bIns="0" anchor="t">
            <a:spAutoFit/>
          </a:bodyPr>
          <a:lstStyle/>
          <a:p>
            <a:pPr algn="l"/>
            <a:r>
              <a:rPr sz="1200" b="0" i="0">
                <a:solidFill>
                  <a:srgbClr val="5B636B"/>
                </a:solidFill>
                <a:latin typeface="IBM Plex Sans"/>
              </a:rPr>
              <a:t>Placeholder: PDF not reachable at build time. Wu et al. (2019), arXiv:1905.12794.</a:t>
            </a:r>
          </a:p>
        </p:txBody>
      </p:sp>
      <p:sp>
        <p:nvSpPr>
          <p:cNvPr id="56" name="Statements"/>
          <p:cNvSpPr txBox="1"/>
          <p:nvPr/>
        </p:nvSpPr>
        <p:spPr>
          <a:xfrm>
            <a:off x="7863840" y="3931920"/>
            <a:ext cx="3794760" cy="2148840"/>
          </a:xfrm>
          <a:prstGeom prst="rect">
            <a:avLst/>
          </a:prstGeom>
          <a:noFill/>
        </p:spPr>
        <p:txBody>
          <a:bodyPr wrap="square" lIns="0" rIns="0" tIns="0" bIns="0" anchor="t">
            <a:spAutoFit/>
          </a:bodyPr>
          <a:lstStyle/>
          <a:p>
            <a:pPr algn="l">
              <a:lnSpc>
                <a:spcPct val="108000"/>
              </a:lnSpc>
              <a:spcAft>
                <a:spcPts val="1200"/>
              </a:spcAft>
            </a:pPr>
            <a:r>
              <a:rPr sz="1800" b="0" i="0">
                <a:solidFill>
                  <a:srgbClr val="1E2328"/>
                </a:solidFill>
                <a:latin typeface="IBM Plex Sans"/>
              </a:rPr>
              <a:t>Unmentioned attributes </a:t>
            </a:r>
            <a:r>
              <a:rPr sz="1800" b="1" i="0">
                <a:solidFill>
                  <a:srgbClr val="1F6F6B"/>
                </a:solidFill>
                <a:latin typeface="IBM Plex Sans"/>
              </a:rPr>
              <a:t>stay fixed</a:t>
            </a:r>
            <a:r>
              <a:rPr sz="1800" b="0" i="0">
                <a:solidFill>
                  <a:srgbClr val="1E2328"/>
                </a:solidFill>
                <a:latin typeface="IBM Plex Sans"/>
              </a:rPr>
              <a:t> across turns.</a:t>
            </a:r>
          </a:p>
          <a:p>
            <a:pPr algn="l">
              <a:lnSpc>
                <a:spcPct val="108000"/>
              </a:lnSpc>
              <a:spcAft>
                <a:spcPts val="1200"/>
              </a:spcAft>
            </a:pPr>
            <a:r>
              <a:rPr sz="1800" b="0" i="0">
                <a:solidFill>
                  <a:srgbClr val="1E2328"/>
                </a:solidFill>
                <a:latin typeface="IBM Plex Sans"/>
              </a:rPr>
              <a:t>Fashion IQ collects relative-caption feedback for dresses, shirts, tops &amp; tees.</a:t>
            </a:r>
          </a:p>
        </p:txBody>
      </p:sp>
      <p:sp>
        <p:nvSpPr>
          <p:cNvPr id="57" name="Footer"/>
          <p:cNvSpPr txBox="1"/>
          <p:nvPr/>
        </p:nvSpPr>
        <p:spPr>
          <a:xfrm>
            <a:off x="548640" y="6309360"/>
            <a:ext cx="10362895" cy="411480"/>
          </a:xfrm>
          <a:prstGeom prst="rect">
            <a:avLst/>
          </a:prstGeom>
          <a:noFill/>
        </p:spPr>
        <p:txBody>
          <a:bodyPr wrap="square" lIns="0" rIns="0" tIns="0" bIns="0" anchor="t">
            <a:spAutoFit/>
          </a:bodyPr>
          <a:lstStyle/>
          <a:p>
            <a:pPr algn="l"/>
            <a:r>
              <a:rPr sz="1200" b="0" i="0">
                <a:solidFill>
                  <a:srgbClr val="5B636B"/>
                </a:solidFill>
                <a:latin typeface="IBM Plex Sans"/>
              </a:rPr>
              <a:t>Wu et al. (2019) arXiv:1905.12794 · Canvas: internal design.</a:t>
            </a:r>
          </a:p>
        </p:txBody>
      </p:sp>
      <p:sp>
        <p:nvSpPr>
          <p:cNvPr id="58" name="Page"/>
          <p:cNvSpPr txBox="1"/>
          <p:nvPr/>
        </p:nvSpPr>
        <p:spPr>
          <a:xfrm>
            <a:off x="11094415" y="6309360"/>
            <a:ext cx="548640" cy="274320"/>
          </a:xfrm>
          <a:prstGeom prst="rect">
            <a:avLst/>
          </a:prstGeom>
          <a:noFill/>
        </p:spPr>
        <p:txBody>
          <a:bodyPr wrap="square" lIns="0" rIns="0" tIns="0" bIns="0" anchor="t">
            <a:spAutoFit/>
          </a:bodyPr>
          <a:lstStyle/>
          <a:p>
            <a:pPr algn="r"/>
            <a:r>
              <a:rPr sz="1200" b="0" i="0">
                <a:solidFill>
                  <a:srgbClr val="5B636B"/>
                </a:solidFill>
                <a:latin typeface="IBM Plex San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Kicker"/>
          <p:cNvSpPr txBox="1"/>
          <p:nvPr/>
        </p:nvSpPr>
        <p:spPr>
          <a:xfrm>
            <a:off x="548640" y="384048"/>
            <a:ext cx="11094415" cy="274320"/>
          </a:xfrm>
          <a:prstGeom prst="rect">
            <a:avLst/>
          </a:prstGeom>
          <a:noFill/>
        </p:spPr>
        <p:txBody>
          <a:bodyPr wrap="square" lIns="0" rIns="0" tIns="0" bIns="0" anchor="t">
            <a:spAutoFit/>
          </a:bodyPr>
          <a:lstStyle/>
          <a:p>
            <a:pPr algn="l"/>
            <a:r>
              <a:rPr sz="1300" b="1" i="0" spc="150">
                <a:solidFill>
                  <a:srgbClr val="1F6F6B"/>
                </a:solidFill>
                <a:latin typeface="IBM Plex Sans"/>
              </a:rPr>
              <a:t>GENERATIVE RETRIEVAL</a:t>
            </a:r>
          </a:p>
        </p:txBody>
      </p:sp>
      <p:sp>
        <p:nvSpPr>
          <p:cNvPr id="3" name="Title"/>
          <p:cNvSpPr txBox="1"/>
          <p:nvPr/>
        </p:nvSpPr>
        <p:spPr>
          <a:xfrm>
            <a:off x="548640" y="676656"/>
            <a:ext cx="11094415" cy="731520"/>
          </a:xfrm>
          <a:prstGeom prst="rect">
            <a:avLst/>
          </a:prstGeom>
          <a:noFill/>
        </p:spPr>
        <p:txBody>
          <a:bodyPr wrap="square" lIns="0" rIns="0" tIns="0" bIns="0" anchor="t">
            <a:spAutoFit/>
          </a:bodyPr>
          <a:lstStyle/>
          <a:p>
            <a:pPr algn="l"/>
            <a:r>
              <a:rPr sz="2800" b="0" i="0">
                <a:solidFill>
                  <a:srgbClr val="1E2328"/>
                </a:solidFill>
                <a:latin typeface="Libre Baskerville"/>
              </a:rPr>
              <a:t>Semantic IDs: generate codes, then items</a:t>
            </a:r>
          </a:p>
        </p:txBody>
      </p:sp>
      <p:sp>
        <p:nvSpPr>
          <p:cNvPr id="4" name="Oval 3"/>
          <p:cNvSpPr/>
          <p:nvPr/>
        </p:nvSpPr>
        <p:spPr>
          <a:xfrm>
            <a:off x="640080" y="2670048"/>
            <a:ext cx="777240" cy="548640"/>
          </a:xfrm>
          <a:prstGeom prst="ellipse">
            <a:avLst/>
          </a:prstGeom>
          <a:solidFill>
            <a:srgbClr val="EAE5DB"/>
          </a:solidFill>
          <a:ln>
            <a:noFill/>
          </a:ln>
        </p:spPr>
        <p:txBody>
          <a:bodyPr rtlCol="0" anchor="ctr" wrap="square" lIns="18288" rIns="18288" tIns="36576" bIns="36576"/>
          <a:lstStyle/>
          <a:p>
            <a:pPr algn="ctr"/>
            <a:r>
              <a:rPr sz="1400" b="0" i="0">
                <a:solidFill>
                  <a:srgbClr val="1E2328"/>
                </a:solidFill>
                <a:latin typeface="IBM Plex Sans"/>
              </a:rPr>
              <a:t>BOS</a:t>
            </a:r>
          </a:p>
        </p:txBody>
      </p:sp>
      <p:sp>
        <p:nvSpPr>
          <p:cNvPr id="5" name="Oval 4"/>
          <p:cNvSpPr/>
          <p:nvPr/>
        </p:nvSpPr>
        <p:spPr>
          <a:xfrm>
            <a:off x="1828800" y="1847088"/>
            <a:ext cx="777240" cy="548640"/>
          </a:xfrm>
          <a:prstGeom prst="ellipse">
            <a:avLst/>
          </a:prstGeom>
          <a:solidFill>
            <a:srgbClr val="1F6F6B"/>
          </a:solidFill>
          <a:ln>
            <a:noFill/>
          </a:ln>
        </p:spPr>
        <p:txBody>
          <a:bodyPr rtlCol="0" anchor="ctr" wrap="square" lIns="18288" rIns="18288" tIns="36576" bIns="36576"/>
          <a:lstStyle/>
          <a:p>
            <a:pPr algn="ctr"/>
            <a:r>
              <a:rPr sz="1400" b="0" i="0">
                <a:solidFill>
                  <a:srgbClr val="F5F2EC"/>
                </a:solidFill>
                <a:latin typeface="IBM Plex Sans"/>
              </a:rPr>
              <a:t>12</a:t>
            </a:r>
          </a:p>
        </p:txBody>
      </p:sp>
      <p:sp>
        <p:nvSpPr>
          <p:cNvPr id="6" name="Oval 5"/>
          <p:cNvSpPr/>
          <p:nvPr/>
        </p:nvSpPr>
        <p:spPr>
          <a:xfrm>
            <a:off x="1828800" y="2670048"/>
            <a:ext cx="777240" cy="548640"/>
          </a:xfrm>
          <a:prstGeom prst="ellipse">
            <a:avLst/>
          </a:prstGeom>
          <a:solidFill>
            <a:srgbClr val="FFFDF8"/>
          </a:solidFill>
          <a:ln w="12700">
            <a:solidFill>
              <a:srgbClr val="DDD6C8"/>
            </a:solidFill>
          </a:ln>
        </p:spPr>
        <p:txBody>
          <a:bodyPr rtlCol="0" anchor="ctr" wrap="square" lIns="18288" rIns="18288" tIns="36576" bIns="36576"/>
          <a:lstStyle/>
          <a:p>
            <a:pPr algn="ctr"/>
            <a:r>
              <a:rPr sz="1400" b="0" i="0">
                <a:solidFill>
                  <a:srgbClr val="1E2328"/>
                </a:solidFill>
                <a:latin typeface="IBM Plex Sans"/>
              </a:rPr>
              <a:t>57</a:t>
            </a:r>
          </a:p>
        </p:txBody>
      </p:sp>
      <p:sp>
        <p:nvSpPr>
          <p:cNvPr id="7" name="Oval 6"/>
          <p:cNvSpPr/>
          <p:nvPr/>
        </p:nvSpPr>
        <p:spPr>
          <a:xfrm>
            <a:off x="1828800" y="3493008"/>
            <a:ext cx="777240" cy="548640"/>
          </a:xfrm>
          <a:prstGeom prst="ellipse">
            <a:avLst/>
          </a:prstGeom>
          <a:solidFill>
            <a:srgbClr val="FFFDF8"/>
          </a:solidFill>
          <a:ln w="12700">
            <a:solidFill>
              <a:srgbClr val="DDD6C8"/>
            </a:solidFill>
          </a:ln>
        </p:spPr>
        <p:txBody>
          <a:bodyPr rtlCol="0" anchor="ctr" wrap="square" lIns="18288" rIns="18288" tIns="36576" bIns="36576"/>
          <a:lstStyle/>
          <a:p>
            <a:pPr algn="ctr"/>
            <a:r>
              <a:rPr sz="1400" b="0" i="0">
                <a:solidFill>
                  <a:srgbClr val="1E2328"/>
                </a:solidFill>
                <a:latin typeface="IBM Plex Sans"/>
              </a:rPr>
              <a:t>203</a:t>
            </a:r>
          </a:p>
        </p:txBody>
      </p:sp>
      <p:sp>
        <p:nvSpPr>
          <p:cNvPr id="8" name="Oval 7"/>
          <p:cNvSpPr/>
          <p:nvPr/>
        </p:nvSpPr>
        <p:spPr>
          <a:xfrm>
            <a:off x="3063240" y="1527048"/>
            <a:ext cx="777240" cy="548640"/>
          </a:xfrm>
          <a:prstGeom prst="ellipse">
            <a:avLst/>
          </a:prstGeom>
          <a:solidFill>
            <a:srgbClr val="1F6F6B"/>
          </a:solidFill>
          <a:ln>
            <a:noFill/>
          </a:ln>
        </p:spPr>
        <p:txBody>
          <a:bodyPr rtlCol="0" anchor="ctr" wrap="square" lIns="18288" rIns="18288" tIns="36576" bIns="36576"/>
          <a:lstStyle/>
          <a:p>
            <a:pPr algn="ctr"/>
            <a:r>
              <a:rPr sz="1400" b="0" i="0">
                <a:solidFill>
                  <a:srgbClr val="F5F2EC"/>
                </a:solidFill>
                <a:latin typeface="IBM Plex Sans"/>
              </a:rPr>
              <a:t>407</a:t>
            </a:r>
          </a:p>
        </p:txBody>
      </p:sp>
      <p:sp>
        <p:nvSpPr>
          <p:cNvPr id="9" name="Oval 8"/>
          <p:cNvSpPr/>
          <p:nvPr/>
        </p:nvSpPr>
        <p:spPr>
          <a:xfrm>
            <a:off x="3063240" y="2258568"/>
            <a:ext cx="777240" cy="548640"/>
          </a:xfrm>
          <a:prstGeom prst="ellipse">
            <a:avLst/>
          </a:prstGeom>
          <a:solidFill>
            <a:srgbClr val="FFFDF8"/>
          </a:solidFill>
          <a:ln w="12700">
            <a:solidFill>
              <a:srgbClr val="A5541B"/>
            </a:solidFill>
            <a:prstDash val="dash"/>
          </a:ln>
        </p:spPr>
        <p:txBody>
          <a:bodyPr rtlCol="0" anchor="ctr" wrap="square" lIns="18288" rIns="18288" tIns="36576" bIns="36576"/>
          <a:lstStyle/>
          <a:p>
            <a:pPr algn="ctr"/>
            <a:r>
              <a:rPr sz="1400" b="0" i="0">
                <a:solidFill>
                  <a:srgbClr val="A5541B"/>
                </a:solidFill>
                <a:latin typeface="IBM Plex Sans"/>
              </a:rPr>
              <a:t>95</a:t>
            </a:r>
          </a:p>
        </p:txBody>
      </p:sp>
      <p:sp>
        <p:nvSpPr>
          <p:cNvPr id="10" name="Oval 9"/>
          <p:cNvSpPr/>
          <p:nvPr/>
        </p:nvSpPr>
        <p:spPr>
          <a:xfrm>
            <a:off x="4297679" y="1435608"/>
            <a:ext cx="777240" cy="548640"/>
          </a:xfrm>
          <a:prstGeom prst="ellipse">
            <a:avLst/>
          </a:prstGeom>
          <a:solidFill>
            <a:srgbClr val="1F6F6B"/>
          </a:solidFill>
          <a:ln>
            <a:noFill/>
          </a:ln>
        </p:spPr>
        <p:txBody>
          <a:bodyPr rtlCol="0" anchor="ctr" wrap="square" lIns="18288" rIns="18288" tIns="36576" bIns="36576"/>
          <a:lstStyle/>
          <a:p>
            <a:pPr algn="ctr"/>
            <a:r>
              <a:rPr sz="1400" b="0" i="0">
                <a:solidFill>
                  <a:srgbClr val="F5F2EC"/>
                </a:solidFill>
                <a:latin typeface="IBM Plex Sans"/>
              </a:rPr>
              <a:t>88</a:t>
            </a:r>
          </a:p>
        </p:txBody>
      </p:sp>
      <p:sp>
        <p:nvSpPr>
          <p:cNvPr id="11" name="Oval 10"/>
          <p:cNvSpPr/>
          <p:nvPr/>
        </p:nvSpPr>
        <p:spPr>
          <a:xfrm>
            <a:off x="4297679" y="2075688"/>
            <a:ext cx="777240" cy="548640"/>
          </a:xfrm>
          <a:prstGeom prst="ellipse">
            <a:avLst/>
          </a:prstGeom>
          <a:solidFill>
            <a:srgbClr val="FFFDF8"/>
          </a:solidFill>
          <a:ln w="12700">
            <a:solidFill>
              <a:srgbClr val="DDD6C8"/>
            </a:solidFill>
          </a:ln>
        </p:spPr>
        <p:txBody>
          <a:bodyPr rtlCol="0" anchor="ctr" wrap="square" lIns="18288" rIns="18288" tIns="36576" bIns="36576"/>
          <a:lstStyle/>
          <a:p>
            <a:pPr algn="ctr"/>
            <a:r>
              <a:rPr sz="1400" b="0" i="0">
                <a:solidFill>
                  <a:srgbClr val="1E2328"/>
                </a:solidFill>
                <a:latin typeface="IBM Plex Sans"/>
              </a:rPr>
              <a:t>311</a:t>
            </a:r>
          </a:p>
        </p:txBody>
      </p:sp>
      <p:cxnSp>
        <p:nvCxnSpPr>
          <p:cNvPr id="12" name="Connector 11"/>
          <p:cNvCxnSpPr/>
          <p:nvPr/>
        </p:nvCxnSpPr>
        <p:spPr>
          <a:xfrm flipV="1">
            <a:off x="1417320" y="2121408"/>
            <a:ext cx="411480" cy="822960"/>
          </a:xfrm>
          <a:prstGeom prst="line">
            <a:avLst/>
          </a:prstGeom>
          <a:ln w="31750">
            <a:solidFill>
              <a:srgbClr val="1F6F6B"/>
            </a:solidFill>
            <a:tailEnd type="triangle" w="med" len="med"/>
          </a:ln>
        </p:spPr>
      </p:cxnSp>
      <p:cxnSp>
        <p:nvCxnSpPr>
          <p:cNvPr id="13" name="Connector 12"/>
          <p:cNvCxnSpPr/>
          <p:nvPr/>
        </p:nvCxnSpPr>
        <p:spPr>
          <a:xfrm>
            <a:off x="1417320" y="2944368"/>
            <a:ext cx="411480" cy="0"/>
          </a:xfrm>
          <a:prstGeom prst="line">
            <a:avLst/>
          </a:prstGeom>
          <a:ln w="15875">
            <a:solidFill>
              <a:srgbClr val="DDD6C8"/>
            </a:solidFill>
            <a:tailEnd type="triangle" w="med" len="med"/>
          </a:ln>
        </p:spPr>
      </p:cxnSp>
      <p:cxnSp>
        <p:nvCxnSpPr>
          <p:cNvPr id="14" name="Connector 13"/>
          <p:cNvCxnSpPr/>
          <p:nvPr/>
        </p:nvCxnSpPr>
        <p:spPr>
          <a:xfrm>
            <a:off x="1417320" y="2944368"/>
            <a:ext cx="411480" cy="822960"/>
          </a:xfrm>
          <a:prstGeom prst="line">
            <a:avLst/>
          </a:prstGeom>
          <a:ln w="15875">
            <a:solidFill>
              <a:srgbClr val="DDD6C8"/>
            </a:solidFill>
            <a:tailEnd type="triangle" w="med" len="med"/>
          </a:ln>
        </p:spPr>
      </p:cxnSp>
      <p:cxnSp>
        <p:nvCxnSpPr>
          <p:cNvPr id="15" name="Connector 14"/>
          <p:cNvCxnSpPr/>
          <p:nvPr/>
        </p:nvCxnSpPr>
        <p:spPr>
          <a:xfrm flipV="1">
            <a:off x="2606040" y="1801368"/>
            <a:ext cx="457200" cy="320040"/>
          </a:xfrm>
          <a:prstGeom prst="line">
            <a:avLst/>
          </a:prstGeom>
          <a:ln w="31750">
            <a:solidFill>
              <a:srgbClr val="1F6F6B"/>
            </a:solidFill>
            <a:tailEnd type="triangle" w="med" len="med"/>
          </a:ln>
        </p:spPr>
      </p:cxnSp>
      <p:cxnSp>
        <p:nvCxnSpPr>
          <p:cNvPr id="16" name="Connector 15"/>
          <p:cNvCxnSpPr/>
          <p:nvPr/>
        </p:nvCxnSpPr>
        <p:spPr>
          <a:xfrm>
            <a:off x="2606040" y="2121408"/>
            <a:ext cx="457200" cy="411480"/>
          </a:xfrm>
          <a:prstGeom prst="line">
            <a:avLst/>
          </a:prstGeom>
          <a:ln w="19050">
            <a:solidFill>
              <a:srgbClr val="A5541B"/>
            </a:solidFill>
            <a:prstDash val="dash"/>
            <a:tailEnd type="triangle" w="med" len="med"/>
          </a:ln>
        </p:spPr>
      </p:cxnSp>
      <p:cxnSp>
        <p:nvCxnSpPr>
          <p:cNvPr id="17" name="Connector 16"/>
          <p:cNvCxnSpPr/>
          <p:nvPr/>
        </p:nvCxnSpPr>
        <p:spPr>
          <a:xfrm flipV="1">
            <a:off x="3840480" y="1709928"/>
            <a:ext cx="457199" cy="91440"/>
          </a:xfrm>
          <a:prstGeom prst="line">
            <a:avLst/>
          </a:prstGeom>
          <a:ln w="31750">
            <a:solidFill>
              <a:srgbClr val="1F6F6B"/>
            </a:solidFill>
            <a:tailEnd type="triangle" w="med" len="med"/>
          </a:ln>
        </p:spPr>
      </p:cxnSp>
      <p:cxnSp>
        <p:nvCxnSpPr>
          <p:cNvPr id="18" name="Connector 17"/>
          <p:cNvCxnSpPr/>
          <p:nvPr/>
        </p:nvCxnSpPr>
        <p:spPr>
          <a:xfrm>
            <a:off x="3840480" y="1801368"/>
            <a:ext cx="457199" cy="548640"/>
          </a:xfrm>
          <a:prstGeom prst="line">
            <a:avLst/>
          </a:prstGeom>
          <a:ln w="15875">
            <a:solidFill>
              <a:srgbClr val="DDD6C8"/>
            </a:solidFill>
            <a:tailEnd type="triangle" w="med" len="med"/>
          </a:ln>
        </p:spPr>
      </p:cxnSp>
      <p:sp>
        <p:nvSpPr>
          <p:cNvPr id="19" name="TextBox 18"/>
          <p:cNvSpPr txBox="1"/>
          <p:nvPr/>
        </p:nvSpPr>
        <p:spPr>
          <a:xfrm>
            <a:off x="2743200" y="2880360"/>
            <a:ext cx="1554480" cy="548640"/>
          </a:xfrm>
          <a:prstGeom prst="rect">
            <a:avLst/>
          </a:prstGeom>
          <a:noFill/>
        </p:spPr>
        <p:txBody>
          <a:bodyPr wrap="square" lIns="0" rIns="0" tIns="0" bIns="0" anchor="t">
            <a:spAutoFit/>
          </a:bodyPr>
          <a:lstStyle/>
          <a:p>
            <a:pPr algn="ctr"/>
            <a:r>
              <a:rPr sz="1300" b="0" i="0">
                <a:solidFill>
                  <a:srgbClr val="A5541B"/>
                </a:solidFill>
                <a:latin typeface="IBM Plex Sans"/>
              </a:rPr>
              <a:t>✕ pruned by</a:t>
            </a:r>
          </a:p>
          <a:p>
            <a:pPr algn="ctr"/>
            <a:r>
              <a:rPr sz="1300" b="0" i="0">
                <a:solidFill>
                  <a:srgbClr val="A5541B"/>
                </a:solidFill>
                <a:latin typeface="IBM Plex Sans"/>
              </a:rPr>
              <a:t>eligibility mask</a:t>
            </a:r>
          </a:p>
        </p:txBody>
      </p:sp>
      <p:sp>
        <p:nvSpPr>
          <p:cNvPr id="20" name="TextBox 19"/>
          <p:cNvSpPr txBox="1"/>
          <p:nvPr/>
        </p:nvSpPr>
        <p:spPr>
          <a:xfrm>
            <a:off x="4251959" y="2734056"/>
            <a:ext cx="1371600" cy="548640"/>
          </a:xfrm>
          <a:prstGeom prst="rect">
            <a:avLst/>
          </a:prstGeom>
          <a:noFill/>
        </p:spPr>
        <p:txBody>
          <a:bodyPr wrap="square" lIns="0" rIns="0" tIns="0" bIns="0" anchor="t">
            <a:spAutoFit/>
          </a:bodyPr>
          <a:lstStyle/>
          <a:p>
            <a:pPr algn="l"/>
            <a:r>
              <a:rPr sz="1300" b="1" i="0">
                <a:solidFill>
                  <a:srgbClr val="1F6F6B"/>
                </a:solidFill>
                <a:latin typeface="IBM Plex Sans"/>
              </a:rPr>
              <a:t>ID =</a:t>
            </a:r>
          </a:p>
          <a:p>
            <a:pPr algn="l"/>
            <a:r>
              <a:rPr sz="1300" b="1" i="0">
                <a:solidFill>
                  <a:srgbClr val="1F6F6B"/>
                </a:solidFill>
                <a:latin typeface="IBM Plex Sans"/>
              </a:rPr>
              <a:t>[12, 407, 88]</a:t>
            </a:r>
          </a:p>
        </p:txBody>
      </p:sp>
      <p:sp>
        <p:nvSpPr>
          <p:cNvPr id="21" name="TextBox 20"/>
          <p:cNvSpPr txBox="1"/>
          <p:nvPr/>
        </p:nvSpPr>
        <p:spPr>
          <a:xfrm>
            <a:off x="548640" y="4178808"/>
            <a:ext cx="4846320" cy="274320"/>
          </a:xfrm>
          <a:prstGeom prst="rect">
            <a:avLst/>
          </a:prstGeom>
          <a:noFill/>
        </p:spPr>
        <p:txBody>
          <a:bodyPr wrap="square" lIns="0" rIns="0" tIns="0" bIns="0" anchor="t">
            <a:spAutoFit/>
          </a:bodyPr>
          <a:lstStyle/>
          <a:p>
            <a:pPr algn="l"/>
            <a:r>
              <a:rPr sz="1300" b="0" i="0">
                <a:solidFill>
                  <a:srgbClr val="5B636B"/>
                </a:solidFill>
                <a:latin typeface="IBM Plex Sans"/>
              </a:rPr>
              <a:t>Beam search over codes; highlighted path = one item.</a:t>
            </a:r>
          </a:p>
        </p:txBody>
      </p:sp>
      <p:sp>
        <p:nvSpPr>
          <p:cNvPr id="22" name="Statements"/>
          <p:cNvSpPr txBox="1"/>
          <p:nvPr/>
        </p:nvSpPr>
        <p:spPr>
          <a:xfrm>
            <a:off x="548640" y="4526280"/>
            <a:ext cx="4846320" cy="914400"/>
          </a:xfrm>
          <a:prstGeom prst="rect">
            <a:avLst/>
          </a:prstGeom>
          <a:noFill/>
        </p:spPr>
        <p:txBody>
          <a:bodyPr wrap="square" lIns="0" rIns="0" tIns="0" bIns="0" anchor="t">
            <a:spAutoFit/>
          </a:bodyPr>
          <a:lstStyle/>
          <a:p>
            <a:pPr algn="l">
              <a:lnSpc>
                <a:spcPct val="108000"/>
              </a:lnSpc>
              <a:spcAft>
                <a:spcPts val="1200"/>
              </a:spcAft>
            </a:pPr>
            <a:r>
              <a:rPr sz="1800" b="0" i="0">
                <a:solidFill>
                  <a:srgbClr val="1E2328"/>
                </a:solidFill>
                <a:latin typeface="IBM Plex Sans"/>
              </a:rPr>
              <a:t>At our 3M items the value is </a:t>
            </a:r>
            <a:r>
              <a:rPr sz="1800" b="1" i="0">
                <a:solidFill>
                  <a:srgbClr val="1F6F6B"/>
                </a:solidFill>
                <a:latin typeface="IBM Plex Sans"/>
              </a:rPr>
              <a:t>different candidates</a:t>
            </a:r>
            <a:r>
              <a:rPr sz="1800" b="0" i="0">
                <a:solidFill>
                  <a:srgbClr val="1E2328"/>
                </a:solidFill>
                <a:latin typeface="IBM Plex Sans"/>
              </a:rPr>
              <a:t>, not efficiency.</a:t>
            </a:r>
          </a:p>
        </p:txBody>
      </p:sp>
      <p:sp>
        <p:nvSpPr>
          <p:cNvPr id="23" name="Figure panel cqsid"/>
          <p:cNvSpPr/>
          <p:nvPr/>
        </p:nvSpPr>
        <p:spPr>
          <a:xfrm>
            <a:off x="5715000" y="1481328"/>
            <a:ext cx="2880360" cy="1600200"/>
          </a:xfrm>
          <a:prstGeom prst="rect">
            <a:avLst/>
          </a:prstGeom>
          <a:solidFill>
            <a:srgbClr val="FFFDF8"/>
          </a:solidFill>
          <a:ln w="9525">
            <a:solidFill>
              <a:srgbClr val="DDD6C8"/>
            </a:solidFill>
            <a:prstDash val="dash"/>
          </a:ln>
        </p:spPr>
        <p:txBody>
          <a:bodyPr rtlCol="0" anchor="ctr" wrap="square" lIns="73152" rIns="73152" tIns="36576" bIns="36576"/>
          <a:lstStyle/>
          <a:p>
            <a:pPr algn="ctr"/>
          </a:p>
        </p:txBody>
      </p:sp>
      <p:sp>
        <p:nvSpPr>
          <p:cNvPr id="24" name="Placeholder"/>
          <p:cNvSpPr txBox="1"/>
          <p:nvPr/>
        </p:nvSpPr>
        <p:spPr>
          <a:xfrm>
            <a:off x="5943600" y="1664208"/>
            <a:ext cx="2423160" cy="1234440"/>
          </a:xfrm>
          <a:prstGeom prst="rect">
            <a:avLst/>
          </a:prstGeom>
          <a:noFill/>
        </p:spPr>
        <p:txBody>
          <a:bodyPr wrap="square" lIns="0" rIns="0" tIns="0" bIns="0" anchor="ctr">
            <a:spAutoFit/>
          </a:bodyPr>
          <a:lstStyle/>
          <a:p>
            <a:pPr algn="ctr"/>
            <a:r>
              <a:rPr sz="1600" b="0" i="1">
                <a:solidFill>
                  <a:srgbClr val="5B636B"/>
                </a:solidFill>
                <a:latin typeface="IBM Plex Sans"/>
              </a:rPr>
              <a:t>[Figure: CQ-SID (Tmall), framework overview]</a:t>
            </a:r>
          </a:p>
        </p:txBody>
      </p:sp>
      <p:sp>
        <p:nvSpPr>
          <p:cNvPr id="25" name="Caption"/>
          <p:cNvSpPr txBox="1"/>
          <p:nvPr/>
        </p:nvSpPr>
        <p:spPr>
          <a:xfrm>
            <a:off x="5715000" y="3136392"/>
            <a:ext cx="2880360" cy="457200"/>
          </a:xfrm>
          <a:prstGeom prst="rect">
            <a:avLst/>
          </a:prstGeom>
          <a:noFill/>
        </p:spPr>
        <p:txBody>
          <a:bodyPr wrap="square" lIns="0" rIns="0" tIns="0" bIns="0" anchor="t">
            <a:spAutoFit/>
          </a:bodyPr>
          <a:lstStyle/>
          <a:p>
            <a:pPr algn="l"/>
            <a:r>
              <a:rPr sz="1200" b="0" i="0">
                <a:solidFill>
                  <a:srgbClr val="5B636B"/>
                </a:solidFill>
                <a:latin typeface="IBM Plex Sans"/>
              </a:rPr>
              <a:t>Placeholder: PDF not reachable at build time. Tmall authors (2026), arXiv:2605.14434.</a:t>
            </a:r>
          </a:p>
        </p:txBody>
      </p:sp>
      <p:sp>
        <p:nvSpPr>
          <p:cNvPr id="26" name="Figure panel onesearch"/>
          <p:cNvSpPr/>
          <p:nvPr/>
        </p:nvSpPr>
        <p:spPr>
          <a:xfrm>
            <a:off x="8778240" y="1481328"/>
            <a:ext cx="2880360" cy="1600200"/>
          </a:xfrm>
          <a:prstGeom prst="rect">
            <a:avLst/>
          </a:prstGeom>
          <a:solidFill>
            <a:srgbClr val="FFFDF8"/>
          </a:solidFill>
          <a:ln w="9525">
            <a:solidFill>
              <a:srgbClr val="DDD6C8"/>
            </a:solidFill>
            <a:prstDash val="dash"/>
          </a:ln>
        </p:spPr>
        <p:txBody>
          <a:bodyPr rtlCol="0" anchor="ctr" wrap="square" lIns="73152" rIns="73152" tIns="36576" bIns="36576"/>
          <a:lstStyle/>
          <a:p>
            <a:pPr algn="ctr"/>
          </a:p>
        </p:txBody>
      </p:sp>
      <p:sp>
        <p:nvSpPr>
          <p:cNvPr id="27" name="Placeholder"/>
          <p:cNvSpPr txBox="1"/>
          <p:nvPr/>
        </p:nvSpPr>
        <p:spPr>
          <a:xfrm>
            <a:off x="9006840" y="1664208"/>
            <a:ext cx="2423160" cy="1234440"/>
          </a:xfrm>
          <a:prstGeom prst="rect">
            <a:avLst/>
          </a:prstGeom>
          <a:noFill/>
        </p:spPr>
        <p:txBody>
          <a:bodyPr wrap="square" lIns="0" rIns="0" tIns="0" bIns="0" anchor="ctr">
            <a:spAutoFit/>
          </a:bodyPr>
          <a:lstStyle/>
          <a:p>
            <a:pPr algn="ctr"/>
            <a:r>
              <a:rPr sz="1600" b="0" i="1">
                <a:solidFill>
                  <a:srgbClr val="5B636B"/>
                </a:solidFill>
                <a:latin typeface="IBM Plex Sans"/>
              </a:rPr>
              <a:t>[Figure: OneSearch (Kuaishou), framework overview]</a:t>
            </a:r>
          </a:p>
        </p:txBody>
      </p:sp>
      <p:sp>
        <p:nvSpPr>
          <p:cNvPr id="28" name="Caption"/>
          <p:cNvSpPr txBox="1"/>
          <p:nvPr/>
        </p:nvSpPr>
        <p:spPr>
          <a:xfrm>
            <a:off x="8778240" y="3136392"/>
            <a:ext cx="2880360" cy="457200"/>
          </a:xfrm>
          <a:prstGeom prst="rect">
            <a:avLst/>
          </a:prstGeom>
          <a:noFill/>
        </p:spPr>
        <p:txBody>
          <a:bodyPr wrap="square" lIns="0" rIns="0" tIns="0" bIns="0" anchor="t">
            <a:spAutoFit/>
          </a:bodyPr>
          <a:lstStyle/>
          <a:p>
            <a:pPr algn="l"/>
            <a:r>
              <a:rPr sz="1200" b="0" i="0">
                <a:solidFill>
                  <a:srgbClr val="5B636B"/>
                </a:solidFill>
                <a:latin typeface="IBM Plex Sans"/>
              </a:rPr>
              <a:t>Placeholder: PDF not reachable at build time. Kuaishou authors (2025), arXiv:2509.03236.</a:t>
            </a:r>
          </a:p>
        </p:txBody>
      </p:sp>
      <p:sp>
        <p:nvSpPr>
          <p:cNvPr id="29" name="Rectangle 28"/>
          <p:cNvSpPr/>
          <p:nvPr/>
        </p:nvSpPr>
        <p:spPr>
          <a:xfrm>
            <a:off x="5715000" y="3886200"/>
            <a:ext cx="1874519" cy="1371600"/>
          </a:xfrm>
          <a:prstGeom prst="rect">
            <a:avLst/>
          </a:prstGeom>
          <a:solidFill>
            <a:srgbClr val="FFFDF8"/>
          </a:solidFill>
          <a:ln w="9525">
            <a:solidFill>
              <a:srgbClr val="DDD6C8"/>
            </a:solidFill>
          </a:ln>
        </p:spPr>
        <p:txBody>
          <a:bodyPr rtlCol="0" anchor="ctr" wrap="square" lIns="73152" rIns="73152" tIns="36576" bIns="36576"/>
          <a:lstStyle/>
          <a:p>
            <a:pPr algn="ctr"/>
          </a:p>
        </p:txBody>
      </p:sp>
      <p:sp>
        <p:nvSpPr>
          <p:cNvPr id="30" name="TextBox 29"/>
          <p:cNvSpPr txBox="1"/>
          <p:nvPr/>
        </p:nvSpPr>
        <p:spPr>
          <a:xfrm>
            <a:off x="5852160" y="3931920"/>
            <a:ext cx="1645920" cy="457200"/>
          </a:xfrm>
          <a:prstGeom prst="rect">
            <a:avLst/>
          </a:prstGeom>
          <a:noFill/>
        </p:spPr>
        <p:txBody>
          <a:bodyPr wrap="square" lIns="0" rIns="0" tIns="0" bIns="0" anchor="t">
            <a:spAutoFit/>
          </a:bodyPr>
          <a:lstStyle/>
          <a:p>
            <a:pPr algn="l"/>
            <a:r>
              <a:rPr sz="2400" b="0" i="0">
                <a:solidFill>
                  <a:srgbClr val="1F6F6B"/>
                </a:solidFill>
                <a:latin typeface="Libre Baskerville"/>
              </a:rPr>
              <a:t>+1.15%</a:t>
            </a:r>
          </a:p>
        </p:txBody>
      </p:sp>
      <p:sp>
        <p:nvSpPr>
          <p:cNvPr id="31" name="TextBox 30"/>
          <p:cNvSpPr txBox="1"/>
          <p:nvPr/>
        </p:nvSpPr>
        <p:spPr>
          <a:xfrm>
            <a:off x="5852160" y="4389120"/>
            <a:ext cx="1645920" cy="868680"/>
          </a:xfrm>
          <a:prstGeom prst="rect">
            <a:avLst/>
          </a:prstGeom>
          <a:noFill/>
        </p:spPr>
        <p:txBody>
          <a:bodyPr wrap="square" lIns="0" rIns="0" tIns="0" bIns="0" anchor="t">
            <a:spAutoFit/>
          </a:bodyPr>
          <a:lstStyle/>
          <a:p>
            <a:pPr algn="l"/>
            <a:r>
              <a:rPr sz="1400" b="0" i="0">
                <a:solidFill>
                  <a:srgbClr val="1E2328"/>
                </a:solidFill>
                <a:latin typeface="IBM Plex Sans"/>
              </a:rPr>
              <a:t>GMV, online A/B (CQ-SID)</a:t>
            </a:r>
          </a:p>
        </p:txBody>
      </p:sp>
      <p:sp>
        <p:nvSpPr>
          <p:cNvPr id="32" name="Rectangle 31"/>
          <p:cNvSpPr/>
          <p:nvPr/>
        </p:nvSpPr>
        <p:spPr>
          <a:xfrm>
            <a:off x="7726679" y="3886200"/>
            <a:ext cx="1874519" cy="1371600"/>
          </a:xfrm>
          <a:prstGeom prst="rect">
            <a:avLst/>
          </a:prstGeom>
          <a:solidFill>
            <a:srgbClr val="FFFDF8"/>
          </a:solidFill>
          <a:ln w="9525">
            <a:solidFill>
              <a:srgbClr val="DDD6C8"/>
            </a:solidFill>
          </a:ln>
        </p:spPr>
        <p:txBody>
          <a:bodyPr rtlCol="0" anchor="ctr" wrap="square" lIns="73152" rIns="73152" tIns="36576" bIns="36576"/>
          <a:lstStyle/>
          <a:p>
            <a:pPr algn="ctr"/>
          </a:p>
        </p:txBody>
      </p:sp>
      <p:sp>
        <p:nvSpPr>
          <p:cNvPr id="33" name="TextBox 32"/>
          <p:cNvSpPr txBox="1"/>
          <p:nvPr/>
        </p:nvSpPr>
        <p:spPr>
          <a:xfrm>
            <a:off x="7863840" y="3931920"/>
            <a:ext cx="1645920" cy="457200"/>
          </a:xfrm>
          <a:prstGeom prst="rect">
            <a:avLst/>
          </a:prstGeom>
          <a:noFill/>
        </p:spPr>
        <p:txBody>
          <a:bodyPr wrap="square" lIns="0" rIns="0" tIns="0" bIns="0" anchor="t">
            <a:spAutoFit/>
          </a:bodyPr>
          <a:lstStyle/>
          <a:p>
            <a:pPr algn="l"/>
            <a:r>
              <a:rPr sz="2400" b="0" i="0">
                <a:solidFill>
                  <a:srgbClr val="1F6F6B"/>
                </a:solidFill>
                <a:latin typeface="Libre Baskerville"/>
              </a:rPr>
              <a:t>72.63%</a:t>
            </a:r>
          </a:p>
        </p:txBody>
      </p:sp>
      <p:sp>
        <p:nvSpPr>
          <p:cNvPr id="34" name="TextBox 33"/>
          <p:cNvSpPr txBox="1"/>
          <p:nvPr/>
        </p:nvSpPr>
        <p:spPr>
          <a:xfrm>
            <a:off x="7863840" y="4389120"/>
            <a:ext cx="1645920" cy="868680"/>
          </a:xfrm>
          <a:prstGeom prst="rect">
            <a:avLst/>
          </a:prstGeom>
          <a:noFill/>
        </p:spPr>
        <p:txBody>
          <a:bodyPr wrap="square" lIns="0" rIns="0" tIns="0" bIns="0" anchor="t">
            <a:spAutoFit/>
          </a:bodyPr>
          <a:lstStyle/>
          <a:p>
            <a:pPr algn="l"/>
            <a:r>
              <a:rPr sz="1400" b="0" i="0">
                <a:solidFill>
                  <a:srgbClr val="1E2328"/>
                </a:solidFill>
                <a:latin typeface="IBM Plex Sans"/>
              </a:rPr>
              <a:t>of purchases via the generative channel (CQ-SID)</a:t>
            </a:r>
          </a:p>
        </p:txBody>
      </p:sp>
      <p:sp>
        <p:nvSpPr>
          <p:cNvPr id="35" name="Rectangle 34"/>
          <p:cNvSpPr/>
          <p:nvPr/>
        </p:nvSpPr>
        <p:spPr>
          <a:xfrm>
            <a:off x="9738359" y="3886200"/>
            <a:ext cx="1874519" cy="1371600"/>
          </a:xfrm>
          <a:prstGeom prst="rect">
            <a:avLst/>
          </a:prstGeom>
          <a:solidFill>
            <a:srgbClr val="FFFDF8"/>
          </a:solidFill>
          <a:ln w="9525">
            <a:solidFill>
              <a:srgbClr val="DDD6C8"/>
            </a:solidFill>
          </a:ln>
        </p:spPr>
        <p:txBody>
          <a:bodyPr rtlCol="0" anchor="ctr" wrap="square" lIns="73152" rIns="73152" tIns="36576" bIns="36576"/>
          <a:lstStyle/>
          <a:p>
            <a:pPr algn="ctr"/>
          </a:p>
        </p:txBody>
      </p:sp>
      <p:sp>
        <p:nvSpPr>
          <p:cNvPr id="36" name="TextBox 35"/>
          <p:cNvSpPr txBox="1"/>
          <p:nvPr/>
        </p:nvSpPr>
        <p:spPr>
          <a:xfrm>
            <a:off x="9875519" y="3931920"/>
            <a:ext cx="1645920" cy="457200"/>
          </a:xfrm>
          <a:prstGeom prst="rect">
            <a:avLst/>
          </a:prstGeom>
          <a:noFill/>
        </p:spPr>
        <p:txBody>
          <a:bodyPr wrap="square" lIns="0" rIns="0" tIns="0" bIns="0" anchor="t">
            <a:spAutoFit/>
          </a:bodyPr>
          <a:lstStyle/>
          <a:p>
            <a:pPr algn="l"/>
            <a:r>
              <a:rPr sz="2400" b="0" i="0">
                <a:solidFill>
                  <a:srgbClr val="1F6F6B"/>
                </a:solidFill>
                <a:latin typeface="Libre Baskerville"/>
              </a:rPr>
              <a:t>−75.40%</a:t>
            </a:r>
          </a:p>
        </p:txBody>
      </p:sp>
      <p:sp>
        <p:nvSpPr>
          <p:cNvPr id="37" name="TextBox 36"/>
          <p:cNvSpPr txBox="1"/>
          <p:nvPr/>
        </p:nvSpPr>
        <p:spPr>
          <a:xfrm>
            <a:off x="9875519" y="4389120"/>
            <a:ext cx="1645920" cy="868680"/>
          </a:xfrm>
          <a:prstGeom prst="rect">
            <a:avLst/>
          </a:prstGeom>
          <a:noFill/>
        </p:spPr>
        <p:txBody>
          <a:bodyPr wrap="square" lIns="0" rIns="0" tIns="0" bIns="0" anchor="t">
            <a:spAutoFit/>
          </a:bodyPr>
          <a:lstStyle/>
          <a:p>
            <a:pPr algn="l"/>
            <a:r>
              <a:rPr sz="1400" b="0" i="0">
                <a:solidFill>
                  <a:srgbClr val="1E2328"/>
                </a:solidFill>
                <a:latin typeface="IBM Plex Sans"/>
              </a:rPr>
              <a:t>operational expenditure (OneSearch)</a:t>
            </a:r>
          </a:p>
        </p:txBody>
      </p:sp>
      <p:sp>
        <p:nvSpPr>
          <p:cNvPr id="38" name="TextBox 37"/>
          <p:cNvSpPr txBox="1"/>
          <p:nvPr/>
        </p:nvSpPr>
        <p:spPr>
          <a:xfrm>
            <a:off x="548640" y="5486400"/>
            <a:ext cx="2743200" cy="274320"/>
          </a:xfrm>
          <a:prstGeom prst="rect">
            <a:avLst/>
          </a:prstGeom>
          <a:noFill/>
        </p:spPr>
        <p:txBody>
          <a:bodyPr wrap="square" lIns="0" rIns="0" tIns="0" bIns="0" anchor="t">
            <a:spAutoFit/>
          </a:bodyPr>
          <a:lstStyle/>
          <a:p>
            <a:pPr algn="l"/>
            <a:r>
              <a:rPr sz="1300" b="1" i="0" spc="50">
                <a:solidFill>
                  <a:srgbClr val="5B636B"/>
                </a:solidFill>
                <a:latin typeface="IBM Plex Sans"/>
              </a:rPr>
              <a:t>SEMANTIC ID BY RQ</a:t>
            </a:r>
          </a:p>
        </p:txBody>
      </p:sp>
      <p:pic>
        <p:nvPicPr>
          <p:cNvPr id="39" name="Picture 38" descr="eq09_rq@3x.png"/>
          <p:cNvPicPr>
            <a:picLocks noChangeAspect="1"/>
          </p:cNvPicPr>
          <p:nvPr/>
        </p:nvPicPr>
        <p:blipFill>
          <a:blip r:embed="rId2"/>
          <a:stretch>
            <a:fillRect/>
          </a:stretch>
        </p:blipFill>
        <p:spPr>
          <a:xfrm>
            <a:off x="2880360" y="5413248"/>
            <a:ext cx="7835576" cy="379060"/>
          </a:xfrm>
          <a:prstGeom prst="rect">
            <a:avLst/>
          </a:prstGeom>
        </p:spPr>
      </p:pic>
      <p:sp>
        <p:nvSpPr>
          <p:cNvPr id="40" name="Footer"/>
          <p:cNvSpPr txBox="1"/>
          <p:nvPr/>
        </p:nvSpPr>
        <p:spPr>
          <a:xfrm>
            <a:off x="548640" y="6309360"/>
            <a:ext cx="10362895" cy="411480"/>
          </a:xfrm>
          <a:prstGeom prst="rect">
            <a:avLst/>
          </a:prstGeom>
          <a:noFill/>
        </p:spPr>
        <p:txBody>
          <a:bodyPr wrap="square" lIns="0" rIns="0" tIns="0" bIns="0" anchor="t">
            <a:spAutoFit/>
          </a:bodyPr>
          <a:lstStyle/>
          <a:p>
            <a:pPr algn="l"/>
            <a:r>
              <a:rPr sz="1200" b="0" i="0">
                <a:solidFill>
                  <a:srgbClr val="5B636B"/>
                </a:solidFill>
                <a:latin typeface="IBM Plex Sans"/>
              </a:rPr>
              <a:t>CQ-SID, Tmall (2026) arXiv:2605.14434 · OneSearch, Kuaishou (2025) arXiv:2509.03236</a:t>
            </a:r>
          </a:p>
        </p:txBody>
      </p:sp>
      <p:sp>
        <p:nvSpPr>
          <p:cNvPr id="41" name="Page"/>
          <p:cNvSpPr txBox="1"/>
          <p:nvPr/>
        </p:nvSpPr>
        <p:spPr>
          <a:xfrm>
            <a:off x="11094415" y="6309360"/>
            <a:ext cx="548640" cy="274320"/>
          </a:xfrm>
          <a:prstGeom prst="rect">
            <a:avLst/>
          </a:prstGeom>
          <a:noFill/>
        </p:spPr>
        <p:txBody>
          <a:bodyPr wrap="square" lIns="0" rIns="0" tIns="0" bIns="0" anchor="t">
            <a:spAutoFit/>
          </a:bodyPr>
          <a:lstStyle/>
          <a:p>
            <a:pPr algn="r"/>
            <a:r>
              <a:rPr sz="1200" b="0" i="0">
                <a:solidFill>
                  <a:srgbClr val="5B636B"/>
                </a:solidFill>
                <a:latin typeface="IBM Plex San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Kicker"/>
          <p:cNvSpPr txBox="1"/>
          <p:nvPr/>
        </p:nvSpPr>
        <p:spPr>
          <a:xfrm>
            <a:off x="548640" y="384048"/>
            <a:ext cx="11094415" cy="274320"/>
          </a:xfrm>
          <a:prstGeom prst="rect">
            <a:avLst/>
          </a:prstGeom>
          <a:noFill/>
        </p:spPr>
        <p:txBody>
          <a:bodyPr wrap="square" lIns="0" rIns="0" tIns="0" bIns="0" anchor="t">
            <a:spAutoFit/>
          </a:bodyPr>
          <a:lstStyle/>
          <a:p>
            <a:pPr algn="l"/>
            <a:r>
              <a:rPr sz="1300" b="1" i="0" spc="150">
                <a:solidFill>
                  <a:srgbClr val="1F6F6B"/>
                </a:solidFill>
                <a:latin typeface="IBM Plex Sans"/>
              </a:rPr>
              <a:t>FUSION</a:t>
            </a:r>
          </a:p>
        </p:txBody>
      </p:sp>
      <p:sp>
        <p:nvSpPr>
          <p:cNvPr id="3" name="Title"/>
          <p:cNvSpPr txBox="1"/>
          <p:nvPr/>
        </p:nvSpPr>
        <p:spPr>
          <a:xfrm>
            <a:off x="548640" y="676656"/>
            <a:ext cx="11094415" cy="731520"/>
          </a:xfrm>
          <a:prstGeom prst="rect">
            <a:avLst/>
          </a:prstGeom>
          <a:noFill/>
        </p:spPr>
        <p:txBody>
          <a:bodyPr wrap="square" lIns="0" rIns="0" tIns="0" bIns="0" anchor="t">
            <a:spAutoFit/>
          </a:bodyPr>
          <a:lstStyle/>
          <a:p>
            <a:pPr algn="l"/>
            <a:r>
              <a:rPr sz="2800" b="0" i="0">
                <a:solidFill>
                  <a:srgbClr val="1E2328"/>
                </a:solidFill>
                <a:latin typeface="Libre Baskerville"/>
              </a:rPr>
              <a:t>RRF is a GAM with hand-fixed shape functions</a:t>
            </a:r>
          </a:p>
        </p:txBody>
      </p:sp>
      <p:sp>
        <p:nvSpPr>
          <p:cNvPr id="4" name="TextBox 3"/>
          <p:cNvSpPr txBox="1"/>
          <p:nvPr/>
        </p:nvSpPr>
        <p:spPr>
          <a:xfrm>
            <a:off x="548640" y="1481328"/>
            <a:ext cx="6858000" cy="274320"/>
          </a:xfrm>
          <a:prstGeom prst="rect">
            <a:avLst/>
          </a:prstGeom>
          <a:noFill/>
        </p:spPr>
        <p:txBody>
          <a:bodyPr wrap="square" lIns="0" rIns="0" tIns="0" bIns="0" anchor="t">
            <a:spAutoFit/>
          </a:bodyPr>
          <a:lstStyle/>
          <a:p>
            <a:pPr algn="l"/>
            <a:r>
              <a:rPr sz="1300" b="1" i="0" spc="50">
                <a:solidFill>
                  <a:srgbClr val="5B636B"/>
                </a:solidFill>
                <a:latin typeface="IBM Plex Sans"/>
              </a:rPr>
              <a:t>RECIPROCAL RANK FUSION</a:t>
            </a:r>
          </a:p>
        </p:txBody>
      </p:sp>
      <p:pic>
        <p:nvPicPr>
          <p:cNvPr id="5" name="Picture 4" descr="eq01_rrf@3x.png"/>
          <p:cNvPicPr>
            <a:picLocks noChangeAspect="1"/>
          </p:cNvPicPr>
          <p:nvPr/>
        </p:nvPicPr>
        <p:blipFill>
          <a:blip r:embed="rId2"/>
          <a:stretch>
            <a:fillRect/>
          </a:stretch>
        </p:blipFill>
        <p:spPr>
          <a:xfrm>
            <a:off x="548640" y="1847088"/>
            <a:ext cx="4744904" cy="851223"/>
          </a:xfrm>
          <a:prstGeom prst="rect">
            <a:avLst/>
          </a:prstGeom>
        </p:spPr>
      </p:pic>
      <p:sp>
        <p:nvSpPr>
          <p:cNvPr id="6" name="TextBox 5"/>
          <p:cNvSpPr txBox="1"/>
          <p:nvPr/>
        </p:nvSpPr>
        <p:spPr>
          <a:xfrm>
            <a:off x="548640" y="3017520"/>
            <a:ext cx="6858000" cy="274320"/>
          </a:xfrm>
          <a:prstGeom prst="rect">
            <a:avLst/>
          </a:prstGeom>
          <a:noFill/>
        </p:spPr>
        <p:txBody>
          <a:bodyPr wrap="square" lIns="0" rIns="0" tIns="0" bIns="0" anchor="t">
            <a:spAutoFit/>
          </a:bodyPr>
          <a:lstStyle/>
          <a:p>
            <a:pPr algn="l"/>
            <a:r>
              <a:rPr sz="1300" b="1" i="0" spc="50">
                <a:solidFill>
                  <a:srgbClr val="5B636B"/>
                </a:solidFill>
                <a:latin typeface="IBM Plex Sans"/>
              </a:rPr>
              <a:t>FUSION AS A GAM (AN EBM GENERALIZES RRF)</a:t>
            </a:r>
          </a:p>
        </p:txBody>
      </p:sp>
      <p:pic>
        <p:nvPicPr>
          <p:cNvPr id="7" name="Picture 6" descr="eq02_gam@3x.png"/>
          <p:cNvPicPr>
            <a:picLocks noChangeAspect="1"/>
          </p:cNvPicPr>
          <p:nvPr/>
        </p:nvPicPr>
        <p:blipFill>
          <a:blip r:embed="rId3"/>
          <a:stretch>
            <a:fillRect/>
          </a:stretch>
        </p:blipFill>
        <p:spPr>
          <a:xfrm>
            <a:off x="548640" y="3383280"/>
            <a:ext cx="6211824" cy="701040"/>
          </a:xfrm>
          <a:prstGeom prst="rect">
            <a:avLst/>
          </a:prstGeom>
        </p:spPr>
      </p:pic>
      <p:sp>
        <p:nvSpPr>
          <p:cNvPr id="8" name="Statements"/>
          <p:cNvSpPr txBox="1"/>
          <p:nvPr/>
        </p:nvSpPr>
        <p:spPr>
          <a:xfrm>
            <a:off x="548640" y="4434840"/>
            <a:ext cx="6949440" cy="1645920"/>
          </a:xfrm>
          <a:prstGeom prst="rect">
            <a:avLst/>
          </a:prstGeom>
          <a:noFill/>
        </p:spPr>
        <p:txBody>
          <a:bodyPr wrap="square" lIns="0" rIns="0" tIns="0" bIns="0" anchor="t">
            <a:spAutoFit/>
          </a:bodyPr>
          <a:lstStyle/>
          <a:p>
            <a:pPr algn="l">
              <a:lnSpc>
                <a:spcPct val="108000"/>
              </a:lnSpc>
              <a:spcAft>
                <a:spcPts val="1200"/>
              </a:spcAft>
            </a:pPr>
            <a:r>
              <a:rPr sz="1800" b="0" i="0">
                <a:solidFill>
                  <a:srgbClr val="1E2328"/>
                </a:solidFill>
                <a:latin typeface="IBM Plex Sans"/>
              </a:rPr>
              <a:t>An EBM </a:t>
            </a:r>
            <a:r>
              <a:rPr sz="1800" b="1" i="0">
                <a:solidFill>
                  <a:srgbClr val="1F6F6B"/>
                </a:solidFill>
                <a:latin typeface="IBM Plex Sans"/>
              </a:rPr>
              <a:t>learns</a:t>
            </a:r>
            <a:r>
              <a:rPr sz="1800" b="0" i="0">
                <a:solidFill>
                  <a:srgbClr val="1E2328"/>
                </a:solidFill>
                <a:latin typeface="IBM Plex Sans"/>
              </a:rPr>
              <a:t> the shape functions that RRF fixes by hand, plus pairwise terms.</a:t>
            </a:r>
          </a:p>
          <a:p>
            <a:pPr algn="l">
              <a:lnSpc>
                <a:spcPct val="108000"/>
              </a:lnSpc>
              <a:spcAft>
                <a:spcPts val="1200"/>
              </a:spcAft>
            </a:pPr>
            <a:r>
              <a:rPr sz="1800" b="0" i="0">
                <a:solidFill>
                  <a:srgbClr val="1E2328"/>
                </a:solidFill>
                <a:latin typeface="IBM Plex Sans"/>
              </a:rPr>
              <a:t>Same rank features in; our L1 already logs them.</a:t>
            </a:r>
          </a:p>
        </p:txBody>
      </p:sp>
      <p:sp>
        <p:nvSpPr>
          <p:cNvPr id="9" name="TextBox 8"/>
          <p:cNvSpPr txBox="1"/>
          <p:nvPr/>
        </p:nvSpPr>
        <p:spPr>
          <a:xfrm>
            <a:off x="8229600" y="1481328"/>
            <a:ext cx="3429000" cy="274320"/>
          </a:xfrm>
          <a:prstGeom prst="rect">
            <a:avLst/>
          </a:prstGeom>
          <a:noFill/>
        </p:spPr>
        <p:txBody>
          <a:bodyPr wrap="square" lIns="0" rIns="0" tIns="0" bIns="0" anchor="t">
            <a:spAutoFit/>
          </a:bodyPr>
          <a:lstStyle/>
          <a:p>
            <a:pPr algn="l"/>
            <a:r>
              <a:rPr sz="1300" b="1" i="0">
                <a:solidFill>
                  <a:srgbClr val="5B636B"/>
                </a:solidFill>
                <a:latin typeface="IBM Plex Sans"/>
              </a:rPr>
              <a:t>RRF CONTRIBUTION, k = 60</a:t>
            </a:r>
          </a:p>
        </p:txBody>
      </p:sp>
      <p:graphicFrame>
        <p:nvGraphicFramePr>
          <p:cNvPr id="10" name="Table 9"/>
          <p:cNvGraphicFramePr>
            <a:graphicFrameLocks noGrp="1"/>
          </p:cNvGraphicFramePr>
          <p:nvPr/>
        </p:nvGraphicFramePr>
        <p:xfrm>
          <a:off x="8229600" y="1847088"/>
          <a:ext cx="3429000" cy="2514600"/>
        </p:xfrm>
        <a:graphic>
          <a:graphicData uri="http://schemas.openxmlformats.org/drawingml/2006/table">
            <a:tbl>
              <a:tblPr firstRow="1" bandRow="1">
                <a:tableStyleId>{5C22544A-7EE6-4342-B048-85BDC9FD1C3A}</a:tableStyleId>
              </a:tblPr>
              <a:tblGrid>
                <a:gridCol w="1280160"/>
                <a:gridCol w="2148840"/>
              </a:tblGrid>
              <a:tr h="502920">
                <a:tc>
                  <a:txBody>
                    <a:bodyPr/>
                    <a:lstStyle/>
                    <a:p>
                      <a:pPr algn="l"/>
                      <a:r>
                        <a:rPr sz="1800" b="1">
                          <a:solidFill>
                            <a:srgbClr val="1E2328"/>
                          </a:solidFill>
                          <a:latin typeface="IBM Plex Sans"/>
                        </a:rPr>
                        <a:t>rank</a:t>
                      </a:r>
                    </a:p>
                  </a:txBody>
                  <a:tcPr marL="137160" marR="137160" anchor="ctr">
                    <a:solidFill>
                      <a:srgbClr val="EAE5DB"/>
                    </a:solidFill>
                  </a:tcPr>
                </a:tc>
                <a:tc>
                  <a:txBody>
                    <a:bodyPr/>
                    <a:lstStyle/>
                    <a:p>
                      <a:pPr algn="r"/>
                      <a:r>
                        <a:rPr sz="1800" b="1">
                          <a:solidFill>
                            <a:srgbClr val="1E2328"/>
                          </a:solidFill>
                          <a:latin typeface="IBM Plex Sans"/>
                        </a:rPr>
                        <a:t>1 / (60 + rank)</a:t>
                      </a:r>
                    </a:p>
                  </a:txBody>
                  <a:tcPr marL="137160" marR="137160" anchor="ctr">
                    <a:solidFill>
                      <a:srgbClr val="EAE5DB"/>
                    </a:solidFill>
                  </a:tcPr>
                </a:tc>
              </a:tr>
              <a:tr h="502920">
                <a:tc>
                  <a:txBody>
                    <a:bodyPr/>
                    <a:lstStyle/>
                    <a:p>
                      <a:pPr algn="l"/>
                      <a:r>
                        <a:rPr sz="1800" b="0">
                          <a:solidFill>
                            <a:srgbClr val="1E2328"/>
                          </a:solidFill>
                          <a:latin typeface="IBM Plex Sans"/>
                        </a:rPr>
                        <a:t>1</a:t>
                      </a:r>
                    </a:p>
                  </a:txBody>
                  <a:tcPr marL="137160" marR="137160" anchor="ctr">
                    <a:solidFill>
                      <a:srgbClr val="FFFDF8"/>
                    </a:solidFill>
                  </a:tcPr>
                </a:tc>
                <a:tc>
                  <a:txBody>
                    <a:bodyPr/>
                    <a:lstStyle/>
                    <a:p>
                      <a:pPr algn="r"/>
                      <a:r>
                        <a:rPr sz="1800" b="0">
                          <a:solidFill>
                            <a:srgbClr val="1E2328"/>
                          </a:solidFill>
                          <a:latin typeface="IBM Plex Sans"/>
                        </a:rPr>
                        <a:t>0.0164</a:t>
                      </a:r>
                    </a:p>
                  </a:txBody>
                  <a:tcPr marL="137160" marR="137160" anchor="ctr">
                    <a:solidFill>
                      <a:srgbClr val="FFFDF8"/>
                    </a:solidFill>
                  </a:tcPr>
                </a:tc>
              </a:tr>
              <a:tr h="502920">
                <a:tc>
                  <a:txBody>
                    <a:bodyPr/>
                    <a:lstStyle/>
                    <a:p>
                      <a:pPr algn="l"/>
                      <a:r>
                        <a:rPr sz="1800" b="0">
                          <a:solidFill>
                            <a:srgbClr val="1E2328"/>
                          </a:solidFill>
                          <a:latin typeface="IBM Plex Sans"/>
                        </a:rPr>
                        <a:t>10</a:t>
                      </a:r>
                    </a:p>
                  </a:txBody>
                  <a:tcPr marL="137160" marR="137160" anchor="ctr">
                    <a:solidFill>
                      <a:srgbClr val="FFFDF8"/>
                    </a:solidFill>
                  </a:tcPr>
                </a:tc>
                <a:tc>
                  <a:txBody>
                    <a:bodyPr/>
                    <a:lstStyle/>
                    <a:p>
                      <a:pPr algn="r"/>
                      <a:r>
                        <a:rPr sz="1800" b="0">
                          <a:solidFill>
                            <a:srgbClr val="1E2328"/>
                          </a:solidFill>
                          <a:latin typeface="IBM Plex Sans"/>
                        </a:rPr>
                        <a:t>0.0143</a:t>
                      </a:r>
                    </a:p>
                  </a:txBody>
                  <a:tcPr marL="137160" marR="137160" anchor="ctr">
                    <a:solidFill>
                      <a:srgbClr val="FFFDF8"/>
                    </a:solidFill>
                  </a:tcPr>
                </a:tc>
              </a:tr>
              <a:tr h="502920">
                <a:tc>
                  <a:txBody>
                    <a:bodyPr/>
                    <a:lstStyle/>
                    <a:p>
                      <a:pPr algn="l"/>
                      <a:r>
                        <a:rPr sz="1800" b="0">
                          <a:solidFill>
                            <a:srgbClr val="1E2328"/>
                          </a:solidFill>
                          <a:latin typeface="IBM Plex Sans"/>
                        </a:rPr>
                        <a:t>30</a:t>
                      </a:r>
                    </a:p>
                  </a:txBody>
                  <a:tcPr marL="137160" marR="137160" anchor="ctr">
                    <a:solidFill>
                      <a:srgbClr val="FFFDF8"/>
                    </a:solidFill>
                  </a:tcPr>
                </a:tc>
                <a:tc>
                  <a:txBody>
                    <a:bodyPr/>
                    <a:lstStyle/>
                    <a:p>
                      <a:pPr algn="r"/>
                      <a:r>
                        <a:rPr sz="1800" b="0">
                          <a:solidFill>
                            <a:srgbClr val="1E2328"/>
                          </a:solidFill>
                          <a:latin typeface="IBM Plex Sans"/>
                        </a:rPr>
                        <a:t>0.0111</a:t>
                      </a:r>
                    </a:p>
                  </a:txBody>
                  <a:tcPr marL="137160" marR="137160" anchor="ctr">
                    <a:solidFill>
                      <a:srgbClr val="FFFDF8"/>
                    </a:solidFill>
                  </a:tcPr>
                </a:tc>
              </a:tr>
              <a:tr h="502920">
                <a:tc>
                  <a:txBody>
                    <a:bodyPr/>
                    <a:lstStyle/>
                    <a:p>
                      <a:pPr algn="l"/>
                      <a:r>
                        <a:rPr sz="1800" b="0">
                          <a:solidFill>
                            <a:srgbClr val="1E2328"/>
                          </a:solidFill>
                          <a:latin typeface="IBM Plex Sans"/>
                        </a:rPr>
                        <a:t>100</a:t>
                      </a:r>
                    </a:p>
                  </a:txBody>
                  <a:tcPr marL="137160" marR="137160" anchor="ctr">
                    <a:solidFill>
                      <a:srgbClr val="FFFDF8"/>
                    </a:solidFill>
                  </a:tcPr>
                </a:tc>
                <a:tc>
                  <a:txBody>
                    <a:bodyPr/>
                    <a:lstStyle/>
                    <a:p>
                      <a:pPr algn="r"/>
                      <a:r>
                        <a:rPr sz="1800" b="0">
                          <a:solidFill>
                            <a:srgbClr val="1E2328"/>
                          </a:solidFill>
                          <a:latin typeface="IBM Plex Sans"/>
                        </a:rPr>
                        <a:t>0.0063</a:t>
                      </a:r>
                    </a:p>
                  </a:txBody>
                  <a:tcPr marL="137160" marR="137160" anchor="ctr">
                    <a:solidFill>
                      <a:srgbClr val="FFFDF8"/>
                    </a:solidFill>
                  </a:tcPr>
                </a:tc>
              </a:tr>
            </a:tbl>
          </a:graphicData>
        </a:graphic>
      </p:graphicFrame>
      <p:sp>
        <p:nvSpPr>
          <p:cNvPr id="11" name="TextBox 10"/>
          <p:cNvSpPr txBox="1"/>
          <p:nvPr/>
        </p:nvSpPr>
        <p:spPr>
          <a:xfrm>
            <a:off x="8229600" y="4453128"/>
            <a:ext cx="3429000" cy="822960"/>
          </a:xfrm>
          <a:prstGeom prst="rect">
            <a:avLst/>
          </a:prstGeom>
          <a:noFill/>
        </p:spPr>
        <p:txBody>
          <a:bodyPr wrap="square" lIns="0" rIns="0" tIns="0" bIns="0" anchor="t">
            <a:spAutoFit/>
          </a:bodyPr>
          <a:lstStyle/>
          <a:p>
            <a:pPr algn="l"/>
            <a:r>
              <a:rPr sz="1500" b="0" i="0">
                <a:solidFill>
                  <a:srgbClr val="5B636B"/>
                </a:solidFill>
                <a:latin typeface="IBM Plex Sans"/>
              </a:rPr>
              <a:t>Rank 1 counts only 2.6× rank 100: a flat, fixed curve.</a:t>
            </a:r>
          </a:p>
        </p:txBody>
      </p:sp>
      <p:sp>
        <p:nvSpPr>
          <p:cNvPr id="12" name="Footer"/>
          <p:cNvSpPr txBox="1"/>
          <p:nvPr/>
        </p:nvSpPr>
        <p:spPr>
          <a:xfrm>
            <a:off x="548640" y="6309360"/>
            <a:ext cx="10362895" cy="411480"/>
          </a:xfrm>
          <a:prstGeom prst="rect">
            <a:avLst/>
          </a:prstGeom>
          <a:noFill/>
        </p:spPr>
        <p:txBody>
          <a:bodyPr wrap="square" lIns="0" rIns="0" tIns="0" bIns="0" anchor="t">
            <a:spAutoFit/>
          </a:bodyPr>
          <a:lstStyle/>
          <a:p>
            <a:pPr algn="l"/>
            <a:r>
              <a:rPr sz="1200" b="0" i="0">
                <a:solidFill>
                  <a:srgbClr val="5B636B"/>
                </a:solidFill>
                <a:latin typeface="IBM Plex Sans"/>
              </a:rPr>
              <a:t>RRF: Cormack, Clarke &amp; Büttcher (SIGIR 2009) · EBM: Nori et al. (2019) arXiv:1909.09223</a:t>
            </a:r>
          </a:p>
        </p:txBody>
      </p:sp>
      <p:sp>
        <p:nvSpPr>
          <p:cNvPr id="13" name="Page"/>
          <p:cNvSpPr txBox="1"/>
          <p:nvPr/>
        </p:nvSpPr>
        <p:spPr>
          <a:xfrm>
            <a:off x="11094415" y="6309360"/>
            <a:ext cx="548640" cy="274320"/>
          </a:xfrm>
          <a:prstGeom prst="rect">
            <a:avLst/>
          </a:prstGeom>
          <a:noFill/>
        </p:spPr>
        <p:txBody>
          <a:bodyPr wrap="square" lIns="0" rIns="0" tIns="0" bIns="0" anchor="t">
            <a:spAutoFit/>
          </a:bodyPr>
          <a:lstStyle/>
          <a:p>
            <a:pPr algn="r"/>
            <a:r>
              <a:rPr sz="1200" b="0" i="0">
                <a:solidFill>
                  <a:srgbClr val="5B636B"/>
                </a:solidFill>
                <a:latin typeface="IBM Plex San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Kicker"/>
          <p:cNvSpPr txBox="1"/>
          <p:nvPr/>
        </p:nvSpPr>
        <p:spPr>
          <a:xfrm>
            <a:off x="548640" y="384048"/>
            <a:ext cx="11094415" cy="274320"/>
          </a:xfrm>
          <a:prstGeom prst="rect">
            <a:avLst/>
          </a:prstGeom>
          <a:noFill/>
        </p:spPr>
        <p:txBody>
          <a:bodyPr wrap="square" lIns="0" rIns="0" tIns="0" bIns="0" anchor="t">
            <a:spAutoFit/>
          </a:bodyPr>
          <a:lstStyle/>
          <a:p>
            <a:pPr algn="l"/>
            <a:r>
              <a:rPr sz="1300" b="1" i="0" spc="150">
                <a:solidFill>
                  <a:srgbClr val="1F6F6B"/>
                </a:solidFill>
                <a:latin typeface="IBM Plex Sans"/>
              </a:rPr>
              <a:t>PRODUCTION QUERY UNDERSTANDING</a:t>
            </a:r>
          </a:p>
        </p:txBody>
      </p:sp>
      <p:sp>
        <p:nvSpPr>
          <p:cNvPr id="3" name="Title"/>
          <p:cNvSpPr txBox="1"/>
          <p:nvPr/>
        </p:nvSpPr>
        <p:spPr>
          <a:xfrm>
            <a:off x="548640" y="676656"/>
            <a:ext cx="11094415" cy="731520"/>
          </a:xfrm>
          <a:prstGeom prst="rect">
            <a:avLst/>
          </a:prstGeom>
          <a:noFill/>
        </p:spPr>
        <p:txBody>
          <a:bodyPr wrap="square" lIns="0" rIns="0" tIns="0" bIns="0" anchor="t">
            <a:spAutoFit/>
          </a:bodyPr>
          <a:lstStyle/>
          <a:p>
            <a:pPr algn="l"/>
            <a:r>
              <a:rPr sz="2800" b="0" i="0">
                <a:solidFill>
                  <a:srgbClr val="1E2328"/>
                </a:solidFill>
                <a:latin typeface="Libre Baskerville"/>
              </a:rPr>
              <a:t>Industry moves LLM reasoning off the query path</a:t>
            </a:r>
          </a:p>
        </p:txBody>
      </p:sp>
      <p:sp>
        <p:nvSpPr>
          <p:cNvPr id="4" name="Figure panel casedriven"/>
          <p:cNvSpPr/>
          <p:nvPr/>
        </p:nvSpPr>
        <p:spPr>
          <a:xfrm>
            <a:off x="548640" y="1481328"/>
            <a:ext cx="5440680" cy="2514600"/>
          </a:xfrm>
          <a:prstGeom prst="rect">
            <a:avLst/>
          </a:prstGeom>
          <a:solidFill>
            <a:srgbClr val="FFFDF8"/>
          </a:solidFill>
          <a:ln w="9525">
            <a:solidFill>
              <a:srgbClr val="DDD6C8"/>
            </a:solidFill>
            <a:prstDash val="dash"/>
          </a:ln>
        </p:spPr>
        <p:txBody>
          <a:bodyPr rtlCol="0" anchor="ctr" wrap="square" lIns="73152" rIns="73152" tIns="36576" bIns="36576"/>
          <a:lstStyle/>
          <a:p>
            <a:pPr algn="ctr"/>
          </a:p>
        </p:txBody>
      </p:sp>
      <p:sp>
        <p:nvSpPr>
          <p:cNvPr id="5" name="Placeholder"/>
          <p:cNvSpPr txBox="1"/>
          <p:nvPr/>
        </p:nvSpPr>
        <p:spPr>
          <a:xfrm>
            <a:off x="777240" y="1664208"/>
            <a:ext cx="4983480" cy="2148840"/>
          </a:xfrm>
          <a:prstGeom prst="rect">
            <a:avLst/>
          </a:prstGeom>
          <a:noFill/>
        </p:spPr>
        <p:txBody>
          <a:bodyPr wrap="square" lIns="0" rIns="0" tIns="0" bIns="0" anchor="ctr">
            <a:spAutoFit/>
          </a:bodyPr>
          <a:lstStyle/>
          <a:p>
            <a:pPr algn="ctr"/>
            <a:r>
              <a:rPr sz="1600" b="0" i="1">
                <a:solidFill>
                  <a:srgbClr val="5B636B"/>
                </a:solidFill>
                <a:latin typeface="IBM Plex Sans"/>
              </a:rPr>
              <a:t>[Figure: Case-driven multi-agent relevance, framework overview]</a:t>
            </a:r>
          </a:p>
        </p:txBody>
      </p:sp>
      <p:sp>
        <p:nvSpPr>
          <p:cNvPr id="6" name="Caption"/>
          <p:cNvSpPr txBox="1"/>
          <p:nvPr/>
        </p:nvSpPr>
        <p:spPr>
          <a:xfrm>
            <a:off x="548640" y="4050791"/>
            <a:ext cx="5440680" cy="457200"/>
          </a:xfrm>
          <a:prstGeom prst="rect">
            <a:avLst/>
          </a:prstGeom>
          <a:noFill/>
        </p:spPr>
        <p:txBody>
          <a:bodyPr wrap="square" lIns="0" rIns="0" tIns="0" bIns="0" anchor="t">
            <a:spAutoFit/>
          </a:bodyPr>
          <a:lstStyle/>
          <a:p>
            <a:pPr algn="l"/>
            <a:r>
              <a:rPr sz="1200" b="0" i="0">
                <a:solidFill>
                  <a:srgbClr val="5B636B"/>
                </a:solidFill>
                <a:latin typeface="IBM Plex Sans"/>
              </a:rPr>
              <a:t>Placeholder: PDF not reachable at build time. ByteDance Global E-Commerce Search Relevance Team (2026), arXiv:2605.05991.</a:t>
            </a:r>
          </a:p>
        </p:txBody>
      </p:sp>
      <p:sp>
        <p:nvSpPr>
          <p:cNvPr id="7" name="Figure panel genfacet"/>
          <p:cNvSpPr/>
          <p:nvPr/>
        </p:nvSpPr>
        <p:spPr>
          <a:xfrm>
            <a:off x="6217920" y="1481328"/>
            <a:ext cx="5440680" cy="2514600"/>
          </a:xfrm>
          <a:prstGeom prst="rect">
            <a:avLst/>
          </a:prstGeom>
          <a:solidFill>
            <a:srgbClr val="FFFDF8"/>
          </a:solidFill>
          <a:ln w="9525">
            <a:solidFill>
              <a:srgbClr val="DDD6C8"/>
            </a:solidFill>
            <a:prstDash val="dash"/>
          </a:ln>
        </p:spPr>
        <p:txBody>
          <a:bodyPr rtlCol="0" anchor="ctr" wrap="square" lIns="73152" rIns="73152" tIns="36576" bIns="36576"/>
          <a:lstStyle/>
          <a:p>
            <a:pPr algn="ctr"/>
          </a:p>
        </p:txBody>
      </p:sp>
      <p:sp>
        <p:nvSpPr>
          <p:cNvPr id="8" name="Placeholder"/>
          <p:cNvSpPr txBox="1"/>
          <p:nvPr/>
        </p:nvSpPr>
        <p:spPr>
          <a:xfrm>
            <a:off x="6446520" y="1664208"/>
            <a:ext cx="4983480" cy="2148840"/>
          </a:xfrm>
          <a:prstGeom prst="rect">
            <a:avLst/>
          </a:prstGeom>
          <a:noFill/>
        </p:spPr>
        <p:txBody>
          <a:bodyPr wrap="square" lIns="0" rIns="0" tIns="0" bIns="0" anchor="ctr">
            <a:spAutoFit/>
          </a:bodyPr>
          <a:lstStyle/>
          <a:p>
            <a:pPr algn="ctr"/>
            <a:r>
              <a:rPr sz="1600" b="0" i="1">
                <a:solidFill>
                  <a:srgbClr val="5B636B"/>
                </a:solidFill>
                <a:latin typeface="IBM Plex Sans"/>
              </a:rPr>
              <a:t>[Figure: GenFacet (JD.com), framework overview]</a:t>
            </a:r>
          </a:p>
        </p:txBody>
      </p:sp>
      <p:sp>
        <p:nvSpPr>
          <p:cNvPr id="9" name="Caption"/>
          <p:cNvSpPr txBox="1"/>
          <p:nvPr/>
        </p:nvSpPr>
        <p:spPr>
          <a:xfrm>
            <a:off x="6217920" y="4050791"/>
            <a:ext cx="5440680" cy="457200"/>
          </a:xfrm>
          <a:prstGeom prst="rect">
            <a:avLst/>
          </a:prstGeom>
          <a:noFill/>
        </p:spPr>
        <p:txBody>
          <a:bodyPr wrap="square" lIns="0" rIns="0" tIns="0" bIns="0" anchor="t">
            <a:spAutoFit/>
          </a:bodyPr>
          <a:lstStyle/>
          <a:p>
            <a:pPr algn="l"/>
            <a:r>
              <a:rPr sz="1200" b="0" i="0">
                <a:solidFill>
                  <a:srgbClr val="5B636B"/>
                </a:solidFill>
                <a:latin typeface="IBM Plex Sans"/>
              </a:rPr>
              <a:t>Placeholder: PDF not reachable at build time. Zhai et al. (2026), arXiv:2603.19665.</a:t>
            </a:r>
          </a:p>
        </p:txBody>
      </p:sp>
      <p:sp>
        <p:nvSpPr>
          <p:cNvPr id="10" name="Statements"/>
          <p:cNvSpPr txBox="1"/>
          <p:nvPr/>
        </p:nvSpPr>
        <p:spPr>
          <a:xfrm>
            <a:off x="548640" y="4572000"/>
            <a:ext cx="11094415" cy="1554480"/>
          </a:xfrm>
          <a:prstGeom prst="rect">
            <a:avLst/>
          </a:prstGeom>
          <a:noFill/>
        </p:spPr>
        <p:txBody>
          <a:bodyPr wrap="square" lIns="0" rIns="0" tIns="0" bIns="0" anchor="t">
            <a:spAutoFit/>
          </a:bodyPr>
          <a:lstStyle/>
          <a:p>
            <a:pPr algn="l">
              <a:lnSpc>
                <a:spcPct val="108000"/>
              </a:lnSpc>
              <a:spcAft>
                <a:spcPts val="600"/>
              </a:spcAft>
            </a:pPr>
            <a:r>
              <a:rPr sz="1800" b="1" i="0">
                <a:solidFill>
                  <a:srgbClr val="1F6F6B"/>
                </a:solidFill>
                <a:latin typeface="IBM Plex Sans"/>
              </a:rPr>
              <a:t>GenFacet</a:t>
            </a:r>
            <a:r>
              <a:rPr sz="1800" b="0" i="0">
                <a:solidFill>
                  <a:srgbClr val="1E2328"/>
                </a:solidFill>
                <a:latin typeface="IBM Plex Sans"/>
              </a:rPr>
              <a:t> (JD.com): generated facets, +42.0% facet CTR and +2.0% UCVR online.</a:t>
            </a:r>
          </a:p>
          <a:p>
            <a:pPr algn="l">
              <a:lnSpc>
                <a:spcPct val="108000"/>
              </a:lnSpc>
              <a:spcAft>
                <a:spcPts val="600"/>
              </a:spcAft>
            </a:pPr>
            <a:r>
              <a:rPr sz="1800" b="1" i="0">
                <a:solidFill>
                  <a:srgbClr val="1F6F6B"/>
                </a:solidFill>
                <a:latin typeface="IBM Plex Sans"/>
              </a:rPr>
              <a:t>Case-driven relevance</a:t>
            </a:r>
            <a:r>
              <a:rPr sz="1800" b="0" i="0">
                <a:solidFill>
                  <a:srgbClr val="1E2328"/>
                </a:solidFill>
                <a:latin typeface="IBM Plex Sans"/>
              </a:rPr>
              <a:t> (ByteDance): Annotator, Optimizer and User agents learn from cases.</a:t>
            </a:r>
          </a:p>
          <a:p>
            <a:pPr algn="l">
              <a:lnSpc>
                <a:spcPct val="108000"/>
              </a:lnSpc>
              <a:spcAft>
                <a:spcPts val="600"/>
              </a:spcAft>
            </a:pPr>
            <a:r>
              <a:rPr sz="1800" b="0" i="0">
                <a:solidFill>
                  <a:srgbClr val="1E2328"/>
                </a:solidFill>
                <a:latin typeface="IBM Plex Sans"/>
              </a:rPr>
              <a:t>Our read: the same </a:t>
            </a:r>
            <a:r>
              <a:rPr sz="1800" b="1" i="0">
                <a:solidFill>
                  <a:srgbClr val="1F6F6B"/>
                </a:solidFill>
                <a:latin typeface="IBM Plex Sans"/>
              </a:rPr>
              <a:t>compile-once</a:t>
            </a:r>
            <a:r>
              <a:rPr sz="1800" b="0" i="0">
                <a:solidFill>
                  <a:srgbClr val="1E2328"/>
                </a:solidFill>
                <a:latin typeface="IBM Plex Sans"/>
              </a:rPr>
              <a:t> pattern as RSA.</a:t>
            </a:r>
          </a:p>
        </p:txBody>
      </p:sp>
      <p:sp>
        <p:nvSpPr>
          <p:cNvPr id="11" name="Footer"/>
          <p:cNvSpPr txBox="1"/>
          <p:nvPr/>
        </p:nvSpPr>
        <p:spPr>
          <a:xfrm>
            <a:off x="548640" y="6309360"/>
            <a:ext cx="10362895" cy="411480"/>
          </a:xfrm>
          <a:prstGeom prst="rect">
            <a:avLst/>
          </a:prstGeom>
          <a:noFill/>
        </p:spPr>
        <p:txBody>
          <a:bodyPr wrap="square" lIns="0" rIns="0" tIns="0" bIns="0" anchor="t">
            <a:spAutoFit/>
          </a:bodyPr>
          <a:lstStyle/>
          <a:p>
            <a:pPr algn="l"/>
            <a:r>
              <a:rPr sz="1200" b="0" i="0">
                <a:solidFill>
                  <a:srgbClr val="5B636B"/>
                </a:solidFill>
                <a:latin typeface="IBM Plex Sans"/>
              </a:rPr>
              <a:t>Case-driven multi-agent relevance, ByteDance (2026) arXiv:2605.05991 · Zhai et al. (2026) arXiv:2603.19665</a:t>
            </a:r>
          </a:p>
        </p:txBody>
      </p:sp>
      <p:sp>
        <p:nvSpPr>
          <p:cNvPr id="12" name="Page"/>
          <p:cNvSpPr txBox="1"/>
          <p:nvPr/>
        </p:nvSpPr>
        <p:spPr>
          <a:xfrm>
            <a:off x="11094415" y="6309360"/>
            <a:ext cx="548640" cy="274320"/>
          </a:xfrm>
          <a:prstGeom prst="rect">
            <a:avLst/>
          </a:prstGeom>
          <a:noFill/>
        </p:spPr>
        <p:txBody>
          <a:bodyPr wrap="square" lIns="0" rIns="0" tIns="0" bIns="0" anchor="t">
            <a:spAutoFit/>
          </a:bodyPr>
          <a:lstStyle/>
          <a:p>
            <a:pPr algn="r"/>
            <a:r>
              <a:rPr sz="1200" b="0" i="0">
                <a:solidFill>
                  <a:srgbClr val="5B636B"/>
                </a:solidFill>
                <a:latin typeface="IBM Plex San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2328"/>
        </a:solidFill>
        <a:effectLst/>
      </p:bgPr>
    </p:bg>
    <p:spTree>
      <p:nvGrpSpPr>
        <p:cNvPr id="1" name=""/>
        <p:cNvGrpSpPr/>
        <p:nvPr/>
      </p:nvGrpSpPr>
      <p:grpSpPr/>
      <p:sp>
        <p:nvSpPr>
          <p:cNvPr id="2" name="TextBox 1"/>
          <p:cNvSpPr txBox="1"/>
          <p:nvPr/>
        </p:nvSpPr>
        <p:spPr>
          <a:xfrm>
            <a:off x="914400" y="822960"/>
            <a:ext cx="8229600" cy="274320"/>
          </a:xfrm>
          <a:prstGeom prst="rect">
            <a:avLst/>
          </a:prstGeom>
          <a:noFill/>
        </p:spPr>
        <p:txBody>
          <a:bodyPr wrap="square" lIns="0" rIns="0" tIns="0" bIns="0" anchor="t">
            <a:spAutoFit/>
          </a:bodyPr>
          <a:lstStyle/>
          <a:p>
            <a:pPr algn="l"/>
            <a:r>
              <a:rPr sz="1300" b="1" i="0" spc="150">
                <a:solidFill>
                  <a:srgbClr val="8FC7C2"/>
                </a:solidFill>
                <a:latin typeface="IBM Plex Sans"/>
              </a:rPr>
              <a:t>WHERE OUR NOVELTY LIVES</a:t>
            </a:r>
          </a:p>
        </p:txBody>
      </p:sp>
      <p:sp>
        <p:nvSpPr>
          <p:cNvPr id="3" name="TextBox 2"/>
          <p:cNvSpPr txBox="1"/>
          <p:nvPr/>
        </p:nvSpPr>
        <p:spPr>
          <a:xfrm>
            <a:off x="914400" y="1737360"/>
            <a:ext cx="10424160" cy="2926080"/>
          </a:xfrm>
          <a:prstGeom prst="rect">
            <a:avLst/>
          </a:prstGeom>
          <a:noFill/>
        </p:spPr>
        <p:txBody>
          <a:bodyPr wrap="square" lIns="0" rIns="0" tIns="0" bIns="0" anchor="t">
            <a:spAutoFit/>
          </a:bodyPr>
          <a:lstStyle/>
          <a:p>
            <a:pPr algn="l">
              <a:lnSpc>
                <a:spcPct val="115000"/>
              </a:lnSpc>
            </a:pPr>
            <a:r>
              <a:rPr sz="4000" b="0" i="0">
                <a:solidFill>
                  <a:srgbClr val="F5F2EC"/>
                </a:solidFill>
                <a:latin typeface="Libre Baskerville"/>
              </a:rPr>
              <a:t>Our novelty lives in two places: compiled predicates and persistent intent state.</a:t>
            </a:r>
          </a:p>
        </p:txBody>
      </p:sp>
      <p:sp>
        <p:nvSpPr>
          <p:cNvPr id="4" name="TextBox 3"/>
          <p:cNvSpPr txBox="1"/>
          <p:nvPr/>
        </p:nvSpPr>
        <p:spPr>
          <a:xfrm>
            <a:off x="914400" y="5029200"/>
            <a:ext cx="10058400" cy="548640"/>
          </a:xfrm>
          <a:prstGeom prst="rect">
            <a:avLst/>
          </a:prstGeom>
          <a:noFill/>
        </p:spPr>
        <p:txBody>
          <a:bodyPr wrap="square" lIns="0" rIns="0" tIns="0" bIns="0" anchor="t">
            <a:spAutoFit/>
          </a:bodyPr>
          <a:lstStyle/>
          <a:p>
            <a:pPr algn="l"/>
            <a:r>
              <a:rPr sz="2000" b="0" i="0">
                <a:solidFill>
                  <a:srgbClr val="C9C3B6"/>
                </a:solidFill>
                <a:latin typeface="IBM Plex Sans"/>
              </a:rPr>
              <a:t>Filtering speed, negation scoring and generative retrieval are crowded; we should reuse them.</a:t>
            </a:r>
          </a:p>
        </p:txBody>
      </p:sp>
      <p:sp>
        <p:nvSpPr>
          <p:cNvPr id="5" name="TextBox 4"/>
          <p:cNvSpPr txBox="1"/>
          <p:nvPr/>
        </p:nvSpPr>
        <p:spPr>
          <a:xfrm>
            <a:off x="11094415" y="6309360"/>
            <a:ext cx="548640" cy="274320"/>
          </a:xfrm>
          <a:prstGeom prst="rect">
            <a:avLst/>
          </a:prstGeom>
          <a:noFill/>
        </p:spPr>
        <p:txBody>
          <a:bodyPr wrap="square" lIns="0" rIns="0" tIns="0" bIns="0" anchor="t">
            <a:spAutoFit/>
          </a:bodyPr>
          <a:lstStyle/>
          <a:p>
            <a:pPr algn="r"/>
            <a:r>
              <a:rPr sz="1200" b="0" i="0">
                <a:solidFill>
                  <a:srgbClr val="C9C3B6"/>
                </a:solidFill>
                <a:latin typeface="IBM Plex San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Kicker"/>
          <p:cNvSpPr txBox="1"/>
          <p:nvPr/>
        </p:nvSpPr>
        <p:spPr>
          <a:xfrm>
            <a:off x="548640" y="384048"/>
            <a:ext cx="11094415" cy="274320"/>
          </a:xfrm>
          <a:prstGeom prst="rect">
            <a:avLst/>
          </a:prstGeom>
          <a:noFill/>
        </p:spPr>
        <p:txBody>
          <a:bodyPr wrap="square" lIns="0" rIns="0" tIns="0" bIns="0" anchor="t">
            <a:spAutoFit/>
          </a:bodyPr>
          <a:lstStyle/>
          <a:p>
            <a:pPr algn="l"/>
            <a:r>
              <a:rPr sz="1300" b="1" i="0" spc="150">
                <a:solidFill>
                  <a:srgbClr val="1F6F6B"/>
                </a:solidFill>
                <a:latin typeface="IBM Plex Sans"/>
              </a:rPr>
              <a:t>RELEVANCE</a:t>
            </a:r>
          </a:p>
        </p:txBody>
      </p:sp>
      <p:sp>
        <p:nvSpPr>
          <p:cNvPr id="3" name="Title"/>
          <p:cNvSpPr txBox="1"/>
          <p:nvPr/>
        </p:nvSpPr>
        <p:spPr>
          <a:xfrm>
            <a:off x="548640" y="676656"/>
            <a:ext cx="11094415" cy="731520"/>
          </a:xfrm>
          <a:prstGeom prst="rect">
            <a:avLst/>
          </a:prstGeom>
          <a:noFill/>
        </p:spPr>
        <p:txBody>
          <a:bodyPr wrap="square" lIns="0" rIns="0" tIns="0" bIns="0" anchor="t">
            <a:spAutoFit/>
          </a:bodyPr>
          <a:lstStyle/>
          <a:p>
            <a:pPr algn="l"/>
            <a:r>
              <a:rPr sz="2800" b="0" i="0">
                <a:solidFill>
                  <a:srgbClr val="1E2328"/>
                </a:solidFill>
                <a:latin typeface="Libre Baskerville"/>
              </a:rPr>
              <a:t>Where each idea stands against the closest work</a:t>
            </a:r>
          </a:p>
        </p:txBody>
      </p:sp>
      <p:graphicFrame>
        <p:nvGraphicFramePr>
          <p:cNvPr id="4" name="Table 3"/>
          <p:cNvGraphicFramePr>
            <a:graphicFrameLocks noGrp="1"/>
          </p:cNvGraphicFramePr>
          <p:nvPr/>
        </p:nvGraphicFramePr>
        <p:xfrm>
          <a:off x="548640" y="1481328"/>
          <a:ext cx="11091672" cy="4224528"/>
        </p:xfrm>
        <a:graphic>
          <a:graphicData uri="http://schemas.openxmlformats.org/drawingml/2006/table">
            <a:tbl>
              <a:tblPr firstRow="1" bandRow="1">
                <a:tableStyleId>{5C22544A-7EE6-4342-B048-85BDC9FD1C3A}</a:tableStyleId>
              </a:tblPr>
              <a:tblGrid>
                <a:gridCol w="2331720"/>
                <a:gridCol w="2697480"/>
                <a:gridCol w="3108960"/>
                <a:gridCol w="2953512"/>
              </a:tblGrid>
              <a:tr h="603504">
                <a:tc>
                  <a:txBody>
                    <a:bodyPr wrap="square"/>
                    <a:lstStyle/>
                    <a:p>
                      <a:r>
                        <a:rPr sz="1600" b="1">
                          <a:solidFill>
                            <a:srgbClr val="F5F2EC"/>
                          </a:solidFill>
                          <a:latin typeface="IBM Plex Sans"/>
                        </a:rPr>
                        <a:t>Our idea</a:t>
                      </a:r>
                    </a:p>
                  </a:txBody>
                  <a:tcPr marL="109728" marR="109728" marT="36576" marB="36576" anchor="ctr">
                    <a:solidFill>
                      <a:srgbClr val="1F6F6B"/>
                    </a:solidFill>
                  </a:tcPr>
                </a:tc>
                <a:tc>
                  <a:txBody>
                    <a:bodyPr wrap="square"/>
                    <a:lstStyle/>
                    <a:p>
                      <a:r>
                        <a:rPr sz="1600" b="1">
                          <a:solidFill>
                            <a:srgbClr val="F5F2EC"/>
                          </a:solidFill>
                          <a:latin typeface="IBM Plex Sans"/>
                        </a:rPr>
                        <a:t>Closest recent work</a:t>
                      </a:r>
                    </a:p>
                  </a:txBody>
                  <a:tcPr marL="109728" marR="109728" marT="36576" marB="36576" anchor="ctr">
                    <a:solidFill>
                      <a:srgbClr val="1F6F6B"/>
                    </a:solidFill>
                  </a:tcPr>
                </a:tc>
                <a:tc>
                  <a:txBody>
                    <a:bodyPr wrap="square"/>
                    <a:lstStyle/>
                    <a:p>
                      <a:r>
                        <a:rPr sz="1600" b="1">
                          <a:solidFill>
                            <a:srgbClr val="F5F2EC"/>
                          </a:solidFill>
                          <a:latin typeface="IBM Plex Sans"/>
                        </a:rPr>
                        <a:t>Our edge</a:t>
                      </a:r>
                    </a:p>
                  </a:txBody>
                  <a:tcPr marL="109728" marR="109728" marT="36576" marB="36576" anchor="ctr">
                    <a:solidFill>
                      <a:srgbClr val="1F6F6B"/>
                    </a:solidFill>
                  </a:tcPr>
                </a:tc>
                <a:tc>
                  <a:txBody>
                    <a:bodyPr wrap="square"/>
                    <a:lstStyle/>
                    <a:p>
                      <a:r>
                        <a:rPr sz="1600" b="1">
                          <a:solidFill>
                            <a:srgbClr val="F5F2EC"/>
                          </a:solidFill>
                          <a:latin typeface="IBM Plex Sans"/>
                        </a:rPr>
                        <a:t>Gap to close</a:t>
                      </a:r>
                    </a:p>
                  </a:txBody>
                  <a:tcPr marL="109728" marR="109728" marT="36576" marB="36576" anchor="ctr">
                    <a:solidFill>
                      <a:srgbClr val="1F6F6B"/>
                    </a:solidFill>
                  </a:tcPr>
                </a:tc>
              </a:tr>
              <a:tr h="603504">
                <a:tc>
                  <a:txBody>
                    <a:bodyPr wrap="square"/>
                    <a:lstStyle/>
                    <a:p>
                      <a:r>
                        <a:rPr sz="1800" b="1">
                          <a:solidFill>
                            <a:srgbClr val="1F6F6B"/>
                          </a:solidFill>
                          <a:latin typeface="IBM Plex Sans"/>
                        </a:rPr>
                        <a:t>Compiled predicates</a:t>
                      </a:r>
                    </a:p>
                  </a:txBody>
                  <a:tcPr marL="109728" marR="109728" marT="36576" marB="36576" anchor="ctr">
                    <a:solidFill>
                      <a:srgbClr val="FFFDF8"/>
                    </a:solidFill>
                  </a:tcPr>
                </a:tc>
                <a:tc>
                  <a:txBody>
                    <a:bodyPr wrap="square"/>
                    <a:lstStyle/>
                    <a:p>
                      <a:r>
                        <a:rPr sz="1800" b="0">
                          <a:solidFill>
                            <a:srgbClr val="1E2328"/>
                          </a:solidFill>
                          <a:latin typeface="IBM Plex Sans"/>
                        </a:rPr>
                        <a:t>SAE concept features</a:t>
                      </a:r>
                    </a:p>
                  </a:txBody>
                  <a:tcPr marL="109728" marR="109728" marT="36576" marB="36576" anchor="ctr">
                    <a:solidFill>
                      <a:srgbClr val="FFFDF8"/>
                    </a:solidFill>
                  </a:tcPr>
                </a:tc>
                <a:tc>
                  <a:txBody>
                    <a:bodyPr wrap="square"/>
                    <a:lstStyle/>
                    <a:p>
                      <a:r>
                        <a:rPr sz="1800" b="0">
                          <a:solidFill>
                            <a:srgbClr val="1E2328"/>
                          </a:solidFill>
                          <a:latin typeface="IBM Plex Sans"/>
                        </a:rPr>
                        <a:t>216 B program on a 56 B code</a:t>
                      </a:r>
                    </a:p>
                  </a:txBody>
                  <a:tcPr marL="109728" marR="109728" marT="36576" marB="36576" anchor="ctr">
                    <a:solidFill>
                      <a:srgbClr val="FFFDF8"/>
                    </a:solidFill>
                  </a:tcPr>
                </a:tc>
                <a:tc>
                  <a:txBody>
                    <a:bodyPr wrap="square"/>
                    <a:lstStyle/>
                    <a:p>
                      <a:r>
                        <a:rPr sz="1800" b="0">
                          <a:solidFill>
                            <a:srgbClr val="1E2328"/>
                          </a:solidFill>
                          <a:latin typeface="IBM Plex Sans"/>
                        </a:rPr>
                        <a:t>Beat SAE-derived predicates</a:t>
                      </a:r>
                    </a:p>
                  </a:txBody>
                  <a:tcPr marL="109728" marR="109728" marT="36576" marB="36576" anchor="ctr">
                    <a:solidFill>
                      <a:srgbClr val="FFFDF8"/>
                    </a:solidFill>
                  </a:tcPr>
                </a:tc>
              </a:tr>
              <a:tr h="603504">
                <a:tc>
                  <a:txBody>
                    <a:bodyPr wrap="square"/>
                    <a:lstStyle/>
                    <a:p>
                      <a:r>
                        <a:rPr sz="1800" b="1">
                          <a:solidFill>
                            <a:srgbClr val="1F6F6B"/>
                          </a:solidFill>
                          <a:latin typeface="IBM Plex Sans"/>
                        </a:rPr>
                        <a:t>Predicates in HNSW</a:t>
                      </a:r>
                    </a:p>
                  </a:txBody>
                  <a:tcPr marL="109728" marR="109728" marT="36576" marB="36576" anchor="ctr">
                    <a:solidFill>
                      <a:srgbClr val="EAE5DB"/>
                    </a:solidFill>
                  </a:tcPr>
                </a:tc>
                <a:tc>
                  <a:txBody>
                    <a:bodyPr wrap="square"/>
                    <a:lstStyle/>
                    <a:p>
                      <a:r>
                        <a:rPr sz="1800" b="0">
                          <a:solidFill>
                            <a:srgbClr val="1E2328"/>
                          </a:solidFill>
                          <a:latin typeface="IBM Plex Sans"/>
                        </a:rPr>
                        <a:t>ACORN, FAVOR, EMA</a:t>
                      </a:r>
                    </a:p>
                  </a:txBody>
                  <a:tcPr marL="109728" marR="109728" marT="36576" marB="36576" anchor="ctr">
                    <a:solidFill>
                      <a:srgbClr val="EAE5DB"/>
                    </a:solidFill>
                  </a:tcPr>
                </a:tc>
                <a:tc>
                  <a:txBody>
                    <a:bodyPr wrap="square"/>
                    <a:lstStyle/>
                    <a:p>
                      <a:r>
                        <a:rPr sz="1800" b="0">
                          <a:solidFill>
                            <a:srgbClr val="1E2328"/>
                          </a:solidFill>
                          <a:latin typeface="IBM Plex Sans"/>
                        </a:rPr>
                        <a:t>Learned predicate, 96–134 ns</a:t>
                      </a:r>
                    </a:p>
                  </a:txBody>
                  <a:tcPr marL="109728" marR="109728" marT="36576" marB="36576" anchor="ctr">
                    <a:solidFill>
                      <a:srgbClr val="EAE5DB"/>
                    </a:solidFill>
                  </a:tcPr>
                </a:tc>
                <a:tc>
                  <a:txBody>
                    <a:bodyPr wrap="square"/>
                    <a:lstStyle/>
                    <a:p>
                      <a:r>
                        <a:rPr sz="1800" b="0">
                          <a:solidFill>
                            <a:srgbClr val="1E2328"/>
                          </a:solidFill>
                          <a:latin typeface="IBM Plex Sans"/>
                        </a:rPr>
                        <a:t>Head-to-head vs ACORN</a:t>
                      </a:r>
                    </a:p>
                  </a:txBody>
                  <a:tcPr marL="109728" marR="109728" marT="36576" marB="36576" anchor="ctr">
                    <a:solidFill>
                      <a:srgbClr val="EAE5DB"/>
                    </a:solidFill>
                  </a:tcPr>
                </a:tc>
              </a:tr>
              <a:tr h="603504">
                <a:tc>
                  <a:txBody>
                    <a:bodyPr wrap="square"/>
                    <a:lstStyle/>
                    <a:p>
                      <a:r>
                        <a:rPr sz="1800" b="1">
                          <a:solidFill>
                            <a:srgbClr val="1F6F6B"/>
                          </a:solidFill>
                          <a:latin typeface="IBM Plex Sans"/>
                        </a:rPr>
                        <a:t>Negation algebra</a:t>
                      </a:r>
                    </a:p>
                  </a:txBody>
                  <a:tcPr marL="109728" marR="109728" marT="36576" marB="36576" anchor="ctr">
                    <a:solidFill>
                      <a:srgbClr val="FFFDF8"/>
                    </a:solidFill>
                  </a:tcPr>
                </a:tc>
                <a:tc>
                  <a:txBody>
                    <a:bodyPr wrap="square"/>
                    <a:lstStyle/>
                    <a:p>
                      <a:r>
                        <a:rPr sz="1800" b="0">
                          <a:solidFill>
                            <a:srgbClr val="1E2328"/>
                          </a:solidFill>
                          <a:latin typeface="IBM Plex Sans"/>
                        </a:rPr>
                        <a:t>E-SENS</a:t>
                      </a:r>
                    </a:p>
                  </a:txBody>
                  <a:tcPr marL="109728" marR="109728" marT="36576" marB="36576" anchor="ctr">
                    <a:solidFill>
                      <a:srgbClr val="FFFDF8"/>
                    </a:solidFill>
                  </a:tcPr>
                </a:tc>
                <a:tc>
                  <a:txBody>
                    <a:bodyPr wrap="square"/>
                    <a:lstStyle/>
                    <a:p>
                      <a:r>
                        <a:rPr sz="1800" b="0">
                          <a:solidFill>
                            <a:srgbClr val="1E2328"/>
                          </a:solidFill>
                          <a:latin typeface="IBM Plex Sans"/>
                        </a:rPr>
                        <a:t>Calibrated, composable log(1 − p)</a:t>
                      </a:r>
                    </a:p>
                  </a:txBody>
                  <a:tcPr marL="109728" marR="109728" marT="36576" marB="36576" anchor="ctr">
                    <a:solidFill>
                      <a:srgbClr val="FFFDF8"/>
                    </a:solidFill>
                  </a:tcPr>
                </a:tc>
                <a:tc>
                  <a:txBody>
                    <a:bodyPr wrap="square"/>
                    <a:lstStyle/>
                    <a:p>
                      <a:r>
                        <a:rPr sz="1800" b="0">
                          <a:solidFill>
                            <a:srgbClr val="1E2328"/>
                          </a:solidFill>
                          <a:latin typeface="IBM Plex Sans"/>
                        </a:rPr>
                        <a:t>Beat E-SENS on its benchmark</a:t>
                      </a:r>
                    </a:p>
                  </a:txBody>
                  <a:tcPr marL="109728" marR="109728" marT="36576" marB="36576" anchor="ctr">
                    <a:solidFill>
                      <a:srgbClr val="FFFDF8"/>
                    </a:solidFill>
                  </a:tcPr>
                </a:tc>
              </a:tr>
              <a:tr h="603504">
                <a:tc>
                  <a:txBody>
                    <a:bodyPr wrap="square"/>
                    <a:lstStyle/>
                    <a:p>
                      <a:r>
                        <a:rPr sz="1800" b="1">
                          <a:solidFill>
                            <a:srgbClr val="1F6F6B"/>
                          </a:solidFill>
                          <a:latin typeface="IBM Plex Sans"/>
                        </a:rPr>
                        <a:t>Semantic maps</a:t>
                      </a:r>
                    </a:p>
                  </a:txBody>
                  <a:tcPr marL="109728" marR="109728" marT="36576" marB="36576" anchor="ctr">
                    <a:solidFill>
                      <a:srgbClr val="EAE5DB"/>
                    </a:solidFill>
                  </a:tcPr>
                </a:tc>
                <a:tc>
                  <a:txBody>
                    <a:bodyPr wrap="square"/>
                    <a:lstStyle/>
                    <a:p>
                      <a:r>
                        <a:rPr sz="1800" b="0">
                          <a:solidFill>
                            <a:srgbClr val="1E2328"/>
                          </a:solidFill>
                          <a:latin typeface="IBM Plex Sans"/>
                        </a:rPr>
                        <a:t>SAE clustering</a:t>
                      </a:r>
                    </a:p>
                  </a:txBody>
                  <a:tcPr marL="109728" marR="109728" marT="36576" marB="36576" anchor="ctr">
                    <a:solidFill>
                      <a:srgbClr val="EAE5DB"/>
                    </a:solidFill>
                  </a:tcPr>
                </a:tc>
                <a:tc>
                  <a:txBody>
                    <a:bodyPr wrap="square"/>
                    <a:lstStyle/>
                    <a:p>
                      <a:r>
                        <a:rPr sz="1800" b="0">
                          <a:solidFill>
                            <a:srgbClr val="1E2328"/>
                          </a:solidFill>
                          <a:latin typeface="IBM Plex Sans"/>
                        </a:rPr>
                        <a:t>LLM-designed, readable axes</a:t>
                      </a:r>
                    </a:p>
                  </a:txBody>
                  <a:tcPr marL="109728" marR="109728" marT="36576" marB="36576" anchor="ctr">
                    <a:solidFill>
                      <a:srgbClr val="EAE5DB"/>
                    </a:solidFill>
                  </a:tcPr>
                </a:tc>
                <a:tc>
                  <a:txBody>
                    <a:bodyPr wrap="square"/>
                    <a:lstStyle/>
                    <a:p>
                      <a:r>
                        <a:rPr sz="1800" b="0">
                          <a:solidFill>
                            <a:srgbClr val="1E2328"/>
                          </a:solidFill>
                          <a:latin typeface="IBM Plex Sans"/>
                        </a:rPr>
                        <a:t>Probe accuracy per axis</a:t>
                      </a:r>
                    </a:p>
                  </a:txBody>
                  <a:tcPr marL="109728" marR="109728" marT="36576" marB="36576" anchor="ctr">
                    <a:solidFill>
                      <a:srgbClr val="EAE5DB"/>
                    </a:solidFill>
                  </a:tcPr>
                </a:tc>
              </a:tr>
              <a:tr h="603504">
                <a:tc>
                  <a:txBody>
                    <a:bodyPr wrap="square"/>
                    <a:lstStyle/>
                    <a:p>
                      <a:r>
                        <a:rPr sz="1800" b="1">
                          <a:solidFill>
                            <a:srgbClr val="1F6F6B"/>
                          </a:solidFill>
                          <a:latin typeface="IBM Plex Sans"/>
                        </a:rPr>
                        <a:t>Intent canvas</a:t>
                      </a:r>
                    </a:p>
                  </a:txBody>
                  <a:tcPr marL="109728" marR="109728" marT="36576" marB="36576" anchor="ctr">
                    <a:solidFill>
                      <a:srgbClr val="FFFDF8"/>
                    </a:solidFill>
                  </a:tcPr>
                </a:tc>
                <a:tc>
                  <a:txBody>
                    <a:bodyPr wrap="square"/>
                    <a:lstStyle/>
                    <a:p>
                      <a:r>
                        <a:rPr sz="1800" b="0">
                          <a:solidFill>
                            <a:srgbClr val="1E2328"/>
                          </a:solidFill>
                          <a:latin typeface="IBM Plex Sans"/>
                        </a:rPr>
                        <a:t>Fashion IQ, FACap</a:t>
                      </a:r>
                    </a:p>
                  </a:txBody>
                  <a:tcPr marL="109728" marR="109728" marT="36576" marB="36576" anchor="ctr">
                    <a:solidFill>
                      <a:srgbClr val="FFFDF8"/>
                    </a:solidFill>
                  </a:tcPr>
                </a:tc>
                <a:tc>
                  <a:txBody>
                    <a:bodyPr wrap="square"/>
                    <a:lstStyle/>
                    <a:p>
                      <a:r>
                        <a:rPr sz="1800" b="0">
                          <a:solidFill>
                            <a:srgbClr val="1E2328"/>
                          </a:solidFill>
                          <a:latin typeface="IBM Plex Sans"/>
                        </a:rPr>
                        <a:t>Persistent, editable state</a:t>
                      </a:r>
                    </a:p>
                  </a:txBody>
                  <a:tcPr marL="109728" marR="109728" marT="36576" marB="36576" anchor="ctr">
                    <a:solidFill>
                      <a:srgbClr val="FFFDF8"/>
                    </a:solidFill>
                  </a:tcPr>
                </a:tc>
                <a:tc>
                  <a:txBody>
                    <a:bodyPr wrap="square"/>
                    <a:lstStyle/>
                    <a:p>
                      <a:r>
                        <a:rPr sz="1800" b="0">
                          <a:solidFill>
                            <a:srgbClr val="1E2328"/>
                          </a:solidFill>
                          <a:latin typeface="IBM Plex Sans"/>
                        </a:rPr>
                        <a:t>Multi-turn edit benchmark</a:t>
                      </a:r>
                    </a:p>
                  </a:txBody>
                  <a:tcPr marL="109728" marR="109728" marT="36576" marB="36576" anchor="ctr">
                    <a:solidFill>
                      <a:srgbClr val="FFFDF8"/>
                    </a:solidFill>
                  </a:tcPr>
                </a:tc>
              </a:tr>
              <a:tr h="603504">
                <a:tc>
                  <a:txBody>
                    <a:bodyPr wrap="square"/>
                    <a:lstStyle/>
                    <a:p>
                      <a:r>
                        <a:rPr sz="1800" b="1">
                          <a:solidFill>
                            <a:srgbClr val="1F6F6B"/>
                          </a:solidFill>
                          <a:latin typeface="IBM Plex Sans"/>
                        </a:rPr>
                        <a:t>MPDM as a retriever</a:t>
                      </a:r>
                    </a:p>
                  </a:txBody>
                  <a:tcPr marL="109728" marR="109728" marT="36576" marB="36576" anchor="ctr">
                    <a:solidFill>
                      <a:srgbClr val="EAE5DB"/>
                    </a:solidFill>
                  </a:tcPr>
                </a:tc>
                <a:tc>
                  <a:txBody>
                    <a:bodyPr wrap="square"/>
                    <a:lstStyle/>
                    <a:p>
                      <a:r>
                        <a:rPr sz="1800" b="0">
                          <a:solidFill>
                            <a:srgbClr val="1E2328"/>
                          </a:solidFill>
                          <a:latin typeface="IBM Plex Sans"/>
                        </a:rPr>
                        <a:t>CQ-SID, OneSearch</a:t>
                      </a:r>
                    </a:p>
                  </a:txBody>
                  <a:tcPr marL="109728" marR="109728" marT="36576" marB="36576" anchor="ctr">
                    <a:solidFill>
                      <a:srgbClr val="EAE5DB"/>
                    </a:solidFill>
                  </a:tcPr>
                </a:tc>
                <a:tc>
                  <a:txBody>
                    <a:bodyPr wrap="square"/>
                    <a:lstStyle/>
                    <a:p>
                      <a:r>
                        <a:rPr sz="1800" b="0">
                          <a:solidFill>
                            <a:srgbClr val="1E2328"/>
                          </a:solidFill>
                          <a:latin typeface="IBM Plex Sans"/>
                        </a:rPr>
                        <a:t>Map cells as readable codes</a:t>
                      </a:r>
                    </a:p>
                  </a:txBody>
                  <a:tcPr marL="109728" marR="109728" marT="36576" marB="36576" anchor="ctr">
                    <a:solidFill>
                      <a:srgbClr val="EAE5DB"/>
                    </a:solidFill>
                  </a:tcPr>
                </a:tc>
                <a:tc>
                  <a:txBody>
                    <a:bodyPr wrap="square"/>
                    <a:lstStyle/>
                    <a:p>
                      <a:r>
                        <a:rPr sz="1800" b="0">
                          <a:solidFill>
                            <a:srgbClr val="1E2328"/>
                          </a:solidFill>
                          <a:latin typeface="IBM Plex Sans"/>
                        </a:rPr>
                        <a:t>New candidates at 3M items</a:t>
                      </a:r>
                    </a:p>
                  </a:txBody>
                  <a:tcPr marL="109728" marR="109728" marT="36576" marB="36576" anchor="ctr">
                    <a:solidFill>
                      <a:srgbClr val="EAE5DB"/>
                    </a:solidFill>
                  </a:tcPr>
                </a:tc>
              </a:tr>
            </a:tbl>
          </a:graphicData>
        </a:graphic>
      </p:graphicFrame>
      <p:sp>
        <p:nvSpPr>
          <p:cNvPr id="5" name="Footer"/>
          <p:cNvSpPr txBox="1"/>
          <p:nvPr/>
        </p:nvSpPr>
        <p:spPr>
          <a:xfrm>
            <a:off x="548640" y="6309360"/>
            <a:ext cx="10362895" cy="411480"/>
          </a:xfrm>
          <a:prstGeom prst="rect">
            <a:avLst/>
          </a:prstGeom>
          <a:noFill/>
        </p:spPr>
        <p:txBody>
          <a:bodyPr wrap="square" lIns="0" rIns="0" tIns="0" bIns="0" anchor="t">
            <a:spAutoFit/>
          </a:bodyPr>
          <a:lstStyle/>
          <a:p>
            <a:pPr algn="l"/>
            <a:r>
              <a:rPr sz="1200" b="0" i="0">
                <a:solidFill>
                  <a:srgbClr val="5B636B"/>
                </a:solidFill>
                <a:latin typeface="IBM Plex Sans"/>
              </a:rPr>
              <a:t>Sources: slides 4–13 and the reading list (slide 17).</a:t>
            </a:r>
          </a:p>
        </p:txBody>
      </p:sp>
      <p:sp>
        <p:nvSpPr>
          <p:cNvPr id="6" name="Page"/>
          <p:cNvSpPr txBox="1"/>
          <p:nvPr/>
        </p:nvSpPr>
        <p:spPr>
          <a:xfrm>
            <a:off x="11094415" y="6309360"/>
            <a:ext cx="548640" cy="274320"/>
          </a:xfrm>
          <a:prstGeom prst="rect">
            <a:avLst/>
          </a:prstGeom>
          <a:noFill/>
        </p:spPr>
        <p:txBody>
          <a:bodyPr wrap="square" lIns="0" rIns="0" tIns="0" bIns="0" anchor="t">
            <a:spAutoFit/>
          </a:bodyPr>
          <a:lstStyle/>
          <a:p>
            <a:pPr algn="r"/>
            <a:r>
              <a:rPr sz="1200" b="0" i="0">
                <a:solidFill>
                  <a:srgbClr val="5B636B"/>
                </a:solidFill>
                <a:latin typeface="IBM Plex San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Kicker"/>
          <p:cNvSpPr txBox="1"/>
          <p:nvPr/>
        </p:nvSpPr>
        <p:spPr>
          <a:xfrm>
            <a:off x="548640" y="384048"/>
            <a:ext cx="11094415" cy="274320"/>
          </a:xfrm>
          <a:prstGeom prst="rect">
            <a:avLst/>
          </a:prstGeom>
          <a:noFill/>
        </p:spPr>
        <p:txBody>
          <a:bodyPr wrap="square" lIns="0" rIns="0" tIns="0" bIns="0" anchor="t">
            <a:spAutoFit/>
          </a:bodyPr>
          <a:lstStyle/>
          <a:p>
            <a:pPr algn="l"/>
            <a:r>
              <a:rPr sz="1300" b="1" i="0" spc="150">
                <a:solidFill>
                  <a:srgbClr val="1F6F6B"/>
                </a:solidFill>
                <a:latin typeface="IBM Plex Sans"/>
              </a:rPr>
              <a:t>NEXT EXPERIMENTS</a:t>
            </a:r>
          </a:p>
        </p:txBody>
      </p:sp>
      <p:sp>
        <p:nvSpPr>
          <p:cNvPr id="3" name="Title"/>
          <p:cNvSpPr txBox="1"/>
          <p:nvPr/>
        </p:nvSpPr>
        <p:spPr>
          <a:xfrm>
            <a:off x="548640" y="676656"/>
            <a:ext cx="11094415" cy="731520"/>
          </a:xfrm>
          <a:prstGeom prst="rect">
            <a:avLst/>
          </a:prstGeom>
          <a:noFill/>
        </p:spPr>
        <p:txBody>
          <a:bodyPr wrap="square" lIns="0" rIns="0" tIns="0" bIns="0" anchor="t">
            <a:spAutoFit/>
          </a:bodyPr>
          <a:lstStyle/>
          <a:p>
            <a:pPr algn="l"/>
            <a:r>
              <a:rPr sz="2800" b="0" i="0">
                <a:solidFill>
                  <a:srgbClr val="1E2328"/>
                </a:solidFill>
                <a:latin typeface="Libre Baskerville"/>
              </a:rPr>
              <a:t>Stronger rivals to beat next</a:t>
            </a:r>
          </a:p>
        </p:txBody>
      </p:sp>
      <p:sp>
        <p:nvSpPr>
          <p:cNvPr id="4" name="Rectangle 3"/>
          <p:cNvSpPr/>
          <p:nvPr/>
        </p:nvSpPr>
        <p:spPr>
          <a:xfrm>
            <a:off x="548640" y="1481328"/>
            <a:ext cx="3520440" cy="3566160"/>
          </a:xfrm>
          <a:prstGeom prst="rect">
            <a:avLst/>
          </a:prstGeom>
          <a:solidFill>
            <a:srgbClr val="FFFDF8"/>
          </a:solidFill>
          <a:ln w="9525">
            <a:solidFill>
              <a:srgbClr val="DDD6C8"/>
            </a:solidFill>
          </a:ln>
        </p:spPr>
        <p:txBody>
          <a:bodyPr rtlCol="0" anchor="ctr" wrap="square" lIns="73152" rIns="73152" tIns="36576" bIns="36576"/>
          <a:lstStyle/>
          <a:p>
            <a:pPr algn="ctr"/>
          </a:p>
        </p:txBody>
      </p:sp>
      <p:sp>
        <p:nvSpPr>
          <p:cNvPr id="5" name="TextBox 4"/>
          <p:cNvSpPr txBox="1"/>
          <p:nvPr/>
        </p:nvSpPr>
        <p:spPr>
          <a:xfrm>
            <a:off x="822959" y="1709928"/>
            <a:ext cx="2971800" cy="457200"/>
          </a:xfrm>
          <a:prstGeom prst="rect">
            <a:avLst/>
          </a:prstGeom>
          <a:noFill/>
        </p:spPr>
        <p:txBody>
          <a:bodyPr wrap="square" lIns="0" rIns="0" tIns="0" bIns="0" anchor="t">
            <a:spAutoFit/>
          </a:bodyPr>
          <a:lstStyle/>
          <a:p>
            <a:pPr algn="l"/>
            <a:r>
              <a:rPr sz="2200" b="0" i="0">
                <a:solidFill>
                  <a:srgbClr val="1F6F6B"/>
                </a:solidFill>
                <a:latin typeface="Libre Baskerville"/>
              </a:rPr>
              <a:t>RSA</a:t>
            </a:r>
          </a:p>
        </p:txBody>
      </p:sp>
      <p:sp>
        <p:nvSpPr>
          <p:cNvPr id="6" name="TextBox 5"/>
          <p:cNvSpPr txBox="1"/>
          <p:nvPr/>
        </p:nvSpPr>
        <p:spPr>
          <a:xfrm>
            <a:off x="822959" y="2350008"/>
            <a:ext cx="2971800" cy="3383280"/>
          </a:xfrm>
          <a:prstGeom prst="rect">
            <a:avLst/>
          </a:prstGeom>
          <a:noFill/>
        </p:spPr>
        <p:txBody>
          <a:bodyPr wrap="square" lIns="0" rIns="0" tIns="0" bIns="0" anchor="t">
            <a:spAutoFit/>
          </a:bodyPr>
          <a:lstStyle/>
          <a:p>
            <a:pPr algn="l">
              <a:spcAft>
                <a:spcPts val="1400"/>
              </a:spcAft>
            </a:pPr>
            <a:r>
              <a:rPr sz="1800" b="0" i="0">
                <a:solidFill>
                  <a:srgbClr val="1E2328"/>
                </a:solidFill>
                <a:latin typeface="IBM Plex Sans"/>
              </a:rPr>
              <a:t>ACORN / FAVOR baseline</a:t>
            </a:r>
          </a:p>
          <a:p>
            <a:pPr algn="l">
              <a:spcAft>
                <a:spcPts val="1400"/>
              </a:spcAft>
            </a:pPr>
            <a:r>
              <a:rPr sz="1800" b="0" i="0">
                <a:solidFill>
                  <a:srgbClr val="1E2328"/>
                </a:solidFill>
                <a:latin typeface="IBM Plex Sans"/>
              </a:rPr>
              <a:t>E-SENS on negation</a:t>
            </a:r>
          </a:p>
          <a:p>
            <a:pPr algn="l">
              <a:spcAft>
                <a:spcPts val="1400"/>
              </a:spcAft>
            </a:pPr>
            <a:r>
              <a:rPr sz="1800" b="0" i="0">
                <a:solidFill>
                  <a:srgbClr val="1E2328"/>
                </a:solidFill>
                <a:latin typeface="IBM Plex Sans"/>
              </a:rPr>
              <a:t>SAE-derived predicates</a:t>
            </a:r>
          </a:p>
          <a:p>
            <a:pPr algn="l">
              <a:spcAft>
                <a:spcPts val="1400"/>
              </a:spcAft>
            </a:pPr>
            <a:r>
              <a:rPr sz="1800" b="0" i="0">
                <a:solidFill>
                  <a:srgbClr val="1E2328"/>
                </a:solidFill>
                <a:latin typeface="IBM Plex Sans"/>
              </a:rPr>
              <a:t>Anticorrelated-query slice</a:t>
            </a:r>
          </a:p>
        </p:txBody>
      </p:sp>
      <p:sp>
        <p:nvSpPr>
          <p:cNvPr id="7" name="Rectangle 6"/>
          <p:cNvSpPr/>
          <p:nvPr/>
        </p:nvSpPr>
        <p:spPr>
          <a:xfrm>
            <a:off x="4343400" y="1481328"/>
            <a:ext cx="3520440" cy="3566160"/>
          </a:xfrm>
          <a:prstGeom prst="rect">
            <a:avLst/>
          </a:prstGeom>
          <a:solidFill>
            <a:srgbClr val="FFFDF8"/>
          </a:solidFill>
          <a:ln w="9525">
            <a:solidFill>
              <a:srgbClr val="DDD6C8"/>
            </a:solidFill>
          </a:ln>
        </p:spPr>
        <p:txBody>
          <a:bodyPr rtlCol="0" anchor="ctr" wrap="square" lIns="73152" rIns="73152" tIns="36576" bIns="36576"/>
          <a:lstStyle/>
          <a:p>
            <a:pPr algn="ctr"/>
          </a:p>
        </p:txBody>
      </p:sp>
      <p:sp>
        <p:nvSpPr>
          <p:cNvPr id="8" name="TextBox 7"/>
          <p:cNvSpPr txBox="1"/>
          <p:nvPr/>
        </p:nvSpPr>
        <p:spPr>
          <a:xfrm>
            <a:off x="4617720" y="1709928"/>
            <a:ext cx="2971800" cy="457200"/>
          </a:xfrm>
          <a:prstGeom prst="rect">
            <a:avLst/>
          </a:prstGeom>
          <a:noFill/>
        </p:spPr>
        <p:txBody>
          <a:bodyPr wrap="square" lIns="0" rIns="0" tIns="0" bIns="0" anchor="t">
            <a:spAutoFit/>
          </a:bodyPr>
          <a:lstStyle/>
          <a:p>
            <a:pPr algn="l"/>
            <a:r>
              <a:rPr sz="2200" b="0" i="0">
                <a:solidFill>
                  <a:srgbClr val="1F6F6B"/>
                </a:solidFill>
                <a:latin typeface="Libre Baskerville"/>
              </a:rPr>
              <a:t>Semantic maps</a:t>
            </a:r>
          </a:p>
        </p:txBody>
      </p:sp>
      <p:sp>
        <p:nvSpPr>
          <p:cNvPr id="9" name="TextBox 8"/>
          <p:cNvSpPr txBox="1"/>
          <p:nvPr/>
        </p:nvSpPr>
        <p:spPr>
          <a:xfrm>
            <a:off x="4617720" y="2350008"/>
            <a:ext cx="2971800" cy="3383280"/>
          </a:xfrm>
          <a:prstGeom prst="rect">
            <a:avLst/>
          </a:prstGeom>
          <a:noFill/>
        </p:spPr>
        <p:txBody>
          <a:bodyPr wrap="square" lIns="0" rIns="0" tIns="0" bIns="0" anchor="t">
            <a:spAutoFit/>
          </a:bodyPr>
          <a:lstStyle/>
          <a:p>
            <a:pPr algn="l">
              <a:spcAft>
                <a:spcPts val="1400"/>
              </a:spcAft>
            </a:pPr>
            <a:r>
              <a:rPr sz="1800" b="0" i="0">
                <a:solidFill>
                  <a:srgbClr val="1E2328"/>
                </a:solidFill>
                <a:latin typeface="IBM Plex Sans"/>
              </a:rPr>
              <a:t>Parametric UMAP and SOM baselines</a:t>
            </a:r>
          </a:p>
          <a:p>
            <a:pPr algn="l">
              <a:spcAft>
                <a:spcPts val="1400"/>
              </a:spcAft>
            </a:pPr>
            <a:r>
              <a:rPr sz="1800" b="0" i="0">
                <a:solidFill>
                  <a:srgbClr val="1E2328"/>
                </a:solidFill>
                <a:latin typeface="IBM Plex Sans"/>
              </a:rPr>
              <a:t>Probe accuracy per axis</a:t>
            </a:r>
          </a:p>
          <a:p>
            <a:pPr algn="l">
              <a:spcAft>
                <a:spcPts val="1400"/>
              </a:spcAft>
            </a:pPr>
            <a:r>
              <a:rPr sz="1800" b="0" i="0">
                <a:solidFill>
                  <a:srgbClr val="1E2328"/>
                </a:solidFill>
                <a:latin typeface="IBM Plex Sans"/>
              </a:rPr>
              <a:t>Axis decorrelation</a:t>
            </a:r>
          </a:p>
        </p:txBody>
      </p:sp>
      <p:sp>
        <p:nvSpPr>
          <p:cNvPr id="10" name="Rectangle 9"/>
          <p:cNvSpPr/>
          <p:nvPr/>
        </p:nvSpPr>
        <p:spPr>
          <a:xfrm>
            <a:off x="8138160" y="1481328"/>
            <a:ext cx="3520440" cy="3566160"/>
          </a:xfrm>
          <a:prstGeom prst="rect">
            <a:avLst/>
          </a:prstGeom>
          <a:solidFill>
            <a:srgbClr val="FFFDF8"/>
          </a:solidFill>
          <a:ln w="9525">
            <a:solidFill>
              <a:srgbClr val="DDD6C8"/>
            </a:solidFill>
          </a:ln>
        </p:spPr>
        <p:txBody>
          <a:bodyPr rtlCol="0" anchor="ctr" wrap="square" lIns="73152" rIns="73152" tIns="36576" bIns="36576"/>
          <a:lstStyle/>
          <a:p>
            <a:pPr algn="ctr"/>
          </a:p>
        </p:txBody>
      </p:sp>
      <p:sp>
        <p:nvSpPr>
          <p:cNvPr id="11" name="TextBox 10"/>
          <p:cNvSpPr txBox="1"/>
          <p:nvPr/>
        </p:nvSpPr>
        <p:spPr>
          <a:xfrm>
            <a:off x="8412480" y="1709928"/>
            <a:ext cx="2971800" cy="457200"/>
          </a:xfrm>
          <a:prstGeom prst="rect">
            <a:avLst/>
          </a:prstGeom>
          <a:noFill/>
        </p:spPr>
        <p:txBody>
          <a:bodyPr wrap="square" lIns="0" rIns="0" tIns="0" bIns="0" anchor="t">
            <a:spAutoFit/>
          </a:bodyPr>
          <a:lstStyle/>
          <a:p>
            <a:pPr algn="l"/>
            <a:r>
              <a:rPr sz="2200" b="0" i="0">
                <a:solidFill>
                  <a:srgbClr val="1F6F6B"/>
                </a:solidFill>
                <a:latin typeface="Libre Baskerville"/>
              </a:rPr>
              <a:t>Intent canvas</a:t>
            </a:r>
          </a:p>
        </p:txBody>
      </p:sp>
      <p:sp>
        <p:nvSpPr>
          <p:cNvPr id="12" name="TextBox 11"/>
          <p:cNvSpPr txBox="1"/>
          <p:nvPr/>
        </p:nvSpPr>
        <p:spPr>
          <a:xfrm>
            <a:off x="8412480" y="2350008"/>
            <a:ext cx="2971800" cy="3383280"/>
          </a:xfrm>
          <a:prstGeom prst="rect">
            <a:avLst/>
          </a:prstGeom>
          <a:noFill/>
        </p:spPr>
        <p:txBody>
          <a:bodyPr wrap="square" lIns="0" rIns="0" tIns="0" bIns="0" anchor="t">
            <a:spAutoFit/>
          </a:bodyPr>
          <a:lstStyle/>
          <a:p>
            <a:pPr algn="l">
              <a:spcAft>
                <a:spcPts val="1400"/>
              </a:spcAft>
            </a:pPr>
            <a:r>
              <a:rPr sz="1800" b="0" i="0">
                <a:solidFill>
                  <a:srgbClr val="1E2328"/>
                </a:solidFill>
                <a:latin typeface="IBM Plex Sans"/>
              </a:rPr>
              <a:t>Multi-turn Fashion IQ edits</a:t>
            </a:r>
          </a:p>
          <a:p>
            <a:pPr algn="l">
              <a:spcAft>
                <a:spcPts val="1400"/>
              </a:spcAft>
            </a:pPr>
            <a:r>
              <a:rPr sz="1800" b="0" i="0">
                <a:solidFill>
                  <a:srgbClr val="1E2328"/>
                </a:solidFill>
                <a:latin typeface="IBM Plex Sans"/>
              </a:rPr>
              <a:t>Simulated shoppers</a:t>
            </a:r>
          </a:p>
          <a:p>
            <a:pPr algn="l">
              <a:spcAft>
                <a:spcPts val="1400"/>
              </a:spcAft>
            </a:pPr>
            <a:r>
              <a:rPr sz="1800" b="0" i="0">
                <a:solidFill>
                  <a:srgbClr val="1E2328"/>
                </a:solidFill>
                <a:latin typeface="IBM Plex Sans"/>
              </a:rPr>
              <a:t>Turns-to-target vs query rewriting</a:t>
            </a:r>
          </a:p>
          <a:p>
            <a:pPr algn="l">
              <a:spcAft>
                <a:spcPts val="1400"/>
              </a:spcAft>
            </a:pPr>
            <a:r>
              <a:rPr sz="1800" b="0" i="0">
                <a:solidFill>
                  <a:srgbClr val="1E2328"/>
                </a:solidFill>
                <a:latin typeface="IBM Plex Sans"/>
              </a:rPr>
              <a:t>One-market pilot</a:t>
            </a:r>
          </a:p>
        </p:txBody>
      </p:sp>
      <p:sp>
        <p:nvSpPr>
          <p:cNvPr id="13" name="Footer"/>
          <p:cNvSpPr txBox="1"/>
          <p:nvPr/>
        </p:nvSpPr>
        <p:spPr>
          <a:xfrm>
            <a:off x="548640" y="6309360"/>
            <a:ext cx="10362895" cy="411480"/>
          </a:xfrm>
          <a:prstGeom prst="rect">
            <a:avLst/>
          </a:prstGeom>
          <a:noFill/>
        </p:spPr>
        <p:txBody>
          <a:bodyPr wrap="square" lIns="0" rIns="0" tIns="0" bIns="0" anchor="t">
            <a:spAutoFit/>
          </a:bodyPr>
          <a:lstStyle/>
          <a:p>
            <a:pPr algn="l"/>
            <a:r>
              <a:rPr sz="1200" b="0" i="0">
                <a:solidFill>
                  <a:srgbClr val="5B636B"/>
                </a:solidFill>
                <a:latin typeface="IBM Plex Sans"/>
              </a:rPr>
              <a:t>Baselines: ACORN arXiv:2403.04871 · FAVOR arXiv:2605.07770 · E-SENS arXiv:2608.30130 · Fashion IQ arXiv:1905.12794</a:t>
            </a:r>
          </a:p>
        </p:txBody>
      </p:sp>
      <p:sp>
        <p:nvSpPr>
          <p:cNvPr id="14" name="Page"/>
          <p:cNvSpPr txBox="1"/>
          <p:nvPr/>
        </p:nvSpPr>
        <p:spPr>
          <a:xfrm>
            <a:off x="11094415" y="6309360"/>
            <a:ext cx="548640" cy="274320"/>
          </a:xfrm>
          <a:prstGeom prst="rect">
            <a:avLst/>
          </a:prstGeom>
          <a:noFill/>
        </p:spPr>
        <p:txBody>
          <a:bodyPr wrap="square" lIns="0" rIns="0" tIns="0" bIns="0" anchor="t">
            <a:spAutoFit/>
          </a:bodyPr>
          <a:lstStyle/>
          <a:p>
            <a:pPr algn="r"/>
            <a:r>
              <a:rPr sz="1200" b="0" i="0">
                <a:solidFill>
                  <a:srgbClr val="5B636B"/>
                </a:solidFill>
                <a:latin typeface="IBM Plex San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2EC"/>
        </a:solidFill>
        <a:effectLst/>
      </p:bgPr>
    </p:bg>
    <p:spTree>
      <p:nvGrpSpPr>
        <p:cNvPr id="1" name=""/>
        <p:cNvGrpSpPr/>
        <p:nvPr/>
      </p:nvGrpSpPr>
      <p:grpSpPr/>
      <p:sp>
        <p:nvSpPr>
          <p:cNvPr id="2" name="Kicker"/>
          <p:cNvSpPr txBox="1"/>
          <p:nvPr/>
        </p:nvSpPr>
        <p:spPr>
          <a:xfrm>
            <a:off x="548640" y="384048"/>
            <a:ext cx="11094415" cy="274320"/>
          </a:xfrm>
          <a:prstGeom prst="rect">
            <a:avLst/>
          </a:prstGeom>
          <a:noFill/>
        </p:spPr>
        <p:txBody>
          <a:bodyPr wrap="square" lIns="0" rIns="0" tIns="0" bIns="0" anchor="t">
            <a:spAutoFit/>
          </a:bodyPr>
          <a:lstStyle/>
          <a:p>
            <a:pPr algn="l"/>
            <a:r>
              <a:rPr sz="1300" b="1" i="0" spc="150">
                <a:solidFill>
                  <a:srgbClr val="1F6F6B"/>
                </a:solidFill>
                <a:latin typeface="IBM Plex Sans"/>
              </a:rPr>
              <a:t>READING LIST</a:t>
            </a:r>
          </a:p>
        </p:txBody>
      </p:sp>
      <p:sp>
        <p:nvSpPr>
          <p:cNvPr id="3" name="Title"/>
          <p:cNvSpPr txBox="1"/>
          <p:nvPr/>
        </p:nvSpPr>
        <p:spPr>
          <a:xfrm>
            <a:off x="548640" y="676656"/>
            <a:ext cx="11094415" cy="731520"/>
          </a:xfrm>
          <a:prstGeom prst="rect">
            <a:avLst/>
          </a:prstGeom>
          <a:noFill/>
        </p:spPr>
        <p:txBody>
          <a:bodyPr wrap="square" lIns="0" rIns="0" tIns="0" bIns="0" anchor="t">
            <a:spAutoFit/>
          </a:bodyPr>
          <a:lstStyle/>
          <a:p>
            <a:pPr algn="l"/>
            <a:r>
              <a:rPr sz="2800" b="0" i="0">
                <a:solidFill>
                  <a:srgbClr val="1E2328"/>
                </a:solidFill>
                <a:latin typeface="Libre Baskerville"/>
              </a:rPr>
              <a:t>Papers in this deck</a:t>
            </a:r>
          </a:p>
        </p:txBody>
      </p:sp>
      <p:sp>
        <p:nvSpPr>
          <p:cNvPr id="4" name="TextBox 3"/>
          <p:cNvSpPr txBox="1"/>
          <p:nvPr/>
        </p:nvSpPr>
        <p:spPr>
          <a:xfrm>
            <a:off x="548640" y="1481328"/>
            <a:ext cx="3520440" cy="411480"/>
          </a:xfrm>
          <a:prstGeom prst="rect">
            <a:avLst/>
          </a:prstGeom>
          <a:noFill/>
        </p:spPr>
        <p:txBody>
          <a:bodyPr wrap="square" lIns="0" rIns="0" tIns="0" bIns="0" anchor="t">
            <a:spAutoFit/>
          </a:bodyPr>
          <a:lstStyle/>
          <a:p>
            <a:pPr algn="l"/>
            <a:r>
              <a:rPr sz="1800" b="1" i="0">
                <a:solidFill>
                  <a:srgbClr val="1E2328"/>
                </a:solidFill>
                <a:latin typeface="IBM Plex Sans"/>
              </a:rPr>
              <a:t>RSA (our paper)</a:t>
            </a:r>
          </a:p>
        </p:txBody>
      </p:sp>
      <p:sp>
        <p:nvSpPr>
          <p:cNvPr id="5" name="TextBox 4"/>
          <p:cNvSpPr txBox="1"/>
          <p:nvPr/>
        </p:nvSpPr>
        <p:spPr>
          <a:xfrm>
            <a:off x="4114800" y="1481328"/>
            <a:ext cx="1965960" cy="411480"/>
          </a:xfrm>
          <a:prstGeom prst="rect">
            <a:avLst/>
          </a:prstGeom>
          <a:noFill/>
        </p:spPr>
        <p:txBody>
          <a:bodyPr wrap="square" lIns="0" rIns="0" tIns="0" bIns="0" anchor="t">
            <a:spAutoFit/>
          </a:bodyPr>
          <a:lstStyle/>
          <a:p>
            <a:pPr algn="l"/>
            <a:r>
              <a:rPr sz="1800" b="0" i="0">
                <a:solidFill>
                  <a:srgbClr val="5B636B"/>
                </a:solidFill>
                <a:latin typeface="IBM Plex Sans"/>
              </a:rPr>
              <a:t>local PDF</a:t>
            </a:r>
          </a:p>
        </p:txBody>
      </p:sp>
      <p:sp>
        <p:nvSpPr>
          <p:cNvPr id="6" name="TextBox 5"/>
          <p:cNvSpPr txBox="1"/>
          <p:nvPr/>
        </p:nvSpPr>
        <p:spPr>
          <a:xfrm>
            <a:off x="548640" y="1984248"/>
            <a:ext cx="3520440" cy="411480"/>
          </a:xfrm>
          <a:prstGeom prst="rect">
            <a:avLst/>
          </a:prstGeom>
          <a:noFill/>
        </p:spPr>
        <p:txBody>
          <a:bodyPr wrap="square" lIns="0" rIns="0" tIns="0" bIns="0" anchor="t">
            <a:spAutoFit/>
          </a:bodyPr>
          <a:lstStyle/>
          <a:p>
            <a:pPr algn="l"/>
            <a:r>
              <a:rPr sz="1800" b="1" i="0">
                <a:solidFill>
                  <a:srgbClr val="1E2328"/>
                </a:solidFill>
                <a:latin typeface="IBM Plex Sans"/>
              </a:rPr>
              <a:t>ACORN</a:t>
            </a:r>
          </a:p>
        </p:txBody>
      </p:sp>
      <p:sp>
        <p:nvSpPr>
          <p:cNvPr id="7" name="TextBox 6"/>
          <p:cNvSpPr txBox="1"/>
          <p:nvPr/>
        </p:nvSpPr>
        <p:spPr>
          <a:xfrm>
            <a:off x="4114800" y="1984248"/>
            <a:ext cx="1965960" cy="411480"/>
          </a:xfrm>
          <a:prstGeom prst="rect">
            <a:avLst/>
          </a:prstGeom>
          <a:noFill/>
        </p:spPr>
        <p:txBody>
          <a:bodyPr wrap="square" lIns="0" rIns="0" tIns="0" bIns="0" anchor="t">
            <a:spAutoFit/>
          </a:bodyPr>
          <a:lstStyle/>
          <a:p>
            <a:pPr algn="l"/>
            <a:r>
              <a:rPr sz="1800" b="0" i="0">
                <a:solidFill>
                  <a:srgbClr val="1F6F6B"/>
                </a:solidFill>
                <a:latin typeface="IBM Plex Sans"/>
                <a:hlinkClick r:id="rId2"/>
              </a:rPr>
              <a:t>arXiv:2403.04871</a:t>
            </a:r>
          </a:p>
        </p:txBody>
      </p:sp>
      <p:sp>
        <p:nvSpPr>
          <p:cNvPr id="8" name="TextBox 7"/>
          <p:cNvSpPr txBox="1"/>
          <p:nvPr/>
        </p:nvSpPr>
        <p:spPr>
          <a:xfrm>
            <a:off x="548640" y="2487168"/>
            <a:ext cx="3520440" cy="411480"/>
          </a:xfrm>
          <a:prstGeom prst="rect">
            <a:avLst/>
          </a:prstGeom>
          <a:noFill/>
        </p:spPr>
        <p:txBody>
          <a:bodyPr wrap="square" lIns="0" rIns="0" tIns="0" bIns="0" anchor="t">
            <a:spAutoFit/>
          </a:bodyPr>
          <a:lstStyle/>
          <a:p>
            <a:pPr algn="l"/>
            <a:r>
              <a:rPr sz="1800" b="1" i="0">
                <a:solidFill>
                  <a:srgbClr val="1E2328"/>
                </a:solidFill>
                <a:latin typeface="IBM Plex Sans"/>
              </a:rPr>
              <a:t>Curator</a:t>
            </a:r>
          </a:p>
        </p:txBody>
      </p:sp>
      <p:sp>
        <p:nvSpPr>
          <p:cNvPr id="9" name="TextBox 8"/>
          <p:cNvSpPr txBox="1"/>
          <p:nvPr/>
        </p:nvSpPr>
        <p:spPr>
          <a:xfrm>
            <a:off x="4114800" y="2487168"/>
            <a:ext cx="1965960" cy="411480"/>
          </a:xfrm>
          <a:prstGeom prst="rect">
            <a:avLst/>
          </a:prstGeom>
          <a:noFill/>
        </p:spPr>
        <p:txBody>
          <a:bodyPr wrap="square" lIns="0" rIns="0" tIns="0" bIns="0" anchor="t">
            <a:spAutoFit/>
          </a:bodyPr>
          <a:lstStyle/>
          <a:p>
            <a:pPr algn="l"/>
            <a:r>
              <a:rPr sz="1800" b="0" i="0">
                <a:solidFill>
                  <a:srgbClr val="1F6F6B"/>
                </a:solidFill>
                <a:latin typeface="IBM Plex Sans"/>
                <a:hlinkClick r:id="rId3"/>
              </a:rPr>
              <a:t>arXiv:2601.01291</a:t>
            </a:r>
          </a:p>
        </p:txBody>
      </p:sp>
      <p:sp>
        <p:nvSpPr>
          <p:cNvPr id="10" name="TextBox 9"/>
          <p:cNvSpPr txBox="1"/>
          <p:nvPr/>
        </p:nvSpPr>
        <p:spPr>
          <a:xfrm>
            <a:off x="548640" y="2990088"/>
            <a:ext cx="3520440" cy="411480"/>
          </a:xfrm>
          <a:prstGeom prst="rect">
            <a:avLst/>
          </a:prstGeom>
          <a:noFill/>
        </p:spPr>
        <p:txBody>
          <a:bodyPr wrap="square" lIns="0" rIns="0" tIns="0" bIns="0" anchor="t">
            <a:spAutoFit/>
          </a:bodyPr>
          <a:lstStyle/>
          <a:p>
            <a:pPr algn="l"/>
            <a:r>
              <a:rPr sz="1800" b="1" i="0">
                <a:solidFill>
                  <a:srgbClr val="1E2328"/>
                </a:solidFill>
                <a:latin typeface="IBM Plex Sans"/>
              </a:rPr>
              <a:t>FAVOR</a:t>
            </a:r>
          </a:p>
        </p:txBody>
      </p:sp>
      <p:sp>
        <p:nvSpPr>
          <p:cNvPr id="11" name="TextBox 10"/>
          <p:cNvSpPr txBox="1"/>
          <p:nvPr/>
        </p:nvSpPr>
        <p:spPr>
          <a:xfrm>
            <a:off x="4114800" y="2990088"/>
            <a:ext cx="1965960" cy="411480"/>
          </a:xfrm>
          <a:prstGeom prst="rect">
            <a:avLst/>
          </a:prstGeom>
          <a:noFill/>
        </p:spPr>
        <p:txBody>
          <a:bodyPr wrap="square" lIns="0" rIns="0" tIns="0" bIns="0" anchor="t">
            <a:spAutoFit/>
          </a:bodyPr>
          <a:lstStyle/>
          <a:p>
            <a:pPr algn="l"/>
            <a:r>
              <a:rPr sz="1800" b="0" i="0">
                <a:solidFill>
                  <a:srgbClr val="1F6F6B"/>
                </a:solidFill>
                <a:latin typeface="IBM Plex Sans"/>
                <a:hlinkClick r:id="rId4"/>
              </a:rPr>
              <a:t>arXiv:2605.07770</a:t>
            </a:r>
          </a:p>
        </p:txBody>
      </p:sp>
      <p:sp>
        <p:nvSpPr>
          <p:cNvPr id="12" name="TextBox 11"/>
          <p:cNvSpPr txBox="1"/>
          <p:nvPr/>
        </p:nvSpPr>
        <p:spPr>
          <a:xfrm>
            <a:off x="548640" y="3493008"/>
            <a:ext cx="3520440" cy="411480"/>
          </a:xfrm>
          <a:prstGeom prst="rect">
            <a:avLst/>
          </a:prstGeom>
          <a:noFill/>
        </p:spPr>
        <p:txBody>
          <a:bodyPr wrap="square" lIns="0" rIns="0" tIns="0" bIns="0" anchor="t">
            <a:spAutoFit/>
          </a:bodyPr>
          <a:lstStyle/>
          <a:p>
            <a:pPr algn="l"/>
            <a:r>
              <a:rPr sz="1800" b="1" i="0">
                <a:solidFill>
                  <a:srgbClr val="1E2328"/>
                </a:solidFill>
                <a:latin typeface="IBM Plex Sans"/>
              </a:rPr>
              <a:t>EMA</a:t>
            </a:r>
          </a:p>
        </p:txBody>
      </p:sp>
      <p:sp>
        <p:nvSpPr>
          <p:cNvPr id="13" name="TextBox 12"/>
          <p:cNvSpPr txBox="1"/>
          <p:nvPr/>
        </p:nvSpPr>
        <p:spPr>
          <a:xfrm>
            <a:off x="4114800" y="3493008"/>
            <a:ext cx="1965960" cy="411480"/>
          </a:xfrm>
          <a:prstGeom prst="rect">
            <a:avLst/>
          </a:prstGeom>
          <a:noFill/>
        </p:spPr>
        <p:txBody>
          <a:bodyPr wrap="square" lIns="0" rIns="0" tIns="0" bIns="0" anchor="t">
            <a:spAutoFit/>
          </a:bodyPr>
          <a:lstStyle/>
          <a:p>
            <a:pPr algn="l"/>
            <a:r>
              <a:rPr sz="1800" b="0" i="0">
                <a:solidFill>
                  <a:srgbClr val="1F6F6B"/>
                </a:solidFill>
                <a:latin typeface="IBM Plex Sans"/>
                <a:hlinkClick r:id="rId5"/>
              </a:rPr>
              <a:t>arXiv:2606.00734</a:t>
            </a:r>
          </a:p>
        </p:txBody>
      </p:sp>
      <p:sp>
        <p:nvSpPr>
          <p:cNvPr id="14" name="TextBox 13"/>
          <p:cNvSpPr txBox="1"/>
          <p:nvPr/>
        </p:nvSpPr>
        <p:spPr>
          <a:xfrm>
            <a:off x="548640" y="3995928"/>
            <a:ext cx="3520440" cy="411480"/>
          </a:xfrm>
          <a:prstGeom prst="rect">
            <a:avLst/>
          </a:prstGeom>
          <a:noFill/>
        </p:spPr>
        <p:txBody>
          <a:bodyPr wrap="square" lIns="0" rIns="0" tIns="0" bIns="0" anchor="t">
            <a:spAutoFit/>
          </a:bodyPr>
          <a:lstStyle/>
          <a:p>
            <a:pPr algn="l"/>
            <a:r>
              <a:rPr sz="1800" b="1" i="0">
                <a:solidFill>
                  <a:srgbClr val="1E2328"/>
                </a:solidFill>
                <a:latin typeface="IBM Plex Sans"/>
              </a:rPr>
              <a:t>Filtered-ANN benchmark</a:t>
            </a:r>
          </a:p>
        </p:txBody>
      </p:sp>
      <p:sp>
        <p:nvSpPr>
          <p:cNvPr id="15" name="TextBox 14"/>
          <p:cNvSpPr txBox="1"/>
          <p:nvPr/>
        </p:nvSpPr>
        <p:spPr>
          <a:xfrm>
            <a:off x="4114800" y="3995928"/>
            <a:ext cx="1965960" cy="411480"/>
          </a:xfrm>
          <a:prstGeom prst="rect">
            <a:avLst/>
          </a:prstGeom>
          <a:noFill/>
        </p:spPr>
        <p:txBody>
          <a:bodyPr wrap="square" lIns="0" rIns="0" tIns="0" bIns="0" anchor="t">
            <a:spAutoFit/>
          </a:bodyPr>
          <a:lstStyle/>
          <a:p>
            <a:pPr algn="l"/>
            <a:r>
              <a:rPr sz="1800" b="0" i="0">
                <a:solidFill>
                  <a:srgbClr val="1F6F6B"/>
                </a:solidFill>
                <a:latin typeface="IBM Plex Sans"/>
                <a:hlinkClick r:id="rId6"/>
              </a:rPr>
              <a:t>arXiv:2507.21989</a:t>
            </a:r>
          </a:p>
        </p:txBody>
      </p:sp>
      <p:sp>
        <p:nvSpPr>
          <p:cNvPr id="16" name="TextBox 15"/>
          <p:cNvSpPr txBox="1"/>
          <p:nvPr/>
        </p:nvSpPr>
        <p:spPr>
          <a:xfrm>
            <a:off x="548640" y="4498848"/>
            <a:ext cx="3520440" cy="411480"/>
          </a:xfrm>
          <a:prstGeom prst="rect">
            <a:avLst/>
          </a:prstGeom>
          <a:noFill/>
        </p:spPr>
        <p:txBody>
          <a:bodyPr wrap="square" lIns="0" rIns="0" tIns="0" bIns="0" anchor="t">
            <a:spAutoFit/>
          </a:bodyPr>
          <a:lstStyle/>
          <a:p>
            <a:pPr algn="l"/>
            <a:r>
              <a:rPr sz="1800" b="1" i="0">
                <a:solidFill>
                  <a:srgbClr val="1E2328"/>
                </a:solidFill>
                <a:latin typeface="IBM Plex Sans"/>
              </a:rPr>
              <a:t>Reproducing NevIR</a:t>
            </a:r>
          </a:p>
        </p:txBody>
      </p:sp>
      <p:sp>
        <p:nvSpPr>
          <p:cNvPr id="17" name="TextBox 16"/>
          <p:cNvSpPr txBox="1"/>
          <p:nvPr/>
        </p:nvSpPr>
        <p:spPr>
          <a:xfrm>
            <a:off x="4114800" y="4498848"/>
            <a:ext cx="1965960" cy="411480"/>
          </a:xfrm>
          <a:prstGeom prst="rect">
            <a:avLst/>
          </a:prstGeom>
          <a:noFill/>
        </p:spPr>
        <p:txBody>
          <a:bodyPr wrap="square" lIns="0" rIns="0" tIns="0" bIns="0" anchor="t">
            <a:spAutoFit/>
          </a:bodyPr>
          <a:lstStyle/>
          <a:p>
            <a:pPr algn="l"/>
            <a:r>
              <a:rPr sz="1800" b="0" i="0">
                <a:solidFill>
                  <a:srgbClr val="1F6F6B"/>
                </a:solidFill>
                <a:latin typeface="IBM Plex Sans"/>
                <a:hlinkClick r:id="rId7"/>
              </a:rPr>
              <a:t>arXiv:2502.13506</a:t>
            </a:r>
          </a:p>
        </p:txBody>
      </p:sp>
      <p:sp>
        <p:nvSpPr>
          <p:cNvPr id="18" name="TextBox 17"/>
          <p:cNvSpPr txBox="1"/>
          <p:nvPr/>
        </p:nvSpPr>
        <p:spPr>
          <a:xfrm>
            <a:off x="548640" y="5001768"/>
            <a:ext cx="3520440" cy="411480"/>
          </a:xfrm>
          <a:prstGeom prst="rect">
            <a:avLst/>
          </a:prstGeom>
          <a:noFill/>
        </p:spPr>
        <p:txBody>
          <a:bodyPr wrap="square" lIns="0" rIns="0" tIns="0" bIns="0" anchor="t">
            <a:spAutoFit/>
          </a:bodyPr>
          <a:lstStyle/>
          <a:p>
            <a:pPr algn="l"/>
            <a:r>
              <a:rPr sz="1800" b="1" i="0">
                <a:solidFill>
                  <a:srgbClr val="1E2328"/>
                </a:solidFill>
                <a:latin typeface="IBM Plex Sans"/>
              </a:rPr>
              <a:t>E-SENS</a:t>
            </a:r>
          </a:p>
        </p:txBody>
      </p:sp>
      <p:sp>
        <p:nvSpPr>
          <p:cNvPr id="19" name="TextBox 18"/>
          <p:cNvSpPr txBox="1"/>
          <p:nvPr/>
        </p:nvSpPr>
        <p:spPr>
          <a:xfrm>
            <a:off x="4114800" y="5001768"/>
            <a:ext cx="1965960" cy="411480"/>
          </a:xfrm>
          <a:prstGeom prst="rect">
            <a:avLst/>
          </a:prstGeom>
          <a:noFill/>
        </p:spPr>
        <p:txBody>
          <a:bodyPr wrap="square" lIns="0" rIns="0" tIns="0" bIns="0" anchor="t">
            <a:spAutoFit/>
          </a:bodyPr>
          <a:lstStyle/>
          <a:p>
            <a:pPr algn="l"/>
            <a:r>
              <a:rPr sz="1800" b="0" i="0">
                <a:solidFill>
                  <a:srgbClr val="1F6F6B"/>
                </a:solidFill>
                <a:latin typeface="IBM Plex Sans"/>
                <a:hlinkClick r:id="rId8"/>
              </a:rPr>
              <a:t>arXiv:2608.30130</a:t>
            </a:r>
          </a:p>
        </p:txBody>
      </p:sp>
      <p:sp>
        <p:nvSpPr>
          <p:cNvPr id="20" name="TextBox 19"/>
          <p:cNvSpPr txBox="1"/>
          <p:nvPr/>
        </p:nvSpPr>
        <p:spPr>
          <a:xfrm>
            <a:off x="548640" y="5504688"/>
            <a:ext cx="3520440" cy="411480"/>
          </a:xfrm>
          <a:prstGeom prst="rect">
            <a:avLst/>
          </a:prstGeom>
          <a:noFill/>
        </p:spPr>
        <p:txBody>
          <a:bodyPr wrap="square" lIns="0" rIns="0" tIns="0" bIns="0" anchor="t">
            <a:spAutoFit/>
          </a:bodyPr>
          <a:lstStyle/>
          <a:p>
            <a:pPr algn="l"/>
            <a:r>
              <a:rPr sz="1800" b="1" i="0">
                <a:solidFill>
                  <a:srgbClr val="1E2328"/>
                </a:solidFill>
                <a:latin typeface="IBM Plex Sans"/>
              </a:rPr>
              <a:t>SAE embeddings toolkit</a:t>
            </a:r>
          </a:p>
        </p:txBody>
      </p:sp>
      <p:sp>
        <p:nvSpPr>
          <p:cNvPr id="21" name="TextBox 20"/>
          <p:cNvSpPr txBox="1"/>
          <p:nvPr/>
        </p:nvSpPr>
        <p:spPr>
          <a:xfrm>
            <a:off x="4114800" y="5504688"/>
            <a:ext cx="1965960" cy="411480"/>
          </a:xfrm>
          <a:prstGeom prst="rect">
            <a:avLst/>
          </a:prstGeom>
          <a:noFill/>
        </p:spPr>
        <p:txBody>
          <a:bodyPr wrap="square" lIns="0" rIns="0" tIns="0" bIns="0" anchor="t">
            <a:spAutoFit/>
          </a:bodyPr>
          <a:lstStyle/>
          <a:p>
            <a:pPr algn="l"/>
            <a:r>
              <a:rPr sz="1800" b="0" i="0">
                <a:solidFill>
                  <a:srgbClr val="1F6F6B"/>
                </a:solidFill>
                <a:latin typeface="IBM Plex Sans"/>
                <a:hlinkClick r:id="rId9"/>
              </a:rPr>
              <a:t>arXiv:2512.10092</a:t>
            </a:r>
          </a:p>
        </p:txBody>
      </p:sp>
      <p:sp>
        <p:nvSpPr>
          <p:cNvPr id="22" name="TextBox 21"/>
          <p:cNvSpPr txBox="1"/>
          <p:nvPr/>
        </p:nvSpPr>
        <p:spPr>
          <a:xfrm>
            <a:off x="6217920" y="1481328"/>
            <a:ext cx="3520440" cy="411480"/>
          </a:xfrm>
          <a:prstGeom prst="rect">
            <a:avLst/>
          </a:prstGeom>
          <a:noFill/>
        </p:spPr>
        <p:txBody>
          <a:bodyPr wrap="square" lIns="0" rIns="0" tIns="0" bIns="0" anchor="t">
            <a:spAutoFit/>
          </a:bodyPr>
          <a:lstStyle/>
          <a:p>
            <a:pPr algn="l"/>
            <a:r>
              <a:rPr sz="1800" b="1" i="0">
                <a:solidFill>
                  <a:srgbClr val="1E2328"/>
                </a:solidFill>
                <a:latin typeface="IBM Plex Sans"/>
              </a:rPr>
              <a:t>Decoding dense embeddings</a:t>
            </a:r>
          </a:p>
        </p:txBody>
      </p:sp>
      <p:sp>
        <p:nvSpPr>
          <p:cNvPr id="23" name="TextBox 22"/>
          <p:cNvSpPr txBox="1"/>
          <p:nvPr/>
        </p:nvSpPr>
        <p:spPr>
          <a:xfrm>
            <a:off x="9784080" y="1481328"/>
            <a:ext cx="1965960" cy="411480"/>
          </a:xfrm>
          <a:prstGeom prst="rect">
            <a:avLst/>
          </a:prstGeom>
          <a:noFill/>
        </p:spPr>
        <p:txBody>
          <a:bodyPr wrap="square" lIns="0" rIns="0" tIns="0" bIns="0" anchor="t">
            <a:spAutoFit/>
          </a:bodyPr>
          <a:lstStyle/>
          <a:p>
            <a:pPr algn="l"/>
            <a:r>
              <a:rPr sz="1800" b="0" i="0">
                <a:solidFill>
                  <a:srgbClr val="1F6F6B"/>
                </a:solidFill>
                <a:latin typeface="IBM Plex Sans"/>
                <a:hlinkClick r:id="rId10"/>
              </a:rPr>
              <a:t>arXiv:2506.00041</a:t>
            </a:r>
          </a:p>
        </p:txBody>
      </p:sp>
      <p:sp>
        <p:nvSpPr>
          <p:cNvPr id="24" name="TextBox 23"/>
          <p:cNvSpPr txBox="1"/>
          <p:nvPr/>
        </p:nvSpPr>
        <p:spPr>
          <a:xfrm>
            <a:off x="6217920" y="1984248"/>
            <a:ext cx="3520440" cy="411480"/>
          </a:xfrm>
          <a:prstGeom prst="rect">
            <a:avLst/>
          </a:prstGeom>
          <a:noFill/>
        </p:spPr>
        <p:txBody>
          <a:bodyPr wrap="square" lIns="0" rIns="0" tIns="0" bIns="0" anchor="t">
            <a:spAutoFit/>
          </a:bodyPr>
          <a:lstStyle/>
          <a:p>
            <a:pPr algn="l"/>
            <a:r>
              <a:rPr sz="1800" b="1" i="0">
                <a:solidFill>
                  <a:srgbClr val="1E2328"/>
                </a:solidFill>
                <a:latin typeface="IBM Plex Sans"/>
              </a:rPr>
              <a:t>Fashion IQ</a:t>
            </a:r>
          </a:p>
        </p:txBody>
      </p:sp>
      <p:sp>
        <p:nvSpPr>
          <p:cNvPr id="25" name="TextBox 24"/>
          <p:cNvSpPr txBox="1"/>
          <p:nvPr/>
        </p:nvSpPr>
        <p:spPr>
          <a:xfrm>
            <a:off x="9784080" y="1984248"/>
            <a:ext cx="1965960" cy="411480"/>
          </a:xfrm>
          <a:prstGeom prst="rect">
            <a:avLst/>
          </a:prstGeom>
          <a:noFill/>
        </p:spPr>
        <p:txBody>
          <a:bodyPr wrap="square" lIns="0" rIns="0" tIns="0" bIns="0" anchor="t">
            <a:spAutoFit/>
          </a:bodyPr>
          <a:lstStyle/>
          <a:p>
            <a:pPr algn="l"/>
            <a:r>
              <a:rPr sz="1800" b="0" i="0">
                <a:solidFill>
                  <a:srgbClr val="1F6F6B"/>
                </a:solidFill>
                <a:latin typeface="IBM Plex Sans"/>
                <a:hlinkClick r:id="rId11"/>
              </a:rPr>
              <a:t>arXiv:1905.12794</a:t>
            </a:r>
          </a:p>
        </p:txBody>
      </p:sp>
      <p:sp>
        <p:nvSpPr>
          <p:cNvPr id="26" name="TextBox 25"/>
          <p:cNvSpPr txBox="1"/>
          <p:nvPr/>
        </p:nvSpPr>
        <p:spPr>
          <a:xfrm>
            <a:off x="6217920" y="2487168"/>
            <a:ext cx="3520440" cy="411480"/>
          </a:xfrm>
          <a:prstGeom prst="rect">
            <a:avLst/>
          </a:prstGeom>
          <a:noFill/>
        </p:spPr>
        <p:txBody>
          <a:bodyPr wrap="square" lIns="0" rIns="0" tIns="0" bIns="0" anchor="t">
            <a:spAutoFit/>
          </a:bodyPr>
          <a:lstStyle/>
          <a:p>
            <a:pPr algn="l"/>
            <a:r>
              <a:rPr sz="1800" b="1" i="0">
                <a:solidFill>
                  <a:srgbClr val="1E2328"/>
                </a:solidFill>
                <a:latin typeface="IBM Plex Sans"/>
              </a:rPr>
              <a:t>Composed retrieval survey</a:t>
            </a:r>
          </a:p>
        </p:txBody>
      </p:sp>
      <p:sp>
        <p:nvSpPr>
          <p:cNvPr id="27" name="TextBox 26"/>
          <p:cNvSpPr txBox="1"/>
          <p:nvPr/>
        </p:nvSpPr>
        <p:spPr>
          <a:xfrm>
            <a:off x="9784080" y="2487168"/>
            <a:ext cx="1965960" cy="411480"/>
          </a:xfrm>
          <a:prstGeom prst="rect">
            <a:avLst/>
          </a:prstGeom>
          <a:noFill/>
        </p:spPr>
        <p:txBody>
          <a:bodyPr wrap="square" lIns="0" rIns="0" tIns="0" bIns="0" anchor="t">
            <a:spAutoFit/>
          </a:bodyPr>
          <a:lstStyle/>
          <a:p>
            <a:pPr algn="l"/>
            <a:r>
              <a:rPr sz="1800" b="0" i="0">
                <a:solidFill>
                  <a:srgbClr val="1F6F6B"/>
                </a:solidFill>
                <a:latin typeface="IBM Plex Sans"/>
                <a:hlinkClick r:id="rId12"/>
              </a:rPr>
              <a:t>arXiv:2503.01334</a:t>
            </a:r>
          </a:p>
        </p:txBody>
      </p:sp>
      <p:sp>
        <p:nvSpPr>
          <p:cNvPr id="28" name="TextBox 27"/>
          <p:cNvSpPr txBox="1"/>
          <p:nvPr/>
        </p:nvSpPr>
        <p:spPr>
          <a:xfrm>
            <a:off x="6217920" y="2990088"/>
            <a:ext cx="3520440" cy="411480"/>
          </a:xfrm>
          <a:prstGeom prst="rect">
            <a:avLst/>
          </a:prstGeom>
          <a:noFill/>
        </p:spPr>
        <p:txBody>
          <a:bodyPr wrap="square" lIns="0" rIns="0" tIns="0" bIns="0" anchor="t">
            <a:spAutoFit/>
          </a:bodyPr>
          <a:lstStyle/>
          <a:p>
            <a:pPr algn="l"/>
            <a:r>
              <a:rPr sz="1800" b="1" i="0">
                <a:solidFill>
                  <a:srgbClr val="1E2328"/>
                </a:solidFill>
                <a:latin typeface="IBM Plex Sans"/>
              </a:rPr>
              <a:t>FACap</a:t>
            </a:r>
          </a:p>
        </p:txBody>
      </p:sp>
      <p:sp>
        <p:nvSpPr>
          <p:cNvPr id="29" name="TextBox 28"/>
          <p:cNvSpPr txBox="1"/>
          <p:nvPr/>
        </p:nvSpPr>
        <p:spPr>
          <a:xfrm>
            <a:off x="9784080" y="2990088"/>
            <a:ext cx="1965960" cy="411480"/>
          </a:xfrm>
          <a:prstGeom prst="rect">
            <a:avLst/>
          </a:prstGeom>
          <a:noFill/>
        </p:spPr>
        <p:txBody>
          <a:bodyPr wrap="square" lIns="0" rIns="0" tIns="0" bIns="0" anchor="t">
            <a:spAutoFit/>
          </a:bodyPr>
          <a:lstStyle/>
          <a:p>
            <a:pPr algn="l"/>
            <a:r>
              <a:rPr sz="1800" b="0" i="0">
                <a:solidFill>
                  <a:srgbClr val="1F6F6B"/>
                </a:solidFill>
                <a:latin typeface="IBM Plex Sans"/>
                <a:hlinkClick r:id="rId13"/>
              </a:rPr>
              <a:t>arXiv:2507.07135</a:t>
            </a:r>
          </a:p>
        </p:txBody>
      </p:sp>
      <p:sp>
        <p:nvSpPr>
          <p:cNvPr id="30" name="TextBox 29"/>
          <p:cNvSpPr txBox="1"/>
          <p:nvPr/>
        </p:nvSpPr>
        <p:spPr>
          <a:xfrm>
            <a:off x="6217920" y="3493008"/>
            <a:ext cx="3520440" cy="411480"/>
          </a:xfrm>
          <a:prstGeom prst="rect">
            <a:avLst/>
          </a:prstGeom>
          <a:noFill/>
        </p:spPr>
        <p:txBody>
          <a:bodyPr wrap="square" lIns="0" rIns="0" tIns="0" bIns="0" anchor="t">
            <a:spAutoFit/>
          </a:bodyPr>
          <a:lstStyle/>
          <a:p>
            <a:pPr algn="l"/>
            <a:r>
              <a:rPr sz="1800" b="1" i="0">
                <a:solidFill>
                  <a:srgbClr val="1E2328"/>
                </a:solidFill>
                <a:latin typeface="IBM Plex Sans"/>
              </a:rPr>
              <a:t>CQ-SID (Tmall)</a:t>
            </a:r>
          </a:p>
        </p:txBody>
      </p:sp>
      <p:sp>
        <p:nvSpPr>
          <p:cNvPr id="31" name="TextBox 30"/>
          <p:cNvSpPr txBox="1"/>
          <p:nvPr/>
        </p:nvSpPr>
        <p:spPr>
          <a:xfrm>
            <a:off x="9784080" y="3493008"/>
            <a:ext cx="1965960" cy="411480"/>
          </a:xfrm>
          <a:prstGeom prst="rect">
            <a:avLst/>
          </a:prstGeom>
          <a:noFill/>
        </p:spPr>
        <p:txBody>
          <a:bodyPr wrap="square" lIns="0" rIns="0" tIns="0" bIns="0" anchor="t">
            <a:spAutoFit/>
          </a:bodyPr>
          <a:lstStyle/>
          <a:p>
            <a:pPr algn="l"/>
            <a:r>
              <a:rPr sz="1800" b="0" i="0">
                <a:solidFill>
                  <a:srgbClr val="1F6F6B"/>
                </a:solidFill>
                <a:latin typeface="IBM Plex Sans"/>
                <a:hlinkClick r:id="rId14"/>
              </a:rPr>
              <a:t>arXiv:2605.14434</a:t>
            </a:r>
          </a:p>
        </p:txBody>
      </p:sp>
      <p:sp>
        <p:nvSpPr>
          <p:cNvPr id="32" name="TextBox 31"/>
          <p:cNvSpPr txBox="1"/>
          <p:nvPr/>
        </p:nvSpPr>
        <p:spPr>
          <a:xfrm>
            <a:off x="6217920" y="3995928"/>
            <a:ext cx="3520440" cy="411480"/>
          </a:xfrm>
          <a:prstGeom prst="rect">
            <a:avLst/>
          </a:prstGeom>
          <a:noFill/>
        </p:spPr>
        <p:txBody>
          <a:bodyPr wrap="square" lIns="0" rIns="0" tIns="0" bIns="0" anchor="t">
            <a:spAutoFit/>
          </a:bodyPr>
          <a:lstStyle/>
          <a:p>
            <a:pPr algn="l"/>
            <a:r>
              <a:rPr sz="1800" b="1" i="0">
                <a:solidFill>
                  <a:srgbClr val="1E2328"/>
                </a:solidFill>
                <a:latin typeface="IBM Plex Sans"/>
              </a:rPr>
              <a:t>OneSearch (Kuaishou)</a:t>
            </a:r>
          </a:p>
        </p:txBody>
      </p:sp>
      <p:sp>
        <p:nvSpPr>
          <p:cNvPr id="33" name="TextBox 32"/>
          <p:cNvSpPr txBox="1"/>
          <p:nvPr/>
        </p:nvSpPr>
        <p:spPr>
          <a:xfrm>
            <a:off x="9784080" y="3995928"/>
            <a:ext cx="1965960" cy="411480"/>
          </a:xfrm>
          <a:prstGeom prst="rect">
            <a:avLst/>
          </a:prstGeom>
          <a:noFill/>
        </p:spPr>
        <p:txBody>
          <a:bodyPr wrap="square" lIns="0" rIns="0" tIns="0" bIns="0" anchor="t">
            <a:spAutoFit/>
          </a:bodyPr>
          <a:lstStyle/>
          <a:p>
            <a:pPr algn="l"/>
            <a:r>
              <a:rPr sz="1800" b="0" i="0">
                <a:solidFill>
                  <a:srgbClr val="1F6F6B"/>
                </a:solidFill>
                <a:latin typeface="IBM Plex Sans"/>
                <a:hlinkClick r:id="rId15"/>
              </a:rPr>
              <a:t>arXiv:2509.03236</a:t>
            </a:r>
          </a:p>
        </p:txBody>
      </p:sp>
      <p:sp>
        <p:nvSpPr>
          <p:cNvPr id="34" name="TextBox 33"/>
          <p:cNvSpPr txBox="1"/>
          <p:nvPr/>
        </p:nvSpPr>
        <p:spPr>
          <a:xfrm>
            <a:off x="6217920" y="4498848"/>
            <a:ext cx="3520440" cy="411480"/>
          </a:xfrm>
          <a:prstGeom prst="rect">
            <a:avLst/>
          </a:prstGeom>
          <a:noFill/>
        </p:spPr>
        <p:txBody>
          <a:bodyPr wrap="square" lIns="0" rIns="0" tIns="0" bIns="0" anchor="t">
            <a:spAutoFit/>
          </a:bodyPr>
          <a:lstStyle/>
          <a:p>
            <a:pPr algn="l"/>
            <a:r>
              <a:rPr sz="1800" b="1" i="0">
                <a:solidFill>
                  <a:srgbClr val="1E2328"/>
                </a:solidFill>
                <a:latin typeface="IBM Plex Sans"/>
              </a:rPr>
              <a:t>GenFacet (JD.com)</a:t>
            </a:r>
          </a:p>
        </p:txBody>
      </p:sp>
      <p:sp>
        <p:nvSpPr>
          <p:cNvPr id="35" name="TextBox 34"/>
          <p:cNvSpPr txBox="1"/>
          <p:nvPr/>
        </p:nvSpPr>
        <p:spPr>
          <a:xfrm>
            <a:off x="9784080" y="4498848"/>
            <a:ext cx="1965960" cy="411480"/>
          </a:xfrm>
          <a:prstGeom prst="rect">
            <a:avLst/>
          </a:prstGeom>
          <a:noFill/>
        </p:spPr>
        <p:txBody>
          <a:bodyPr wrap="square" lIns="0" rIns="0" tIns="0" bIns="0" anchor="t">
            <a:spAutoFit/>
          </a:bodyPr>
          <a:lstStyle/>
          <a:p>
            <a:pPr algn="l"/>
            <a:r>
              <a:rPr sz="1800" b="0" i="0">
                <a:solidFill>
                  <a:srgbClr val="1F6F6B"/>
                </a:solidFill>
                <a:latin typeface="IBM Plex Sans"/>
                <a:hlinkClick r:id="rId16"/>
              </a:rPr>
              <a:t>arXiv:2603.19665</a:t>
            </a:r>
          </a:p>
        </p:txBody>
      </p:sp>
      <p:sp>
        <p:nvSpPr>
          <p:cNvPr id="36" name="TextBox 35"/>
          <p:cNvSpPr txBox="1"/>
          <p:nvPr/>
        </p:nvSpPr>
        <p:spPr>
          <a:xfrm>
            <a:off x="6217920" y="5001768"/>
            <a:ext cx="3520440" cy="411480"/>
          </a:xfrm>
          <a:prstGeom prst="rect">
            <a:avLst/>
          </a:prstGeom>
          <a:noFill/>
        </p:spPr>
        <p:txBody>
          <a:bodyPr wrap="square" lIns="0" rIns="0" tIns="0" bIns="0" anchor="t">
            <a:spAutoFit/>
          </a:bodyPr>
          <a:lstStyle/>
          <a:p>
            <a:pPr algn="l"/>
            <a:r>
              <a:rPr sz="1800" b="1" i="0">
                <a:solidFill>
                  <a:srgbClr val="1E2328"/>
                </a:solidFill>
                <a:latin typeface="IBM Plex Sans"/>
              </a:rPr>
              <a:t>Case-driven relevance</a:t>
            </a:r>
          </a:p>
        </p:txBody>
      </p:sp>
      <p:sp>
        <p:nvSpPr>
          <p:cNvPr id="37" name="TextBox 36"/>
          <p:cNvSpPr txBox="1"/>
          <p:nvPr/>
        </p:nvSpPr>
        <p:spPr>
          <a:xfrm>
            <a:off x="9784080" y="5001768"/>
            <a:ext cx="1965960" cy="411480"/>
          </a:xfrm>
          <a:prstGeom prst="rect">
            <a:avLst/>
          </a:prstGeom>
          <a:noFill/>
        </p:spPr>
        <p:txBody>
          <a:bodyPr wrap="square" lIns="0" rIns="0" tIns="0" bIns="0" anchor="t">
            <a:spAutoFit/>
          </a:bodyPr>
          <a:lstStyle/>
          <a:p>
            <a:pPr algn="l"/>
            <a:r>
              <a:rPr sz="1800" b="0" i="0">
                <a:solidFill>
                  <a:srgbClr val="1F6F6B"/>
                </a:solidFill>
                <a:latin typeface="IBM Plex Sans"/>
                <a:hlinkClick r:id="rId17"/>
              </a:rPr>
              <a:t>arXiv:2605.05991</a:t>
            </a:r>
          </a:p>
        </p:txBody>
      </p:sp>
      <p:sp>
        <p:nvSpPr>
          <p:cNvPr id="38" name="Footer"/>
          <p:cNvSpPr txBox="1"/>
          <p:nvPr/>
        </p:nvSpPr>
        <p:spPr>
          <a:xfrm>
            <a:off x="548640" y="6309360"/>
            <a:ext cx="10362895" cy="411480"/>
          </a:xfrm>
          <a:prstGeom prst="rect">
            <a:avLst/>
          </a:prstGeom>
          <a:noFill/>
        </p:spPr>
        <p:txBody>
          <a:bodyPr wrap="square" lIns="0" rIns="0" tIns="0" bIns="0" anchor="t">
            <a:spAutoFit/>
          </a:bodyPr>
          <a:lstStyle/>
          <a:p>
            <a:pPr algn="l"/>
            <a:r>
              <a:rPr sz="1200" b="0" i="0">
                <a:solidFill>
                  <a:srgbClr val="5B636B"/>
                </a:solidFill>
                <a:latin typeface="IBM Plex Sans"/>
              </a:rPr>
              <a:t>Titles confirmed against arXiv listings (see qa_report.md). Links open the arXiv abstract page.</a:t>
            </a:r>
          </a:p>
        </p:txBody>
      </p:sp>
      <p:sp>
        <p:nvSpPr>
          <p:cNvPr id="39" name="Page"/>
          <p:cNvSpPr txBox="1"/>
          <p:nvPr/>
        </p:nvSpPr>
        <p:spPr>
          <a:xfrm>
            <a:off x="11094415" y="6309360"/>
            <a:ext cx="548640" cy="274320"/>
          </a:xfrm>
          <a:prstGeom prst="rect">
            <a:avLst/>
          </a:prstGeom>
          <a:noFill/>
        </p:spPr>
        <p:txBody>
          <a:bodyPr wrap="square" lIns="0" rIns="0" tIns="0" bIns="0" anchor="t">
            <a:spAutoFit/>
          </a:bodyPr>
          <a:lstStyle/>
          <a:p>
            <a:pPr algn="r"/>
            <a:r>
              <a:rPr sz="1200" b="0" i="0">
                <a:solidFill>
                  <a:srgbClr val="5B636B"/>
                </a:solidFill>
                <a:latin typeface="IBM Plex Sans"/>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Fashion search: what the literature says</dc:title>
  <dc:subject/>
  <dc:creator>Applied Science, Search &amp; Discovery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